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9" r:id="rId3"/>
    <p:sldId id="264" r:id="rId4"/>
    <p:sldId id="268" r:id="rId5"/>
    <p:sldId id="416" r:id="rId6"/>
    <p:sldId id="41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6" r:id="rId15"/>
    <p:sldId id="287" r:id="rId16"/>
    <p:sldId id="285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300" r:id="rId28"/>
    <p:sldId id="301" r:id="rId29"/>
    <p:sldId id="304" r:id="rId30"/>
    <p:sldId id="305" r:id="rId31"/>
    <p:sldId id="306" r:id="rId32"/>
    <p:sldId id="307" r:id="rId33"/>
    <p:sldId id="308" r:id="rId34"/>
    <p:sldId id="309" r:id="rId35"/>
    <p:sldId id="313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418" r:id="rId46"/>
  </p:sldIdLst>
  <p:sldSz cx="11518900" cy="6477000"/>
  <p:notesSz cx="11518900" cy="647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36B"/>
    <a:srgbClr val="5789B5"/>
    <a:srgbClr val="0365C0"/>
    <a:srgbClr val="51A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19" autoAdjust="0"/>
  </p:normalViewPr>
  <p:slideViewPr>
    <p:cSldViewPr>
      <p:cViewPr varScale="1">
        <p:scale>
          <a:sx n="77" d="100"/>
          <a:sy n="77" d="100"/>
        </p:scale>
        <p:origin x="1049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91100" cy="3254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524625" y="0"/>
            <a:ext cx="4991100" cy="3254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E23EF-2585-436C-9491-F753C8D0F97E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6350" y="809625"/>
            <a:ext cx="3886200" cy="2185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52525" y="3117850"/>
            <a:ext cx="9213850" cy="2549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151563"/>
            <a:ext cx="4991100" cy="3254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524625" y="6151563"/>
            <a:ext cx="4991100" cy="3254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A13BE-AADE-4F50-8551-34DD496904B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353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Nos </a:t>
            </a:r>
            <a:r>
              <a:rPr lang="en-US" dirty="0" err="1"/>
              <a:t>permite</a:t>
            </a:r>
            <a:r>
              <a:rPr lang="en-US" dirty="0"/>
              <a:t> manipular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Manipular </a:t>
            </a:r>
            <a:r>
              <a:rPr lang="en-US" dirty="0" err="1"/>
              <a:t>cada</a:t>
            </a:r>
            <a:r>
              <a:rPr lang="en-US" dirty="0"/>
              <a:t> uno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Sintaxis</a:t>
            </a:r>
            <a:r>
              <a:rPr lang="en-US" dirty="0"/>
              <a:t> </a:t>
            </a:r>
            <a:r>
              <a:rPr lang="en-US" dirty="0" err="1"/>
              <a:t>grafica</a:t>
            </a:r>
            <a:r>
              <a:rPr lang="en-US" dirty="0"/>
              <a:t> que se </a:t>
            </a:r>
            <a:r>
              <a:rPr lang="en-US" dirty="0" err="1"/>
              <a:t>repite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Facil ser </a:t>
            </a:r>
            <a:r>
              <a:rPr lang="en-US" dirty="0" err="1"/>
              <a:t>consistente</a:t>
            </a:r>
            <a:r>
              <a:rPr lang="en-US" dirty="0"/>
              <a:t> entre </a:t>
            </a:r>
            <a:r>
              <a:rPr lang="en-US" dirty="0" err="1"/>
              <a:t>graficos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0645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Ggplot2 es un </a:t>
            </a:r>
            <a:r>
              <a:rPr lang="en-US" dirty="0" err="1"/>
              <a:t>paquete</a:t>
            </a:r>
            <a:r>
              <a:rPr lang="en-US" dirty="0"/>
              <a:t> </a:t>
            </a:r>
            <a:r>
              <a:rPr lang="en-US" dirty="0" err="1"/>
              <a:t>enorme</a:t>
            </a:r>
            <a:r>
              <a:rPr lang="en-US" dirty="0"/>
              <a:t>, con </a:t>
            </a:r>
            <a:r>
              <a:rPr lang="en-US" dirty="0" err="1"/>
              <a:t>muchisimas</a:t>
            </a:r>
            <a:r>
              <a:rPr lang="en-US" dirty="0"/>
              <a:t> </a:t>
            </a:r>
            <a:r>
              <a:rPr lang="en-US" dirty="0" err="1"/>
              <a:t>funciones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bien </a:t>
            </a:r>
            <a:r>
              <a:rPr lang="en-US" dirty="0" err="1"/>
              <a:t>organizado</a:t>
            </a:r>
            <a:endParaRPr lang="en-US" dirty="0"/>
          </a:p>
          <a:p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ejemplos</a:t>
            </a:r>
            <a:r>
              <a:rPr lang="en-US" dirty="0"/>
              <a:t> </a:t>
            </a:r>
          </a:p>
          <a:p>
            <a:r>
              <a:rPr lang="en-US" dirty="0"/>
              <a:t>Un poco </a:t>
            </a:r>
            <a:r>
              <a:rPr lang="en-US" dirty="0" err="1"/>
              <a:t>abrumador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entre mas lo </a:t>
            </a:r>
            <a:r>
              <a:rPr lang="en-US" dirty="0" err="1"/>
              <a:t>practicas</a:t>
            </a:r>
            <a:r>
              <a:rPr lang="en-US" dirty="0"/>
              <a:t> mas sabes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mirar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7476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de las </a:t>
            </a:r>
            <a:r>
              <a:rPr lang="en-US" dirty="0" err="1"/>
              <a:t>cosas</a:t>
            </a:r>
            <a:r>
              <a:rPr lang="en-US" dirty="0"/>
              <a:t> que mas me </a:t>
            </a:r>
            <a:r>
              <a:rPr lang="en-US" dirty="0" err="1"/>
              <a:t>gusta</a:t>
            </a:r>
            <a:r>
              <a:rPr lang="en-US" dirty="0"/>
              <a:t> de </a:t>
            </a:r>
            <a:r>
              <a:rPr lang="en-US" dirty="0" err="1"/>
              <a:t>ggplot</a:t>
            </a:r>
            <a:r>
              <a:rPr lang="en-US" dirty="0"/>
              <a:t>, es que Podemos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graficos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forma de </a:t>
            </a:r>
            <a:r>
              <a:rPr lang="en-US" dirty="0" err="1"/>
              <a:t>capas</a:t>
            </a:r>
            <a:endParaRPr lang="en-US" dirty="0"/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135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D8BF4-0C2E-E800-D4A0-5407E3441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2C9F5-B651-5726-BF97-304B2187B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948AA-D42D-A7E4-676A-68493B234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de las </a:t>
            </a:r>
            <a:r>
              <a:rPr lang="en-US" dirty="0" err="1"/>
              <a:t>cosas</a:t>
            </a:r>
            <a:r>
              <a:rPr lang="en-US" dirty="0"/>
              <a:t> que mas me </a:t>
            </a:r>
            <a:r>
              <a:rPr lang="en-US" dirty="0" err="1"/>
              <a:t>gusta</a:t>
            </a:r>
            <a:r>
              <a:rPr lang="en-US" dirty="0"/>
              <a:t> de </a:t>
            </a:r>
            <a:r>
              <a:rPr lang="en-US" dirty="0" err="1"/>
              <a:t>ggplot</a:t>
            </a:r>
            <a:r>
              <a:rPr lang="en-US" dirty="0"/>
              <a:t>, es que Podemos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graficos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forma de </a:t>
            </a:r>
            <a:r>
              <a:rPr lang="en-US" dirty="0" err="1"/>
              <a:t>capas</a:t>
            </a:r>
            <a:endParaRPr lang="en-US" dirty="0"/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C0FA7-2EE2-666D-99D1-97B61AB1E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3282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mas </a:t>
            </a:r>
            <a:r>
              <a:rPr lang="en-US" dirty="0" err="1"/>
              <a:t>importante</a:t>
            </a:r>
            <a:r>
              <a:rPr lang="en-US" dirty="0"/>
              <a:t>: </a:t>
            </a:r>
            <a:r>
              <a:rPr lang="en-US" dirty="0" err="1"/>
              <a:t>datos</a:t>
            </a:r>
            <a:r>
              <a:rPr lang="es-MX" dirty="0"/>
              <a:t>. Para graficar necesitamos datos.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Aesthetics. Uno de </a:t>
            </a:r>
            <a:r>
              <a:rPr lang="en-US" dirty="0" err="1"/>
              <a:t>los</a:t>
            </a:r>
            <a:r>
              <a:rPr lang="en-US" dirty="0"/>
              <a:t> terminus mas </a:t>
            </a:r>
            <a:r>
              <a:rPr lang="en-US" dirty="0" err="1"/>
              <a:t>raros</a:t>
            </a:r>
            <a:r>
              <a:rPr lang="en-US" dirty="0"/>
              <a:t> y </a:t>
            </a:r>
            <a:r>
              <a:rPr lang="en-US" dirty="0" err="1"/>
              <a:t>contraintuitivos</a:t>
            </a:r>
            <a:r>
              <a:rPr lang="en-US" dirty="0"/>
              <a:t> de </a:t>
            </a:r>
            <a:r>
              <a:rPr lang="en-US" dirty="0" err="1"/>
              <a:t>ggplot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basicamente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: que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graficar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x y que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graficar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y</a:t>
            </a:r>
            <a:endParaRPr lang="es-MX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0596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Geometries: </a:t>
            </a:r>
            <a:r>
              <a:rPr lang="en-US" dirty="0" err="1"/>
              <a:t>Basicamente</a:t>
            </a:r>
            <a:r>
              <a:rPr lang="en-US" dirty="0"/>
              <a:t> que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grafica</a:t>
            </a:r>
            <a:r>
              <a:rPr lang="en-US" dirty="0"/>
              <a:t>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tener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0398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Statistics: </a:t>
            </a:r>
            <a:r>
              <a:rPr lang="en-US" dirty="0" err="1"/>
              <a:t>queremos</a:t>
            </a:r>
            <a:r>
              <a:rPr lang="en-US" dirty="0"/>
              <a:t> transformer la data de </a:t>
            </a:r>
            <a:r>
              <a:rPr lang="en-US" dirty="0" err="1"/>
              <a:t>alguna</a:t>
            </a:r>
            <a:r>
              <a:rPr lang="en-US" dirty="0"/>
              <a:t> forma? Por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algun</a:t>
            </a:r>
            <a:r>
              <a:rPr lang="en-US" dirty="0"/>
              <a:t> </a:t>
            </a:r>
            <a:r>
              <a:rPr lang="en-US" dirty="0" err="1"/>
              <a:t>logaritmo</a:t>
            </a:r>
            <a:r>
              <a:rPr lang="en-US" dirty="0"/>
              <a:t>?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8057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Coordenadas</a:t>
            </a:r>
            <a:r>
              <a:rPr lang="en-US" dirty="0"/>
              <a:t>,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cambiar</a:t>
            </a:r>
            <a:r>
              <a:rPr lang="en-US" dirty="0"/>
              <a:t> la </a:t>
            </a:r>
            <a:r>
              <a:rPr lang="en-US" dirty="0" err="1"/>
              <a:t>localizacion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objetos</a:t>
            </a:r>
            <a:r>
              <a:rPr lang="en-US" dirty="0"/>
              <a:t> que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graficar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4046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Scales: </a:t>
            </a:r>
            <a:r>
              <a:rPr lang="en-US" dirty="0" err="1"/>
              <a:t>modificaciones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ejes</a:t>
            </a:r>
            <a:r>
              <a:rPr lang="en-US" dirty="0"/>
              <a:t> para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rangos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1603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</a:t>
            </a:r>
            <a:r>
              <a:rPr lang="en-US" dirty="0" err="1"/>
              <a:t>por</a:t>
            </a:r>
            <a:r>
              <a:rPr lang="en-US" dirty="0"/>
              <a:t> ultimo Facets: Podemos </a:t>
            </a:r>
            <a:r>
              <a:rPr lang="en-US" dirty="0" err="1"/>
              <a:t>agrupar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plots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subgrupos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4812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Empecemos</a:t>
            </a:r>
            <a:r>
              <a:rPr lang="en-US" dirty="0"/>
              <a:t> con data: </a:t>
            </a:r>
            <a:r>
              <a:rPr lang="en-US" dirty="0" err="1"/>
              <a:t>cada</a:t>
            </a:r>
            <a:r>
              <a:rPr lang="en-US" dirty="0"/>
              <a:t> variable forma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columna</a:t>
            </a:r>
            <a:r>
              <a:rPr lang="en-US" dirty="0"/>
              <a:t> y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observacion</a:t>
            </a:r>
            <a:r>
              <a:rPr lang="en-US" dirty="0"/>
              <a:t> de </a:t>
            </a:r>
            <a:r>
              <a:rPr lang="en-US" dirty="0" err="1"/>
              <a:t>esa</a:t>
            </a:r>
            <a:r>
              <a:rPr lang="en-US" dirty="0"/>
              <a:t> variable es </a:t>
            </a:r>
            <a:r>
              <a:rPr lang="en-US" dirty="0" err="1"/>
              <a:t>una</a:t>
            </a:r>
            <a:r>
              <a:rPr lang="en-US" dirty="0"/>
              <a:t> fila y la </a:t>
            </a:r>
            <a:r>
              <a:rPr lang="en-US" dirty="0" err="1"/>
              <a:t>combinacion</a:t>
            </a:r>
            <a:r>
              <a:rPr lang="en-US" dirty="0"/>
              <a:t> de </a:t>
            </a:r>
            <a:r>
              <a:rPr lang="en-US" dirty="0" err="1"/>
              <a:t>columnas</a:t>
            </a:r>
            <a:r>
              <a:rPr lang="en-US" dirty="0"/>
              <a:t> y </a:t>
            </a:r>
            <a:r>
              <a:rPr lang="en-US" dirty="0" err="1"/>
              <a:t>filas</a:t>
            </a:r>
            <a:r>
              <a:rPr lang="en-US" dirty="0"/>
              <a:t> es lo que define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tabla</a:t>
            </a:r>
            <a:r>
              <a:rPr lang="en-US" dirty="0"/>
              <a:t>.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7169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ggplot</a:t>
            </a:r>
            <a:r>
              <a:rPr lang="en-US" dirty="0"/>
              <a:t> es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vayamos</a:t>
            </a:r>
            <a:r>
              <a:rPr lang="en-US" dirty="0"/>
              <a:t> a usar </a:t>
            </a:r>
            <a:r>
              <a:rPr lang="en-US" dirty="0" err="1"/>
              <a:t>esten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adecuado</a:t>
            </a:r>
            <a:r>
              <a:rPr lang="en-US" dirty="0"/>
              <a:t>. La </a:t>
            </a:r>
            <a:r>
              <a:rPr lang="en-US" dirty="0" err="1"/>
              <a:t>manipulacion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escapa</a:t>
            </a:r>
            <a:r>
              <a:rPr lang="en-US" dirty="0"/>
              <a:t> un poco el </a:t>
            </a:r>
            <a:r>
              <a:rPr lang="en-US" dirty="0" err="1"/>
              <a:t>objetivo</a:t>
            </a:r>
            <a:r>
              <a:rPr lang="en-US" dirty="0"/>
              <a:t> de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cuenta</a:t>
            </a:r>
            <a:r>
              <a:rPr lang="en-US" dirty="0"/>
              <a:t> que </a:t>
            </a:r>
            <a:r>
              <a:rPr lang="en-US" dirty="0" err="1"/>
              <a:t>ggplot</a:t>
            </a:r>
            <a:r>
              <a:rPr lang="en-US" dirty="0"/>
              <a:t> require </a:t>
            </a:r>
            <a:r>
              <a:rPr lang="en-US" dirty="0" err="1"/>
              <a:t>ir</a:t>
            </a:r>
            <a:r>
              <a:rPr lang="en-US" dirty="0"/>
              <a:t> de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conocido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wide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5477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un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conocido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long, </a:t>
            </a:r>
            <a:r>
              <a:rPr lang="en-US" dirty="0" err="1"/>
              <a:t>en</a:t>
            </a:r>
            <a:r>
              <a:rPr lang="en-US" dirty="0"/>
              <a:t> el que temenos variables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columnas</a:t>
            </a:r>
            <a:r>
              <a:rPr lang="en-US" dirty="0"/>
              <a:t> y </a:t>
            </a:r>
            <a:r>
              <a:rPr lang="en-US" dirty="0" err="1"/>
              <a:t>observaciones</a:t>
            </a:r>
            <a:r>
              <a:rPr lang="en-US" dirty="0"/>
              <a:t> de </a:t>
            </a:r>
            <a:r>
              <a:rPr lang="en-US" dirty="0" err="1"/>
              <a:t>esas</a:t>
            </a:r>
            <a:r>
              <a:rPr lang="en-US" dirty="0"/>
              <a:t> variables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filas</a:t>
            </a:r>
            <a:r>
              <a:rPr lang="en-US" dirty="0"/>
              <a:t>. Una </a:t>
            </a:r>
            <a:r>
              <a:rPr lang="en-US" dirty="0" err="1"/>
              <a:t>vez</a:t>
            </a:r>
            <a:r>
              <a:rPr lang="en-US" dirty="0"/>
              <a:t> que </a:t>
            </a:r>
            <a:r>
              <a:rPr lang="en-US" dirty="0" err="1"/>
              <a:t>nuestros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estan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correcto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8515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Podemos pasar a </a:t>
            </a:r>
            <a:r>
              <a:rPr lang="en-US" dirty="0" err="1"/>
              <a:t>preguntarnos</a:t>
            </a:r>
            <a:r>
              <a:rPr lang="en-US" dirty="0"/>
              <a:t> que es lo que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grafico</a:t>
            </a:r>
            <a:r>
              <a:rPr lang="en-US" dirty="0"/>
              <a:t>? Que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grafico</a:t>
            </a:r>
            <a:r>
              <a:rPr lang="en-US" dirty="0"/>
              <a:t> </a:t>
            </a:r>
            <a:r>
              <a:rPr lang="en-US" dirty="0" err="1"/>
              <a:t>quiero</a:t>
            </a:r>
            <a:r>
              <a:rPr lang="en-US" dirty="0"/>
              <a:t>?</a:t>
            </a:r>
          </a:p>
          <a:p>
            <a:r>
              <a:rPr lang="en-US" dirty="0"/>
              <a:t>Y mas </a:t>
            </a:r>
            <a:r>
              <a:rPr lang="en-US" dirty="0" err="1"/>
              <a:t>importante</a:t>
            </a:r>
            <a:r>
              <a:rPr lang="en-US" dirty="0"/>
              <a:t>, </a:t>
            </a:r>
            <a:r>
              <a:rPr lang="en-US" dirty="0" err="1"/>
              <a:t>tengo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necesarios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necesario</a:t>
            </a:r>
            <a:r>
              <a:rPr lang="en-US" dirty="0"/>
              <a:t>?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5227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</a:t>
            </a:r>
            <a:r>
              <a:rPr lang="en-US" dirty="0" err="1"/>
              <a:t>vez</a:t>
            </a:r>
            <a:r>
              <a:rPr lang="en-US" dirty="0"/>
              <a:t> que la </a:t>
            </a:r>
            <a:r>
              <a:rPr lang="en-US" dirty="0" err="1"/>
              <a:t>capa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,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brincar</a:t>
            </a:r>
            <a:r>
              <a:rPr lang="en-US" dirty="0"/>
              <a:t> a la </a:t>
            </a:r>
            <a:r>
              <a:rPr lang="en-US" dirty="0" err="1"/>
              <a:t>capa</a:t>
            </a:r>
            <a:r>
              <a:rPr lang="en-US" dirty="0"/>
              <a:t> de aesthetics. Aqui </a:t>
            </a:r>
            <a:r>
              <a:rPr lang="en-US" dirty="0" err="1"/>
              <a:t>recuerden</a:t>
            </a:r>
            <a:r>
              <a:rPr lang="en-US" dirty="0"/>
              <a:t> que lo que </a:t>
            </a:r>
            <a:r>
              <a:rPr lang="en-US" dirty="0" err="1"/>
              <a:t>queremos</a:t>
            </a:r>
            <a:r>
              <a:rPr lang="en-US" dirty="0"/>
              <a:t> es </a:t>
            </a:r>
            <a:r>
              <a:rPr lang="en-US" dirty="0" err="1"/>
              <a:t>definir</a:t>
            </a:r>
            <a:r>
              <a:rPr lang="en-US" dirty="0"/>
              <a:t> que variable es x, que variable es y, y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que variable </a:t>
            </a:r>
            <a:r>
              <a:rPr lang="en-US" dirty="0" err="1"/>
              <a:t>va</a:t>
            </a:r>
            <a:r>
              <a:rPr lang="en-US" dirty="0"/>
              <a:t> a determiner la forma o color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figura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grafico</a:t>
            </a:r>
            <a:r>
              <a:rPr lang="en-US" dirty="0"/>
              <a:t>.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9335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Entonces</a:t>
            </a:r>
            <a:r>
              <a:rPr lang="en-US" dirty="0"/>
              <a:t> aca: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eje</a:t>
            </a:r>
            <a:r>
              <a:rPr lang="en-US" dirty="0"/>
              <a:t> de las x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anio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eje</a:t>
            </a:r>
            <a:r>
              <a:rPr lang="en-US" dirty="0"/>
              <a:t> de las </a:t>
            </a:r>
            <a:r>
              <a:rPr lang="en-US" dirty="0" err="1"/>
              <a:t>ys</a:t>
            </a:r>
            <a:r>
              <a:rPr lang="en-US" dirty="0"/>
              <a:t> population y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colorear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entrada con base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pais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6375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capa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ggplot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geoms</a:t>
            </a:r>
            <a:r>
              <a:rPr lang="en-US" dirty="0"/>
              <a:t> o </a:t>
            </a:r>
            <a:r>
              <a:rPr lang="en-US" dirty="0" err="1"/>
              <a:t>geometrias</a:t>
            </a:r>
            <a:r>
              <a:rPr lang="en-US" dirty="0"/>
              <a:t>, y </a:t>
            </a:r>
            <a:r>
              <a:rPr lang="en-US" dirty="0" err="1"/>
              <a:t>basicamente</a:t>
            </a:r>
            <a:r>
              <a:rPr lang="en-US" dirty="0"/>
              <a:t> es el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geometria</a:t>
            </a:r>
            <a:r>
              <a:rPr lang="en-US" dirty="0"/>
              <a:t> que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graficar</a:t>
            </a:r>
            <a:r>
              <a:rPr lang="en-US" dirty="0"/>
              <a:t>. </a:t>
            </a:r>
            <a:r>
              <a:rPr lang="en-US" dirty="0" err="1"/>
              <a:t>Ggplot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geometrias</a:t>
            </a:r>
            <a:r>
              <a:rPr lang="en-US" dirty="0"/>
              <a:t>…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990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</a:t>
            </a:r>
            <a:r>
              <a:rPr lang="en-US" dirty="0" err="1"/>
              <a:t>aqui</a:t>
            </a:r>
            <a:r>
              <a:rPr lang="en-US" dirty="0"/>
              <a:t> temenos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tabla</a:t>
            </a:r>
            <a:r>
              <a:rPr lang="en-US" dirty="0"/>
              <a:t> de las mas </a:t>
            </a:r>
            <a:r>
              <a:rPr lang="en-US" dirty="0" err="1"/>
              <a:t>usadas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hay </a:t>
            </a:r>
            <a:r>
              <a:rPr lang="en-US" dirty="0" err="1"/>
              <a:t>muchisimas</a:t>
            </a:r>
            <a:r>
              <a:rPr lang="en-US" dirty="0"/>
              <a:t>…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5182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Podemos </a:t>
            </a:r>
            <a:r>
              <a:rPr lang="en-US" dirty="0" err="1"/>
              <a:t>ir</a:t>
            </a:r>
            <a:r>
              <a:rPr lang="en-US" dirty="0"/>
              <a:t> a la </a:t>
            </a:r>
            <a:r>
              <a:rPr lang="en-US" dirty="0" err="1"/>
              <a:t>documentacion</a:t>
            </a:r>
            <a:r>
              <a:rPr lang="en-US" dirty="0"/>
              <a:t> de R y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opciones</a:t>
            </a:r>
            <a:r>
              <a:rPr lang="en-US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3566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a R, son </a:t>
            </a:r>
            <a:r>
              <a:rPr lang="en-US" dirty="0" err="1"/>
              <a:t>muchisimas</a:t>
            </a:r>
            <a:r>
              <a:rPr lang="en-US" dirty="0"/>
              <a:t> las </a:t>
            </a:r>
            <a:r>
              <a:rPr lang="en-US" dirty="0" err="1"/>
              <a:t>opciones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6595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Estos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ingredientes</a:t>
            </a:r>
            <a:r>
              <a:rPr lang="en-US" dirty="0"/>
              <a:t> que </a:t>
            </a:r>
            <a:r>
              <a:rPr lang="en-US" dirty="0" err="1"/>
              <a:t>necesitamos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si</a:t>
            </a:r>
            <a:r>
              <a:rPr lang="en-US" dirty="0"/>
              <a:t> para </a:t>
            </a:r>
            <a:r>
              <a:rPr lang="en-US" dirty="0" err="1"/>
              <a:t>hacer</a:t>
            </a:r>
            <a:r>
              <a:rPr lang="en-US" dirty="0"/>
              <a:t> un </a:t>
            </a:r>
            <a:r>
              <a:rPr lang="en-US" dirty="0" err="1"/>
              <a:t>grafico</a:t>
            </a:r>
            <a:r>
              <a:rPr lang="en-US" dirty="0"/>
              <a:t>. Data, que </a:t>
            </a:r>
            <a:r>
              <a:rPr lang="en-US" dirty="0" err="1"/>
              <a:t>quieres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x y </a:t>
            </a:r>
            <a:r>
              <a:rPr lang="en-US" dirty="0" err="1"/>
              <a:t>en</a:t>
            </a:r>
            <a:r>
              <a:rPr lang="en-US" dirty="0"/>
              <a:t> y, y que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figura</a:t>
            </a:r>
            <a:r>
              <a:rPr lang="en-US" dirty="0"/>
              <a:t> </a:t>
            </a:r>
            <a:r>
              <a:rPr lang="en-US" dirty="0" err="1"/>
              <a:t>quieres</a:t>
            </a:r>
            <a:r>
              <a:rPr lang="en-US" dirty="0"/>
              <a:t> </a:t>
            </a:r>
            <a:r>
              <a:rPr lang="en-US" dirty="0" err="1"/>
              <a:t>graficar</a:t>
            </a:r>
            <a:r>
              <a:rPr lang="en-US" dirty="0"/>
              <a:t>.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63081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data = </a:t>
            </a:r>
            <a:r>
              <a:rPr lang="en-US" dirty="0" err="1"/>
              <a:t>tidy_pop</a:t>
            </a:r>
            <a:endParaRPr lang="en-US" dirty="0"/>
          </a:p>
          <a:p>
            <a:r>
              <a:rPr lang="en-US" dirty="0"/>
              <a:t>En </a:t>
            </a:r>
            <a:r>
              <a:rPr lang="en-US" dirty="0" err="1"/>
              <a:t>aes</a:t>
            </a:r>
            <a:r>
              <a:rPr lang="en-US" dirty="0"/>
              <a:t> x = year, y=pop, y </a:t>
            </a:r>
            <a:r>
              <a:rPr lang="en-US" dirty="0" err="1"/>
              <a:t>noten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ejes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aparece</a:t>
            </a:r>
            <a:r>
              <a:rPr lang="en-US" dirty="0"/>
              <a:t> nada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tal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grafica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6897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que </a:t>
            </a:r>
            <a:r>
              <a:rPr lang="en-US" dirty="0" err="1"/>
              <a:t>decirle</a:t>
            </a:r>
            <a:r>
              <a:rPr lang="en-US" dirty="0"/>
              <a:t> a </a:t>
            </a:r>
            <a:r>
              <a:rPr lang="en-US" dirty="0" err="1"/>
              <a:t>ggplot</a:t>
            </a:r>
            <a:r>
              <a:rPr lang="en-US" dirty="0"/>
              <a:t> el </a:t>
            </a:r>
            <a:r>
              <a:rPr lang="en-US" dirty="0" err="1"/>
              <a:t>tipo</a:t>
            </a:r>
            <a:r>
              <a:rPr lang="en-US" dirty="0"/>
              <a:t> de plot que </a:t>
            </a:r>
            <a:r>
              <a:rPr lang="en-US" dirty="0" err="1"/>
              <a:t>queremos</a:t>
            </a:r>
            <a:r>
              <a:rPr lang="en-US" dirty="0"/>
              <a:t>: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geom_point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57619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Anadimos</a:t>
            </a:r>
            <a:r>
              <a:rPr lang="en-US" dirty="0"/>
              <a:t> un aesthetic extra </a:t>
            </a:r>
            <a:r>
              <a:rPr lang="en-US" dirty="0" err="1"/>
              <a:t>diciendo</a:t>
            </a:r>
            <a:r>
              <a:rPr lang="en-US" dirty="0"/>
              <a:t> que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anadir</a:t>
            </a:r>
            <a:r>
              <a:rPr lang="en-US" dirty="0"/>
              <a:t> color con base al </a:t>
            </a:r>
            <a:r>
              <a:rPr lang="en-US" dirty="0" err="1"/>
              <a:t>pais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4490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</a:t>
            </a:r>
            <a:r>
              <a:rPr lang="en-US" dirty="0" err="1"/>
              <a:t>una</a:t>
            </a:r>
            <a:r>
              <a:rPr lang="en-US" dirty="0"/>
              <a:t> de las </a:t>
            </a:r>
            <a:r>
              <a:rPr lang="en-US" dirty="0" err="1"/>
              <a:t>cosas</a:t>
            </a:r>
            <a:r>
              <a:rPr lang="en-US" dirty="0"/>
              <a:t> mas padres es que </a:t>
            </a:r>
            <a:r>
              <a:rPr lang="en-US" dirty="0" err="1"/>
              <a:t>puedes</a:t>
            </a:r>
            <a:r>
              <a:rPr lang="en-US" dirty="0"/>
              <a:t> </a:t>
            </a:r>
            <a:r>
              <a:rPr lang="en-US" dirty="0" err="1"/>
              <a:t>acumular</a:t>
            </a:r>
            <a:r>
              <a:rPr lang="en-US" dirty="0"/>
              <a:t> </a:t>
            </a:r>
            <a:r>
              <a:rPr lang="en-US" dirty="0" err="1"/>
              <a:t>geometrias</a:t>
            </a:r>
            <a:r>
              <a:rPr lang="en-US" dirty="0"/>
              <a:t> y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con sus </a:t>
            </a:r>
            <a:r>
              <a:rPr lang="en-US" dirty="0" err="1"/>
              <a:t>propios</a:t>
            </a:r>
            <a:r>
              <a:rPr lang="en-US" dirty="0"/>
              <a:t> aesthetics. Por </a:t>
            </a:r>
            <a:r>
              <a:rPr lang="en-US" dirty="0" err="1"/>
              <a:t>ejemplo</a:t>
            </a:r>
            <a:r>
              <a:rPr lang="en-US" dirty="0"/>
              <a:t>, que </a:t>
            </a:r>
            <a:r>
              <a:rPr lang="en-US" dirty="0" err="1"/>
              <a:t>tal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quiero</a:t>
            </a:r>
            <a:r>
              <a:rPr lang="en-US" dirty="0"/>
              <a:t> </a:t>
            </a:r>
            <a:r>
              <a:rPr lang="en-US" dirty="0" err="1"/>
              <a:t>anadir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linea</a:t>
            </a:r>
            <a:r>
              <a:rPr lang="en-US" dirty="0"/>
              <a:t> que </a:t>
            </a:r>
            <a:r>
              <a:rPr lang="en-US" dirty="0" err="1"/>
              <a:t>conecte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puntos que son del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pais</a:t>
            </a:r>
            <a:r>
              <a:rPr lang="en-US" dirty="0"/>
              <a:t>: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8242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Tambien Podemos </a:t>
            </a:r>
            <a:r>
              <a:rPr lang="en-US" dirty="0" err="1"/>
              <a:t>guardar</a:t>
            </a:r>
            <a:r>
              <a:rPr lang="en-US" dirty="0"/>
              <a:t> las </a:t>
            </a:r>
            <a:r>
              <a:rPr lang="en-US" dirty="0" err="1"/>
              <a:t>graficas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objetos</a:t>
            </a:r>
            <a:r>
              <a:rPr lang="en-US" dirty="0"/>
              <a:t> que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despues</a:t>
            </a:r>
            <a:r>
              <a:rPr lang="en-US" dirty="0"/>
              <a:t> </a:t>
            </a:r>
            <a:r>
              <a:rPr lang="en-US" dirty="0" err="1"/>
              <a:t>guardarlas</a:t>
            </a:r>
            <a:r>
              <a:rPr lang="en-US" dirty="0"/>
              <a:t> y </a:t>
            </a:r>
            <a:r>
              <a:rPr lang="en-US" dirty="0" err="1"/>
              <a:t>anadir</a:t>
            </a:r>
            <a:r>
              <a:rPr lang="en-US" dirty="0"/>
              <a:t> </a:t>
            </a:r>
            <a:r>
              <a:rPr lang="en-US" dirty="0" err="1"/>
              <a:t>funciones</a:t>
            </a:r>
            <a:r>
              <a:rPr lang="en-US" dirty="0"/>
              <a:t> extra.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09195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Otras </a:t>
            </a:r>
            <a:r>
              <a:rPr lang="en-US" dirty="0" err="1"/>
              <a:t>capas</a:t>
            </a:r>
            <a:r>
              <a:rPr lang="en-US" dirty="0"/>
              <a:t> que Podemos </a:t>
            </a:r>
            <a:r>
              <a:rPr lang="en-US" dirty="0" err="1"/>
              <a:t>anadir</a:t>
            </a:r>
            <a:r>
              <a:rPr lang="en-US" dirty="0"/>
              <a:t> a un </a:t>
            </a:r>
            <a:r>
              <a:rPr lang="en-US" dirty="0" err="1"/>
              <a:t>grafico</a:t>
            </a:r>
            <a:r>
              <a:rPr lang="en-US" dirty="0"/>
              <a:t> son facets, que </a:t>
            </a:r>
            <a:r>
              <a:rPr lang="en-US" dirty="0" err="1"/>
              <a:t>basicamente</a:t>
            </a:r>
            <a:r>
              <a:rPr lang="en-US" dirty="0"/>
              <a:t> son </a:t>
            </a:r>
            <a:r>
              <a:rPr lang="en-US" dirty="0" err="1"/>
              <a:t>formas</a:t>
            </a:r>
            <a:r>
              <a:rPr lang="en-US" dirty="0"/>
              <a:t> de divider un </a:t>
            </a:r>
            <a:r>
              <a:rPr lang="en-US" dirty="0" err="1"/>
              <a:t>grafico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multiples. Por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de </a:t>
            </a:r>
            <a:r>
              <a:rPr lang="en-US" dirty="0" err="1"/>
              <a:t>tener</a:t>
            </a:r>
            <a:r>
              <a:rPr lang="en-US" dirty="0"/>
              <a:t> un solo </a:t>
            </a:r>
            <a:r>
              <a:rPr lang="en-US" dirty="0" err="1"/>
              <a:t>grafico</a:t>
            </a:r>
            <a:r>
              <a:rPr lang="en-US" dirty="0"/>
              <a:t> con las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lineas</a:t>
            </a:r>
            <a:r>
              <a:rPr lang="en-US" dirty="0"/>
              <a:t>, Podemos </a:t>
            </a:r>
            <a:r>
              <a:rPr lang="en-US" dirty="0" err="1"/>
              <a:t>tener</a:t>
            </a:r>
            <a:r>
              <a:rPr lang="en-US" dirty="0"/>
              <a:t> 3. Noten </a:t>
            </a:r>
            <a:r>
              <a:rPr lang="en-US" dirty="0" err="1"/>
              <a:t>aqui</a:t>
            </a:r>
            <a:r>
              <a:rPr lang="en-US" dirty="0"/>
              <a:t> que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anadiendo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function al </a:t>
            </a:r>
            <a:r>
              <a:rPr lang="en-US" dirty="0" err="1"/>
              <a:t>objeto</a:t>
            </a:r>
            <a:r>
              <a:rPr lang="en-US" dirty="0"/>
              <a:t> que </a:t>
            </a:r>
            <a:r>
              <a:rPr lang="en-US" dirty="0" err="1"/>
              <a:t>guardamos</a:t>
            </a:r>
            <a:r>
              <a:rPr lang="en-US" dirty="0"/>
              <a:t> </a:t>
            </a:r>
            <a:r>
              <a:rPr lang="en-US" dirty="0" err="1"/>
              <a:t>anteriormente</a:t>
            </a:r>
            <a:r>
              <a:rPr lang="en-US" dirty="0"/>
              <a:t>.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02914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Podemos </a:t>
            </a:r>
            <a:r>
              <a:rPr lang="en-US" dirty="0" err="1"/>
              <a:t>ir</a:t>
            </a:r>
            <a:r>
              <a:rPr lang="en-US" dirty="0"/>
              <a:t> un </a:t>
            </a:r>
            <a:r>
              <a:rPr lang="en-US" dirty="0" err="1"/>
              <a:t>nivel</a:t>
            </a:r>
            <a:r>
              <a:rPr lang="en-US" dirty="0"/>
              <a:t> mas </a:t>
            </a:r>
            <a:r>
              <a:rPr lang="en-US" dirty="0" err="1"/>
              <a:t>alla</a:t>
            </a:r>
            <a:r>
              <a:rPr lang="en-US" dirty="0"/>
              <a:t> con facet grid </a:t>
            </a:r>
            <a:r>
              <a:rPr lang="en-US" dirty="0" err="1"/>
              <a:t>separando</a:t>
            </a:r>
            <a:r>
              <a:rPr lang="en-US" dirty="0"/>
              <a:t> no solo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pais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Tambien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continente</a:t>
            </a:r>
            <a:r>
              <a:rPr lang="en-US" dirty="0"/>
              <a:t>.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12560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capa</a:t>
            </a:r>
            <a:r>
              <a:rPr lang="en-US" dirty="0"/>
              <a:t> que Podemos </a:t>
            </a:r>
            <a:r>
              <a:rPr lang="en-US" dirty="0" err="1"/>
              <a:t>modificar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ejes</a:t>
            </a:r>
            <a:r>
              <a:rPr lang="en-US" dirty="0"/>
              <a:t>. </a:t>
            </a:r>
            <a:r>
              <a:rPr lang="es-MX" dirty="0"/>
              <a:t> Con la función </a:t>
            </a:r>
            <a:r>
              <a:rPr lang="es-MX" dirty="0" err="1"/>
              <a:t>lab</a:t>
            </a:r>
            <a:r>
              <a:rPr lang="es-MX" dirty="0"/>
              <a:t> podemos cambiar el titulo del eje x y el eje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4840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Luego temenos cords: que </a:t>
            </a:r>
            <a:r>
              <a:rPr lang="en-US" dirty="0" err="1"/>
              <a:t>tal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quiero</a:t>
            </a:r>
            <a:r>
              <a:rPr lang="en-US" dirty="0"/>
              <a:t> </a:t>
            </a:r>
            <a:r>
              <a:rPr lang="en-US" dirty="0" err="1"/>
              <a:t>cambiar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ejes</a:t>
            </a:r>
            <a:r>
              <a:rPr lang="en-US" dirty="0"/>
              <a:t> y que year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y </a:t>
            </a:r>
            <a:r>
              <a:rPr lang="en-US" dirty="0" err="1"/>
              <a:t>y</a:t>
            </a:r>
            <a:r>
              <a:rPr lang="en-US" dirty="0"/>
              <a:t> pop </a:t>
            </a:r>
            <a:r>
              <a:rPr lang="en-US" dirty="0" err="1"/>
              <a:t>en</a:t>
            </a:r>
            <a:r>
              <a:rPr lang="en-US" dirty="0"/>
              <a:t> x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5085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incluso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la </a:t>
            </a:r>
            <a:r>
              <a:rPr lang="en-US" dirty="0" err="1"/>
              <a:t>grafica</a:t>
            </a:r>
            <a:r>
              <a:rPr lang="en-US" dirty="0"/>
              <a:t> circular con </a:t>
            </a:r>
            <a:r>
              <a:rPr lang="en-US" dirty="0" err="1"/>
              <a:t>coord_polar</a:t>
            </a:r>
            <a:r>
              <a:rPr lang="en-US" dirty="0"/>
              <a:t> para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especificos</a:t>
            </a:r>
            <a:r>
              <a:rPr lang="en-US" dirty="0"/>
              <a:t>.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60783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capa</a:t>
            </a:r>
            <a:r>
              <a:rPr lang="en-US" dirty="0"/>
              <a:t> de </a:t>
            </a:r>
            <a:r>
              <a:rPr lang="en-US" dirty="0" err="1"/>
              <a:t>mucha</a:t>
            </a:r>
            <a:r>
              <a:rPr lang="en-US" dirty="0"/>
              <a:t> </a:t>
            </a:r>
            <a:r>
              <a:rPr lang="en-US" dirty="0" err="1"/>
              <a:t>utilidad</a:t>
            </a:r>
            <a:r>
              <a:rPr lang="en-US" dirty="0"/>
              <a:t> </a:t>
            </a:r>
            <a:r>
              <a:rPr lang="en-US" dirty="0" err="1"/>
              <a:t>enfocada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aesthetics. La </a:t>
            </a:r>
            <a:r>
              <a:rPr lang="en-US" dirty="0" err="1"/>
              <a:t>sintaxis</a:t>
            </a:r>
            <a:r>
              <a:rPr lang="en-US" dirty="0"/>
              <a:t> </a:t>
            </a: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formula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especifica</a:t>
            </a:r>
            <a:r>
              <a:rPr lang="en-US" dirty="0"/>
              <a:t> que es scale + que aesthetic +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parametro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88939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</a:t>
            </a:r>
            <a:r>
              <a:rPr lang="en-US" dirty="0" err="1"/>
              <a:t>por</a:t>
            </a:r>
            <a:r>
              <a:rPr lang="en-US" dirty="0"/>
              <a:t> ultimo temenos </a:t>
            </a:r>
            <a:r>
              <a:rPr lang="en-US" dirty="0" err="1"/>
              <a:t>una</a:t>
            </a:r>
            <a:r>
              <a:rPr lang="en-US" dirty="0"/>
              <a:t> de mis </a:t>
            </a:r>
            <a:r>
              <a:rPr lang="en-US" dirty="0" err="1"/>
              <a:t>capas</a:t>
            </a:r>
            <a:r>
              <a:rPr lang="en-US" dirty="0"/>
              <a:t> </a:t>
            </a:r>
            <a:r>
              <a:rPr lang="en-US" dirty="0" err="1"/>
              <a:t>favoritas</a:t>
            </a:r>
            <a:r>
              <a:rPr lang="en-US" dirty="0"/>
              <a:t> que son </a:t>
            </a:r>
            <a:r>
              <a:rPr lang="en-US" dirty="0" err="1"/>
              <a:t>los</a:t>
            </a:r>
            <a:r>
              <a:rPr lang="en-US" dirty="0"/>
              <a:t> themes. </a:t>
            </a:r>
            <a:r>
              <a:rPr lang="en-US" dirty="0" err="1"/>
              <a:t>Basicamente</a:t>
            </a:r>
            <a:r>
              <a:rPr lang="en-US" dirty="0"/>
              <a:t> van a </a:t>
            </a:r>
            <a:r>
              <a:rPr lang="en-US" dirty="0" err="1"/>
              <a:t>cambiar</a:t>
            </a:r>
            <a:r>
              <a:rPr lang="en-US" dirty="0"/>
              <a:t> la </a:t>
            </a:r>
            <a:r>
              <a:rPr lang="en-US" dirty="0" err="1"/>
              <a:t>apariencia</a:t>
            </a:r>
            <a:r>
              <a:rPr lang="en-US" dirty="0"/>
              <a:t> de </a:t>
            </a:r>
            <a:r>
              <a:rPr lang="en-US" dirty="0" err="1"/>
              <a:t>tus</a:t>
            </a:r>
            <a:r>
              <a:rPr lang="en-US" dirty="0"/>
              <a:t> plots para que se </a:t>
            </a:r>
            <a:r>
              <a:rPr lang="en-US" dirty="0" err="1"/>
              <a:t>vean</a:t>
            </a:r>
            <a:r>
              <a:rPr lang="en-US" dirty="0"/>
              <a:t> mas bonitos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94117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themes hay </a:t>
            </a:r>
            <a:r>
              <a:rPr lang="en-US" dirty="0" err="1"/>
              <a:t>funciones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especificas</a:t>
            </a:r>
            <a:r>
              <a:rPr lang="en-US" dirty="0"/>
              <a:t> que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ayudan</a:t>
            </a:r>
            <a:r>
              <a:rPr lang="en-US" dirty="0"/>
              <a:t> a </a:t>
            </a:r>
            <a:r>
              <a:rPr lang="en-US" dirty="0" err="1"/>
              <a:t>modificar</a:t>
            </a:r>
            <a:r>
              <a:rPr lang="en-US" dirty="0"/>
              <a:t> hasta el ultimo </a:t>
            </a:r>
            <a:r>
              <a:rPr lang="en-US" dirty="0" err="1"/>
              <a:t>detalle</a:t>
            </a:r>
            <a:r>
              <a:rPr lang="en-US" dirty="0"/>
              <a:t> de </a:t>
            </a:r>
            <a:r>
              <a:rPr lang="en-US" dirty="0" err="1"/>
              <a:t>nuestras</a:t>
            </a:r>
            <a:r>
              <a:rPr lang="en-US" dirty="0"/>
              <a:t> </a:t>
            </a:r>
            <a:r>
              <a:rPr lang="en-US" dirty="0" err="1"/>
              <a:t>graficas</a:t>
            </a:r>
            <a:r>
              <a:rPr lang="en-US" dirty="0"/>
              <a:t>.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54667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</a:t>
            </a:r>
            <a:r>
              <a:rPr lang="en-US" dirty="0" err="1"/>
              <a:t>finalmente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de las </a:t>
            </a:r>
            <a:r>
              <a:rPr lang="en-US" dirty="0" err="1"/>
              <a:t>cosas</a:t>
            </a:r>
            <a:r>
              <a:rPr lang="en-US" dirty="0"/>
              <a:t> que mas me </a:t>
            </a:r>
            <a:r>
              <a:rPr lang="en-US" dirty="0" err="1"/>
              <a:t>gusta</a:t>
            </a:r>
            <a:r>
              <a:rPr lang="en-US" dirty="0"/>
              <a:t> es que Podemos </a:t>
            </a:r>
            <a:r>
              <a:rPr lang="en-US" dirty="0" err="1"/>
              <a:t>guardar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graficos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sencilla</a:t>
            </a:r>
            <a:r>
              <a:rPr lang="en-US" dirty="0"/>
              <a:t>.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A13BE-AADE-4F50-8551-34DD496904BB}" type="slidenum">
              <a:rPr lang="es-MX" smtClean="0"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759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17885" y="1711800"/>
            <a:ext cx="1491615" cy="540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7835" y="3627120"/>
            <a:ext cx="8063230" cy="1619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72821"/>
                </a:solidFill>
                <a:latin typeface="Trebuchet MS"/>
                <a:cs typeface="Trebuchet MS"/>
              </a:defRPr>
            </a:lvl1pPr>
          </a:lstStyle>
          <a:p>
            <a:pPr marL="2000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72821"/>
                </a:solidFill>
                <a:latin typeface="Trebuchet MS"/>
                <a:cs typeface="Trebuchet MS"/>
              </a:defRPr>
            </a:lvl1pPr>
          </a:lstStyle>
          <a:p>
            <a:pPr marL="2000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5945" y="1489710"/>
            <a:ext cx="5010721" cy="427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32233" y="1489710"/>
            <a:ext cx="5010721" cy="427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72821"/>
                </a:solidFill>
                <a:latin typeface="Trebuchet MS"/>
                <a:cs typeface="Trebuchet MS"/>
              </a:defRPr>
            </a:lvl1pPr>
          </a:lstStyle>
          <a:p>
            <a:pPr marL="2000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72821"/>
                </a:solidFill>
                <a:latin typeface="Trebuchet MS"/>
                <a:cs typeface="Trebuchet MS"/>
              </a:defRPr>
            </a:lvl1pPr>
          </a:lstStyle>
          <a:p>
            <a:pPr marL="2000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72821"/>
                </a:solidFill>
                <a:latin typeface="Trebuchet MS"/>
                <a:cs typeface="Trebuchet MS"/>
              </a:defRPr>
            </a:lvl1pPr>
          </a:lstStyle>
          <a:p>
            <a:pPr marL="2000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518900" cy="6469380"/>
          </a:xfrm>
          <a:custGeom>
            <a:avLst/>
            <a:gdLst/>
            <a:ahLst/>
            <a:cxnLst/>
            <a:rect l="l" t="t" r="r" b="b"/>
            <a:pathLst>
              <a:path w="11518900" h="6469380">
                <a:moveTo>
                  <a:pt x="11518391" y="6469258"/>
                </a:moveTo>
                <a:lnTo>
                  <a:pt x="0" y="6469258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6469258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681" y="111159"/>
            <a:ext cx="7281545" cy="540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786" y="1025810"/>
            <a:ext cx="6661784" cy="3941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16426" y="6023610"/>
            <a:ext cx="3686048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5945" y="6023610"/>
            <a:ext cx="2649347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1582" y="6140206"/>
            <a:ext cx="331514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72821"/>
                </a:solidFill>
                <a:latin typeface="Trebuchet MS"/>
                <a:cs typeface="Trebuchet MS"/>
              </a:defRPr>
            </a:lvl1pPr>
          </a:lstStyle>
          <a:p>
            <a:pPr marL="2000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denbuie/gentle-ggplot2/tree/ma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ric.netlify.com/2017/08/10/most-popular-ggplot2-geom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ggplot2.tidyverse.org/reference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ggplot2.tidyverse.org/reference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7250" y="1104900"/>
            <a:ext cx="3352800" cy="3885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254250" y="2447888"/>
            <a:ext cx="1447800" cy="485812"/>
          </a:xfrm>
          <a:custGeom>
            <a:avLst/>
            <a:gdLst/>
            <a:ahLst/>
            <a:cxnLst/>
            <a:rect l="l" t="t" r="r" b="b"/>
            <a:pathLst>
              <a:path w="1343660" h="438785">
                <a:moveTo>
                  <a:pt x="1318602" y="438270"/>
                </a:moveTo>
                <a:lnTo>
                  <a:pt x="24792" y="438270"/>
                </a:lnTo>
                <a:lnTo>
                  <a:pt x="21146" y="437545"/>
                </a:lnTo>
                <a:lnTo>
                  <a:pt x="0" y="413477"/>
                </a:lnTo>
                <a:lnTo>
                  <a:pt x="0" y="409687"/>
                </a:lnTo>
                <a:lnTo>
                  <a:pt x="0" y="24792"/>
                </a:lnTo>
                <a:lnTo>
                  <a:pt x="24792" y="0"/>
                </a:lnTo>
                <a:lnTo>
                  <a:pt x="1318602" y="0"/>
                </a:lnTo>
                <a:lnTo>
                  <a:pt x="1343395" y="24792"/>
                </a:lnTo>
                <a:lnTo>
                  <a:pt x="1343395" y="413477"/>
                </a:lnTo>
                <a:lnTo>
                  <a:pt x="1322248" y="437545"/>
                </a:lnTo>
                <a:lnTo>
                  <a:pt x="1318602" y="43827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0969" y="1807301"/>
            <a:ext cx="5173232" cy="1126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lang="es-ES" sz="3000" dirty="0">
                <a:solidFill>
                  <a:srgbClr val="1A292C"/>
                </a:solidFill>
              </a:rPr>
              <a:t>Una introducción “</a:t>
            </a:r>
            <a:r>
              <a:rPr lang="es-ES" sz="3000" dirty="0">
                <a:solidFill>
                  <a:srgbClr val="5789B5"/>
                </a:solidFill>
              </a:rPr>
              <a:t>amigable</a:t>
            </a:r>
            <a:r>
              <a:rPr lang="es-ES" sz="3000" dirty="0">
                <a:solidFill>
                  <a:srgbClr val="1A292C"/>
                </a:solidFill>
              </a:rPr>
              <a:t>” </a:t>
            </a:r>
            <a:br>
              <a:rPr lang="es-ES" sz="3000" dirty="0">
                <a:solidFill>
                  <a:srgbClr val="1A292C"/>
                </a:solidFill>
              </a:rPr>
            </a:br>
            <a:r>
              <a:rPr lang="es-ES" sz="3000" dirty="0">
                <a:solidFill>
                  <a:srgbClr val="1A292C"/>
                </a:solidFill>
              </a:rPr>
              <a:t>al uso de </a:t>
            </a:r>
            <a:r>
              <a:rPr lang="es-ES" sz="3000" b="1" dirty="0">
                <a:solidFill>
                  <a:srgbClr val="1A292C"/>
                </a:solidFill>
              </a:rPr>
              <a:t>ggplot2</a:t>
            </a:r>
            <a:endParaRPr sz="2500" b="1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0" y="3317145"/>
            <a:ext cx="4390855" cy="12477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51380">
              <a:lnSpc>
                <a:spcPct val="125000"/>
              </a:lnSpc>
              <a:spcBef>
                <a:spcPts val="95"/>
              </a:spcBef>
            </a:pPr>
            <a:r>
              <a:rPr lang="en-US" sz="1850" spc="-35" dirty="0">
                <a:solidFill>
                  <a:srgbClr val="1A292C"/>
                </a:solidFill>
                <a:latin typeface="Trebuchet MS"/>
                <a:cs typeface="Trebuchet MS"/>
              </a:rPr>
              <a:t>Fernanda Miron</a:t>
            </a:r>
            <a:endParaRPr sz="18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850" dirty="0">
                <a:solidFill>
                  <a:srgbClr val="1A292C"/>
                </a:solidFill>
                <a:latin typeface="Trebuchet MS"/>
                <a:cs typeface="Trebuchet MS"/>
              </a:rPr>
              <a:t>Material de: </a:t>
            </a:r>
            <a:r>
              <a:rPr lang="en-US" sz="1850" dirty="0">
                <a:solidFill>
                  <a:srgbClr val="5789B5"/>
                </a:solidFill>
                <a:latin typeface="Trebuchet MS"/>
                <a:cs typeface="Trebuchet M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https://github.com/gadenbuie/gentle-ggplot2/tree/main</a:t>
            </a:r>
            <a:r>
              <a:rPr lang="en-US" sz="1850" dirty="0">
                <a:solidFill>
                  <a:srgbClr val="5789B5"/>
                </a:solidFill>
                <a:latin typeface="Trebuchet MS"/>
                <a:cs typeface="Trebuchet MS"/>
              </a:rPr>
              <a:t> </a:t>
            </a:r>
            <a:endParaRPr sz="1850" dirty="0">
              <a:solidFill>
                <a:srgbClr val="5789B5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Why</a:t>
            </a:r>
            <a:r>
              <a:rPr spc="-105" dirty="0"/>
              <a:t> </a:t>
            </a:r>
            <a:r>
              <a:rPr i="1" spc="60" dirty="0">
                <a:latin typeface="Trebuchet MS"/>
                <a:cs typeface="Trebuchet MS"/>
              </a:rPr>
              <a:t>ggplot2</a:t>
            </a:r>
            <a:r>
              <a:rPr spc="60" dirty="0"/>
              <a:t>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78" y="1800721"/>
            <a:ext cx="76221" cy="76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78" y="3687190"/>
            <a:ext cx="76221" cy="762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78" y="4277903"/>
            <a:ext cx="76221" cy="76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78" y="4868616"/>
            <a:ext cx="76221" cy="762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3681" y="1035338"/>
            <a:ext cx="5843270" cy="3998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80" dirty="0">
                <a:solidFill>
                  <a:srgbClr val="1A292C"/>
                </a:solidFill>
                <a:latin typeface="Trebuchet MS"/>
                <a:cs typeface="Trebuchet MS"/>
              </a:rPr>
              <a:t>My</a:t>
            </a:r>
            <a:r>
              <a:rPr sz="2600" spc="-120" dirty="0">
                <a:solidFill>
                  <a:srgbClr val="1A292C"/>
                </a:solidFill>
                <a:latin typeface="Trebuchet MS"/>
                <a:cs typeface="Trebuchet MS"/>
              </a:rPr>
              <a:t> </a:t>
            </a:r>
            <a:r>
              <a:rPr sz="2600" spc="60" dirty="0">
                <a:solidFill>
                  <a:srgbClr val="1A292C"/>
                </a:solidFill>
                <a:latin typeface="Trebuchet MS"/>
                <a:cs typeface="Trebuchet MS"/>
              </a:rPr>
              <a:t>personal</a:t>
            </a:r>
            <a:r>
              <a:rPr sz="2600" spc="-120" dirty="0">
                <a:solidFill>
                  <a:srgbClr val="1A292C"/>
                </a:solidFill>
                <a:latin typeface="Trebuchet MS"/>
                <a:cs typeface="Trebuchet MS"/>
              </a:rPr>
              <a:t> </a:t>
            </a:r>
            <a:r>
              <a:rPr sz="2600" spc="65" dirty="0">
                <a:solidFill>
                  <a:srgbClr val="1A292C"/>
                </a:solidFill>
                <a:latin typeface="Trebuchet MS"/>
                <a:cs typeface="Trebuchet MS"/>
              </a:rPr>
              <a:t>reasons</a:t>
            </a:r>
            <a:endParaRPr sz="2600" dirty="0">
              <a:latin typeface="Trebuchet MS"/>
              <a:cs typeface="Trebuchet MS"/>
            </a:endParaRPr>
          </a:p>
          <a:p>
            <a:pPr marL="393700">
              <a:lnSpc>
                <a:spcPct val="100000"/>
              </a:lnSpc>
              <a:spcBef>
                <a:spcPts val="1755"/>
              </a:spcBef>
            </a:pPr>
            <a:r>
              <a:rPr sz="1850" dirty="0">
                <a:solidFill>
                  <a:srgbClr val="DD1144"/>
                </a:solidFill>
                <a:latin typeface="Trebuchet MS"/>
                <a:cs typeface="Trebuchet MS"/>
              </a:rPr>
              <a:t>Functional</a:t>
            </a:r>
            <a:r>
              <a:rPr sz="1850" spc="95" dirty="0">
                <a:solidFill>
                  <a:srgbClr val="DD1144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data</a:t>
            </a:r>
            <a:r>
              <a:rPr sz="1850" spc="8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visualization</a:t>
            </a:r>
            <a:endParaRPr sz="18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50" dirty="0">
              <a:latin typeface="Trebuchet MS"/>
              <a:cs typeface="Trebuchet MS"/>
            </a:endParaRPr>
          </a:p>
          <a:p>
            <a:pPr marL="774700" indent="-222250">
              <a:lnSpc>
                <a:spcPct val="100000"/>
              </a:lnSpc>
              <a:buAutoNum type="arabicPeriod"/>
              <a:tabLst>
                <a:tab pos="774700" algn="l"/>
              </a:tabLst>
            </a:pPr>
            <a:r>
              <a:rPr sz="1850" dirty="0">
                <a:latin typeface="Trebuchet MS"/>
                <a:cs typeface="Trebuchet MS"/>
              </a:rPr>
              <a:t>Wrange</a:t>
            </a:r>
            <a:r>
              <a:rPr sz="1850" spc="-140" dirty="0">
                <a:latin typeface="Trebuchet MS"/>
                <a:cs typeface="Trebuchet MS"/>
              </a:rPr>
              <a:t> </a:t>
            </a:r>
            <a:r>
              <a:rPr sz="1850" spc="-20" dirty="0">
                <a:latin typeface="Trebuchet MS"/>
                <a:cs typeface="Trebuchet MS"/>
              </a:rPr>
              <a:t>data</a:t>
            </a:r>
            <a:endParaRPr sz="1850" dirty="0">
              <a:latin typeface="Trebuchet MS"/>
              <a:cs typeface="Trebuchet MS"/>
            </a:endParaRPr>
          </a:p>
          <a:p>
            <a:pPr marL="774065" indent="-22796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774065" algn="l"/>
              </a:tabLst>
            </a:pPr>
            <a:r>
              <a:rPr sz="1850" spc="55" dirty="0">
                <a:latin typeface="Trebuchet MS"/>
                <a:cs typeface="Trebuchet MS"/>
              </a:rPr>
              <a:t>Map </a:t>
            </a:r>
            <a:r>
              <a:rPr sz="1850" dirty="0">
                <a:latin typeface="Trebuchet MS"/>
                <a:cs typeface="Trebuchet MS"/>
              </a:rPr>
              <a:t>data</a:t>
            </a:r>
            <a:r>
              <a:rPr sz="1850" spc="-1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 visual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elements</a:t>
            </a:r>
            <a:endParaRPr sz="1850" dirty="0">
              <a:latin typeface="Trebuchet MS"/>
              <a:cs typeface="Trebuchet MS"/>
            </a:endParaRPr>
          </a:p>
          <a:p>
            <a:pPr marL="774065" indent="-22796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774065" algn="l"/>
              </a:tabLst>
            </a:pPr>
            <a:r>
              <a:rPr sz="1850" spc="-90" dirty="0">
                <a:latin typeface="Trebuchet MS"/>
                <a:cs typeface="Trebuchet MS"/>
              </a:rPr>
              <a:t>Tweak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scales,</a:t>
            </a:r>
            <a:r>
              <a:rPr sz="1850" spc="-1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guides,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-50" dirty="0">
                <a:latin typeface="Trebuchet MS"/>
                <a:cs typeface="Trebuchet MS"/>
              </a:rPr>
              <a:t>axis,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labels,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theme</a:t>
            </a:r>
            <a:endParaRPr sz="1850" dirty="0">
              <a:latin typeface="Trebuchet MS"/>
              <a:cs typeface="Trebuchet MS"/>
            </a:endParaRPr>
          </a:p>
          <a:p>
            <a:pPr marL="393700" marR="5080">
              <a:lnSpc>
                <a:spcPct val="209500"/>
              </a:lnSpc>
            </a:pPr>
            <a:r>
              <a:rPr sz="1850" dirty="0">
                <a:latin typeface="Trebuchet MS"/>
                <a:cs typeface="Trebuchet MS"/>
              </a:rPr>
              <a:t>Easy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spc="60" dirty="0">
                <a:solidFill>
                  <a:srgbClr val="DD1144"/>
                </a:solidFill>
                <a:latin typeface="Trebuchet MS"/>
                <a:cs typeface="Trebuchet MS"/>
              </a:rPr>
              <a:t>reason </a:t>
            </a:r>
            <a:r>
              <a:rPr sz="1850" dirty="0">
                <a:latin typeface="Trebuchet MS"/>
                <a:cs typeface="Trebuchet MS"/>
              </a:rPr>
              <a:t>about</a:t>
            </a:r>
            <a:r>
              <a:rPr sz="1850" spc="7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how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data drives</a:t>
            </a:r>
            <a:r>
              <a:rPr sz="1850" spc="6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visualization </a:t>
            </a:r>
            <a:r>
              <a:rPr sz="1850" dirty="0">
                <a:latin typeface="Trebuchet MS"/>
                <a:cs typeface="Trebuchet MS"/>
              </a:rPr>
              <a:t>Easy</a:t>
            </a:r>
            <a:r>
              <a:rPr sz="1850" spc="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DD1144"/>
                </a:solidFill>
                <a:latin typeface="Trebuchet MS"/>
                <a:cs typeface="Trebuchet MS"/>
              </a:rPr>
              <a:t>iterate</a:t>
            </a:r>
            <a:endParaRPr sz="18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50" dirty="0">
              <a:latin typeface="Trebuchet MS"/>
              <a:cs typeface="Trebuchet MS"/>
            </a:endParaRPr>
          </a:p>
          <a:p>
            <a:pPr marL="393700">
              <a:lnSpc>
                <a:spcPct val="100000"/>
              </a:lnSpc>
            </a:pPr>
            <a:r>
              <a:rPr sz="1850" dirty="0">
                <a:latin typeface="Trebuchet MS"/>
                <a:cs typeface="Trebuchet MS"/>
              </a:rPr>
              <a:t>Easy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be </a:t>
            </a:r>
            <a:r>
              <a:rPr sz="1850" spc="35" dirty="0">
                <a:solidFill>
                  <a:srgbClr val="DD1144"/>
                </a:solidFill>
                <a:latin typeface="Trebuchet MS"/>
                <a:cs typeface="Trebuchet MS"/>
              </a:rPr>
              <a:t>consistent</a:t>
            </a:r>
            <a:endParaRPr sz="185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  <a:ln>
            <a:solidFill>
              <a:srgbClr val="5789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-210" dirty="0"/>
              <a:t> </a:t>
            </a:r>
            <a:r>
              <a:rPr dirty="0"/>
              <a:t>are</a:t>
            </a:r>
            <a:r>
              <a:rPr spc="-160" dirty="0"/>
              <a:t> </a:t>
            </a:r>
            <a:r>
              <a:rPr dirty="0"/>
              <a:t>we</a:t>
            </a:r>
            <a:r>
              <a:rPr spc="-155" dirty="0"/>
              <a:t> </a:t>
            </a:r>
            <a:r>
              <a:rPr dirty="0"/>
              <a:t>getting</a:t>
            </a:r>
            <a:r>
              <a:rPr spc="-215" dirty="0"/>
              <a:t> </a:t>
            </a:r>
            <a:r>
              <a:rPr spc="-10" dirty="0"/>
              <a:t>into?</a:t>
            </a:r>
          </a:p>
        </p:txBody>
      </p:sp>
      <p:sp>
        <p:nvSpPr>
          <p:cNvPr id="4" name="object 4"/>
          <p:cNvSpPr/>
          <p:nvPr/>
        </p:nvSpPr>
        <p:spPr>
          <a:xfrm>
            <a:off x="476381" y="1400560"/>
            <a:ext cx="876935" cy="305435"/>
          </a:xfrm>
          <a:custGeom>
            <a:avLst/>
            <a:gdLst/>
            <a:ahLst/>
            <a:cxnLst/>
            <a:rect l="l" t="t" r="r" b="b"/>
            <a:pathLst>
              <a:path w="876935" h="305435">
                <a:moveTo>
                  <a:pt x="851749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851749" y="0"/>
                </a:lnTo>
                <a:lnTo>
                  <a:pt x="876541" y="24792"/>
                </a:lnTo>
                <a:lnTo>
                  <a:pt x="876541" y="280091"/>
                </a:lnTo>
                <a:lnTo>
                  <a:pt x="855395" y="304158"/>
                </a:lnTo>
                <a:lnTo>
                  <a:pt x="851749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3681" y="1302111"/>
            <a:ext cx="5433695" cy="7308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50"/>
              </a:spcBef>
            </a:pPr>
            <a:r>
              <a:rPr sz="1650" spc="-90" dirty="0">
                <a:latin typeface="Courier New"/>
                <a:cs typeface="Courier New"/>
              </a:rPr>
              <a:t>ggplot</a:t>
            </a:r>
            <a:r>
              <a:rPr sz="1550" spc="-90" dirty="0">
                <a:latin typeface="Courier New"/>
                <a:cs typeface="Courier New"/>
              </a:rPr>
              <a:t>2</a:t>
            </a:r>
            <a:r>
              <a:rPr sz="1550" spc="-70" dirty="0">
                <a:latin typeface="Courier New"/>
                <a:cs typeface="Courier New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is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huge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spc="-30" dirty="0">
                <a:latin typeface="Trebuchet MS"/>
                <a:cs typeface="Trebuchet MS"/>
              </a:rPr>
              <a:t>package: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philosophy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+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functions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spc="-155" dirty="0">
                <a:latin typeface="Trebuchet MS"/>
                <a:cs typeface="Trebuchet MS"/>
              </a:rPr>
              <a:t>...but</a:t>
            </a:r>
            <a:r>
              <a:rPr sz="1850" dirty="0">
                <a:latin typeface="Trebuchet MS"/>
                <a:cs typeface="Trebuchet MS"/>
              </a:rPr>
              <a:t> it's </a:t>
            </a:r>
            <a:r>
              <a:rPr sz="1850" spc="-10" dirty="0">
                <a:latin typeface="Trebuchet MS"/>
                <a:cs typeface="Trebuchet MS"/>
              </a:rPr>
              <a:t>very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-40" dirty="0">
                <a:latin typeface="Trebuchet MS"/>
                <a:cs typeface="Trebuchet MS"/>
              </a:rPr>
              <a:t>well </a:t>
            </a:r>
            <a:r>
              <a:rPr sz="1850" spc="-10" dirty="0">
                <a:latin typeface="Trebuchet MS"/>
                <a:cs typeface="Trebuchet MS"/>
              </a:rPr>
              <a:t>organized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681" y="2950391"/>
            <a:ext cx="5700395" cy="7308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50" i="1" dirty="0">
                <a:latin typeface="Trebuchet MS"/>
                <a:cs typeface="Trebuchet MS"/>
              </a:rPr>
              <a:t>Lots</a:t>
            </a:r>
            <a:r>
              <a:rPr sz="1850" i="1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of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examples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of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not-</a:t>
            </a:r>
            <a:r>
              <a:rPr sz="1850" spc="90" dirty="0">
                <a:latin typeface="Trebuchet MS"/>
                <a:cs typeface="Trebuchet MS"/>
              </a:rPr>
              <a:t>so-</a:t>
            </a:r>
            <a:r>
              <a:rPr sz="1850" spc="-25" dirty="0">
                <a:latin typeface="Trebuchet MS"/>
                <a:cs typeface="Trebuchet MS"/>
              </a:rPr>
              <a:t>great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plots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in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these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slides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spc="-155" dirty="0">
                <a:latin typeface="Trebuchet MS"/>
                <a:cs typeface="Trebuchet MS"/>
              </a:rPr>
              <a:t>...but</a:t>
            </a:r>
            <a:r>
              <a:rPr sz="1850" spc="10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that's</a:t>
            </a:r>
            <a:r>
              <a:rPr sz="1850" spc="95" dirty="0">
                <a:latin typeface="Trebuchet MS"/>
                <a:cs typeface="Trebuchet MS"/>
              </a:rPr>
              <a:t> </a:t>
            </a:r>
            <a:r>
              <a:rPr sz="1850" spc="-20" dirty="0">
                <a:latin typeface="Trebuchet MS"/>
                <a:cs typeface="Trebuchet MS"/>
              </a:rPr>
              <a:t>okay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681" y="4598670"/>
            <a:ext cx="4697095" cy="7308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50" dirty="0">
                <a:latin typeface="Trebuchet MS"/>
                <a:cs typeface="Trebuchet MS"/>
              </a:rPr>
              <a:t>Going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throw</a:t>
            </a:r>
            <a:r>
              <a:rPr sz="1850" spc="-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lot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at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you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spc="-155" dirty="0">
                <a:latin typeface="Trebuchet MS"/>
                <a:cs typeface="Trebuchet MS"/>
              </a:rPr>
              <a:t>...but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you'll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know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i="1" spc="-35" dirty="0">
                <a:latin typeface="Trebuchet MS"/>
                <a:cs typeface="Trebuchet MS"/>
              </a:rPr>
              <a:t>where</a:t>
            </a:r>
            <a:r>
              <a:rPr sz="1850" i="1" spc="-5" dirty="0">
                <a:latin typeface="Trebuchet MS"/>
                <a:cs typeface="Trebuchet MS"/>
              </a:rPr>
              <a:t> </a:t>
            </a:r>
            <a:r>
              <a:rPr sz="1850" spc="60" dirty="0">
                <a:latin typeface="Trebuchet MS"/>
                <a:cs typeface="Trebuchet MS"/>
              </a:rPr>
              <a:t>and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i="1" spc="-10" dirty="0">
                <a:latin typeface="Trebuchet MS"/>
                <a:cs typeface="Trebuchet MS"/>
              </a:rPr>
              <a:t>what</a:t>
            </a:r>
            <a:r>
              <a:rPr sz="1850" i="1" spc="-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look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for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6469380"/>
          </a:xfrm>
          <a:custGeom>
            <a:avLst/>
            <a:gdLst/>
            <a:ahLst/>
            <a:cxnLst/>
            <a:rect l="l" t="t" r="r" b="b"/>
            <a:pathLst>
              <a:path w="11518900" h="6469380">
                <a:moveTo>
                  <a:pt x="11518391" y="6469258"/>
                </a:moveTo>
                <a:lnTo>
                  <a:pt x="0" y="6469258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6469258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8229" y="2788421"/>
            <a:ext cx="4533900" cy="145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00175">
              <a:lnSpc>
                <a:spcPct val="125000"/>
              </a:lnSpc>
              <a:spcBef>
                <a:spcPts val="100"/>
              </a:spcBef>
            </a:pPr>
            <a:r>
              <a:rPr sz="3750" dirty="0">
                <a:solidFill>
                  <a:srgbClr val="FFFFFF"/>
                </a:solidFill>
              </a:rPr>
              <a:t>gg</a:t>
            </a:r>
            <a:r>
              <a:rPr sz="3750" spc="-120" dirty="0">
                <a:solidFill>
                  <a:srgbClr val="FFFFFF"/>
                </a:solidFill>
              </a:rPr>
              <a:t> </a:t>
            </a:r>
            <a:r>
              <a:rPr sz="3750" spc="95" dirty="0">
                <a:solidFill>
                  <a:srgbClr val="FFFFFF"/>
                </a:solidFill>
              </a:rPr>
              <a:t>is</a:t>
            </a:r>
            <a:r>
              <a:rPr sz="3750" spc="-120" dirty="0">
                <a:solidFill>
                  <a:srgbClr val="FFFFFF"/>
                </a:solidFill>
              </a:rPr>
              <a:t> </a:t>
            </a:r>
            <a:r>
              <a:rPr sz="3750" spc="-25" dirty="0">
                <a:solidFill>
                  <a:srgbClr val="FFFFFF"/>
                </a:solidFill>
              </a:rPr>
              <a:t>for </a:t>
            </a:r>
            <a:r>
              <a:rPr sz="3750" spc="-10" dirty="0">
                <a:solidFill>
                  <a:srgbClr val="FFFFFF"/>
                </a:solidFill>
              </a:rPr>
              <a:t>Grammar</a:t>
            </a:r>
            <a:r>
              <a:rPr sz="3750" spc="-170" dirty="0">
                <a:solidFill>
                  <a:srgbClr val="FFFFFF"/>
                </a:solidFill>
              </a:rPr>
              <a:t> </a:t>
            </a:r>
            <a:r>
              <a:rPr sz="3750" dirty="0">
                <a:solidFill>
                  <a:srgbClr val="FFFFFF"/>
                </a:solidFill>
              </a:rPr>
              <a:t>of</a:t>
            </a:r>
            <a:r>
              <a:rPr sz="3750" spc="-195" dirty="0">
                <a:solidFill>
                  <a:srgbClr val="FFFFFF"/>
                </a:solidFill>
              </a:rPr>
              <a:t> </a:t>
            </a:r>
            <a:r>
              <a:rPr sz="3750" spc="-10" dirty="0">
                <a:solidFill>
                  <a:srgbClr val="FFFFFF"/>
                </a:solidFill>
              </a:rPr>
              <a:t>Graphics</a:t>
            </a:r>
            <a:endParaRPr sz="3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0A42-739F-EA89-14BE-75D49E49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0B5C6B-BF12-3C4C-1CAC-C7E48FF044BD}"/>
              </a:ext>
            </a:extLst>
          </p:cNvPr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7F5D0A0-E480-568E-EB50-59CDDDD58546}"/>
              </a:ext>
            </a:extLst>
          </p:cNvPr>
          <p:cNvSpPr txBox="1"/>
          <p:nvPr/>
        </p:nvSpPr>
        <p:spPr>
          <a:xfrm>
            <a:off x="463681" y="111159"/>
            <a:ext cx="715835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60" dirty="0">
                <a:solidFill>
                  <a:srgbClr val="F9F9F9"/>
                </a:solidFill>
                <a:latin typeface="Trebuchet MS"/>
                <a:cs typeface="Trebuchet MS"/>
              </a:rPr>
              <a:t>How</a:t>
            </a:r>
            <a:r>
              <a:rPr sz="3350" spc="-1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155" dirty="0">
                <a:solidFill>
                  <a:srgbClr val="F9F9F9"/>
                </a:solidFill>
                <a:latin typeface="Trebuchet MS"/>
                <a:cs typeface="Trebuchet MS"/>
              </a:rPr>
              <a:t>do</a:t>
            </a:r>
            <a:r>
              <a:rPr sz="3350" spc="-1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dirty="0">
                <a:solidFill>
                  <a:srgbClr val="F9F9F9"/>
                </a:solidFill>
                <a:latin typeface="Trebuchet MS"/>
                <a:cs typeface="Trebuchet MS"/>
              </a:rPr>
              <a:t>we</a:t>
            </a:r>
            <a:r>
              <a:rPr sz="3350" spc="-8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70" dirty="0">
                <a:solidFill>
                  <a:srgbClr val="F9F9F9"/>
                </a:solidFill>
                <a:latin typeface="Trebuchet MS"/>
                <a:cs typeface="Trebuchet MS"/>
              </a:rPr>
              <a:t>express</a:t>
            </a:r>
            <a:r>
              <a:rPr sz="3350" spc="-12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80" dirty="0">
                <a:solidFill>
                  <a:srgbClr val="F9F9F9"/>
                </a:solidFill>
                <a:latin typeface="Trebuchet MS"/>
                <a:cs typeface="Trebuchet MS"/>
              </a:rPr>
              <a:t>visuals</a:t>
            </a:r>
            <a:r>
              <a:rPr sz="3350" spc="-12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80" dirty="0">
                <a:solidFill>
                  <a:srgbClr val="F9F9F9"/>
                </a:solidFill>
                <a:latin typeface="Trebuchet MS"/>
                <a:cs typeface="Trebuchet MS"/>
              </a:rPr>
              <a:t>in</a:t>
            </a:r>
            <a:r>
              <a:rPr sz="3350" spc="-14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80" dirty="0">
                <a:solidFill>
                  <a:srgbClr val="F9F9F9"/>
                </a:solidFill>
                <a:latin typeface="Trebuchet MS"/>
                <a:cs typeface="Trebuchet MS"/>
              </a:rPr>
              <a:t>words?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0E9B4CE-2965-09F3-3E9D-055EC52645B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7" name="Picture 2" descr="From spss to R, part 3 - Roel's R-tefacts">
            <a:extLst>
              <a:ext uri="{FF2B5EF4-FFF2-40B4-BE49-F238E27FC236}">
                <a16:creationId xmlns:a16="http://schemas.microsoft.com/office/drawing/2014/main" id="{A3D97C3A-1AE7-2343-1FF1-F339098C8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050" y="1075688"/>
            <a:ext cx="7086600" cy="506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88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2210-9442-228A-E270-F7E0144D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77E13F-82F3-29B1-2178-963886BFD0FE}"/>
              </a:ext>
            </a:extLst>
          </p:cNvPr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440EA7E-EA71-F622-BDDA-1A6462041B78}"/>
              </a:ext>
            </a:extLst>
          </p:cNvPr>
          <p:cNvSpPr txBox="1"/>
          <p:nvPr/>
        </p:nvSpPr>
        <p:spPr>
          <a:xfrm>
            <a:off x="463681" y="111159"/>
            <a:ext cx="715835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60" dirty="0">
                <a:solidFill>
                  <a:srgbClr val="F9F9F9"/>
                </a:solidFill>
                <a:latin typeface="Trebuchet MS"/>
                <a:cs typeface="Trebuchet MS"/>
              </a:rPr>
              <a:t>How</a:t>
            </a:r>
            <a:r>
              <a:rPr sz="3350" spc="-1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155" dirty="0">
                <a:solidFill>
                  <a:srgbClr val="F9F9F9"/>
                </a:solidFill>
                <a:latin typeface="Trebuchet MS"/>
                <a:cs typeface="Trebuchet MS"/>
              </a:rPr>
              <a:t>do</a:t>
            </a:r>
            <a:r>
              <a:rPr sz="3350" spc="-1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dirty="0">
                <a:solidFill>
                  <a:srgbClr val="F9F9F9"/>
                </a:solidFill>
                <a:latin typeface="Trebuchet MS"/>
                <a:cs typeface="Trebuchet MS"/>
              </a:rPr>
              <a:t>we</a:t>
            </a:r>
            <a:r>
              <a:rPr sz="3350" spc="-8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70" dirty="0">
                <a:solidFill>
                  <a:srgbClr val="F9F9F9"/>
                </a:solidFill>
                <a:latin typeface="Trebuchet MS"/>
                <a:cs typeface="Trebuchet MS"/>
              </a:rPr>
              <a:t>express</a:t>
            </a:r>
            <a:r>
              <a:rPr sz="3350" spc="-12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80" dirty="0">
                <a:solidFill>
                  <a:srgbClr val="F9F9F9"/>
                </a:solidFill>
                <a:latin typeface="Trebuchet MS"/>
                <a:cs typeface="Trebuchet MS"/>
              </a:rPr>
              <a:t>visuals</a:t>
            </a:r>
            <a:r>
              <a:rPr sz="3350" spc="-12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80" dirty="0">
                <a:solidFill>
                  <a:srgbClr val="F9F9F9"/>
                </a:solidFill>
                <a:latin typeface="Trebuchet MS"/>
                <a:cs typeface="Trebuchet MS"/>
              </a:rPr>
              <a:t>in</a:t>
            </a:r>
            <a:r>
              <a:rPr sz="3350" spc="-145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3350" spc="80" dirty="0">
                <a:solidFill>
                  <a:srgbClr val="F9F9F9"/>
                </a:solidFill>
                <a:latin typeface="Trebuchet MS"/>
                <a:cs typeface="Trebuchet MS"/>
              </a:rPr>
              <a:t>words?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00F1A32-88C7-A161-CB3F-968631B6B93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4B05FE-C0EC-C5F3-ACED-232BD3A49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253" y="1104900"/>
            <a:ext cx="6667197" cy="496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75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How</a:t>
            </a:r>
            <a:r>
              <a:rPr spc="-140" dirty="0"/>
              <a:t> </a:t>
            </a:r>
            <a:r>
              <a:rPr spc="155" dirty="0"/>
              <a:t>do</a:t>
            </a:r>
            <a:r>
              <a:rPr spc="-140" dirty="0"/>
              <a:t> </a:t>
            </a:r>
            <a:r>
              <a:rPr dirty="0"/>
              <a:t>we</a:t>
            </a:r>
            <a:r>
              <a:rPr spc="-85" dirty="0"/>
              <a:t> </a:t>
            </a:r>
            <a:r>
              <a:rPr spc="70" dirty="0"/>
              <a:t>express</a:t>
            </a:r>
            <a:r>
              <a:rPr spc="-125" dirty="0"/>
              <a:t> </a:t>
            </a:r>
            <a:r>
              <a:rPr spc="80" dirty="0"/>
              <a:t>visuals</a:t>
            </a:r>
            <a:r>
              <a:rPr spc="-125" dirty="0"/>
              <a:t> </a:t>
            </a:r>
            <a:r>
              <a:rPr spc="80" dirty="0"/>
              <a:t>in</a:t>
            </a:r>
            <a:r>
              <a:rPr spc="-145" dirty="0"/>
              <a:t> </a:t>
            </a:r>
            <a:r>
              <a:rPr spc="80" dirty="0"/>
              <a:t>words?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200480"/>
            <a:ext cx="85748" cy="8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915052"/>
            <a:ext cx="85748" cy="857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4786" y="1025810"/>
            <a:ext cx="5420360" cy="1436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dirty="0">
                <a:solidFill>
                  <a:srgbClr val="E3436B"/>
                </a:solidFill>
                <a:latin typeface="Trebuchet MS"/>
                <a:cs typeface="Trebuchet MS"/>
              </a:rPr>
              <a:t>Data</a:t>
            </a:r>
            <a:r>
              <a:rPr sz="2250" spc="-1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to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be</a:t>
            </a:r>
            <a:r>
              <a:rPr sz="2250" spc="-10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visualized</a:t>
            </a:r>
            <a:endParaRPr sz="22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2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en-US" sz="2250" spc="-20" dirty="0">
                <a:solidFill>
                  <a:srgbClr val="DD1144"/>
                </a:solidFill>
                <a:latin typeface="Trebuchet MS"/>
                <a:cs typeface="Trebuchet MS"/>
              </a:rPr>
              <a:t>Aes</a:t>
            </a:r>
            <a:r>
              <a:rPr lang="en-US" sz="2250" spc="-20" dirty="0">
                <a:solidFill>
                  <a:srgbClr val="22373A"/>
                </a:solidFill>
                <a:latin typeface="Trebuchet MS"/>
                <a:cs typeface="Trebuchet MS"/>
              </a:rPr>
              <a:t>thetic</a:t>
            </a:r>
            <a:r>
              <a:rPr lang="en-US" sz="2250" spc="-12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lang="en-US" sz="2250" spc="60" dirty="0">
                <a:solidFill>
                  <a:srgbClr val="22373A"/>
                </a:solidFill>
                <a:latin typeface="Trebuchet MS"/>
                <a:cs typeface="Trebuchet MS"/>
              </a:rPr>
              <a:t>mappings</a:t>
            </a:r>
            <a:r>
              <a:rPr lang="en-US" sz="2250" spc="-12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lang="en-US" sz="2250" spc="-10" dirty="0">
                <a:latin typeface="Trebuchet MS"/>
                <a:cs typeface="Trebuchet MS"/>
              </a:rPr>
              <a:t>from</a:t>
            </a:r>
            <a:r>
              <a:rPr lang="en-US" sz="2250" spc="-70" dirty="0">
                <a:latin typeface="Trebuchet MS"/>
                <a:cs typeface="Trebuchet MS"/>
              </a:rPr>
              <a:t> </a:t>
            </a:r>
            <a:r>
              <a:rPr lang="en-US" sz="2250" dirty="0">
                <a:latin typeface="Trebuchet MS"/>
                <a:cs typeface="Trebuchet MS"/>
              </a:rPr>
              <a:t>data</a:t>
            </a:r>
            <a:r>
              <a:rPr lang="en-US" sz="2250" spc="-105" dirty="0">
                <a:latin typeface="Trebuchet MS"/>
                <a:cs typeface="Trebuchet MS"/>
              </a:rPr>
              <a:t> </a:t>
            </a:r>
            <a:r>
              <a:rPr lang="en-US" sz="2250" spc="-10" dirty="0">
                <a:latin typeface="Trebuchet MS"/>
                <a:cs typeface="Trebuchet MS"/>
              </a:rPr>
              <a:t>to</a:t>
            </a:r>
            <a:r>
              <a:rPr lang="en-US" sz="2250" spc="-110" dirty="0">
                <a:latin typeface="Trebuchet MS"/>
                <a:cs typeface="Trebuchet MS"/>
              </a:rPr>
              <a:t> </a:t>
            </a:r>
            <a:r>
              <a:rPr lang="en-US" sz="2250" dirty="0">
                <a:latin typeface="Trebuchet MS"/>
                <a:cs typeface="Trebuchet MS"/>
              </a:rPr>
              <a:t>visual</a:t>
            </a:r>
            <a:r>
              <a:rPr lang="en-US" sz="2250" spc="-70" dirty="0">
                <a:latin typeface="Trebuchet MS"/>
                <a:cs typeface="Trebuchet MS"/>
              </a:rPr>
              <a:t> </a:t>
            </a:r>
            <a:r>
              <a:rPr lang="en-US" sz="2250" spc="-10" dirty="0">
                <a:latin typeface="Trebuchet MS"/>
                <a:cs typeface="Trebuchet MS"/>
              </a:rPr>
              <a:t>component</a:t>
            </a:r>
            <a:endParaRPr lang="en-US" sz="22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How</a:t>
            </a:r>
            <a:r>
              <a:rPr spc="-140" dirty="0"/>
              <a:t> </a:t>
            </a:r>
            <a:r>
              <a:rPr spc="155" dirty="0"/>
              <a:t>do</a:t>
            </a:r>
            <a:r>
              <a:rPr spc="-140" dirty="0"/>
              <a:t> </a:t>
            </a:r>
            <a:r>
              <a:rPr dirty="0"/>
              <a:t>we</a:t>
            </a:r>
            <a:r>
              <a:rPr spc="-85" dirty="0"/>
              <a:t> </a:t>
            </a:r>
            <a:r>
              <a:rPr spc="70" dirty="0"/>
              <a:t>express</a:t>
            </a:r>
            <a:r>
              <a:rPr spc="-125" dirty="0"/>
              <a:t> </a:t>
            </a:r>
            <a:r>
              <a:rPr spc="80" dirty="0"/>
              <a:t>visuals</a:t>
            </a:r>
            <a:r>
              <a:rPr spc="-125" dirty="0"/>
              <a:t> </a:t>
            </a:r>
            <a:r>
              <a:rPr spc="80" dirty="0"/>
              <a:t>in</a:t>
            </a:r>
            <a:r>
              <a:rPr spc="-145" dirty="0"/>
              <a:t> </a:t>
            </a:r>
            <a:r>
              <a:rPr spc="80" dirty="0"/>
              <a:t>words?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200480"/>
            <a:ext cx="85748" cy="8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915052"/>
            <a:ext cx="85748" cy="85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2933700"/>
            <a:ext cx="85748" cy="857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4786" y="1025810"/>
            <a:ext cx="655447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dirty="0">
                <a:solidFill>
                  <a:srgbClr val="22373A"/>
                </a:solidFill>
                <a:latin typeface="Trebuchet MS"/>
                <a:cs typeface="Trebuchet MS"/>
              </a:rPr>
              <a:t>Data</a:t>
            </a:r>
            <a:r>
              <a:rPr sz="2250" spc="-1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to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be</a:t>
            </a:r>
            <a:r>
              <a:rPr sz="2250" spc="-10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visualized</a:t>
            </a:r>
            <a:endParaRPr sz="22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2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250" spc="-20" dirty="0">
                <a:solidFill>
                  <a:srgbClr val="DD1144"/>
                </a:solidFill>
                <a:latin typeface="Trebuchet MS"/>
                <a:cs typeface="Trebuchet MS"/>
              </a:rPr>
              <a:t>Aes</a:t>
            </a:r>
            <a:r>
              <a:rPr sz="2250" spc="-20" dirty="0">
                <a:solidFill>
                  <a:srgbClr val="22373A"/>
                </a:solidFill>
                <a:latin typeface="Trebuchet MS"/>
                <a:cs typeface="Trebuchet MS"/>
              </a:rPr>
              <a:t>thetic</a:t>
            </a:r>
            <a:r>
              <a:rPr sz="2250" spc="-12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60" dirty="0">
                <a:solidFill>
                  <a:srgbClr val="22373A"/>
                </a:solidFill>
                <a:latin typeface="Trebuchet MS"/>
                <a:cs typeface="Trebuchet MS"/>
              </a:rPr>
              <a:t>mappings</a:t>
            </a:r>
            <a:r>
              <a:rPr sz="2250" spc="-12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from</a:t>
            </a:r>
            <a:r>
              <a:rPr sz="2250" spc="-7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data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to</a:t>
            </a:r>
            <a:r>
              <a:rPr sz="2250" spc="-110" dirty="0">
                <a:latin typeface="Trebuchet MS"/>
                <a:cs typeface="Trebuchet MS"/>
              </a:rPr>
              <a:t> </a:t>
            </a:r>
            <a:r>
              <a:rPr lang="en-US" sz="2250" spc="-110" dirty="0">
                <a:latin typeface="Trebuchet MS"/>
                <a:cs typeface="Trebuchet MS"/>
              </a:rPr>
              <a:t>the </a:t>
            </a:r>
            <a:r>
              <a:rPr sz="2250" dirty="0">
                <a:latin typeface="Trebuchet MS"/>
                <a:cs typeface="Trebuchet MS"/>
              </a:rPr>
              <a:t>visual</a:t>
            </a:r>
            <a:r>
              <a:rPr sz="2250" spc="-7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component</a:t>
            </a:r>
            <a:endParaRPr lang="en-US" sz="225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2250" spc="-10" dirty="0">
              <a:latin typeface="Trebuchet MS"/>
              <a:cs typeface="Trebuchet MS"/>
            </a:endParaRPr>
          </a:p>
          <a:p>
            <a:pPr marL="12700"/>
            <a:r>
              <a:rPr lang="en-US" sz="2250" spc="-10" dirty="0">
                <a:solidFill>
                  <a:srgbClr val="DD1144"/>
                </a:solidFill>
                <a:latin typeface="Trebuchet MS"/>
                <a:cs typeface="Trebuchet MS"/>
              </a:rPr>
              <a:t>Geom</a:t>
            </a:r>
            <a:r>
              <a:rPr lang="en-US" sz="2250" spc="-10" dirty="0">
                <a:solidFill>
                  <a:srgbClr val="22373A"/>
                </a:solidFill>
                <a:latin typeface="Trebuchet MS"/>
                <a:cs typeface="Trebuchet MS"/>
              </a:rPr>
              <a:t>etric</a:t>
            </a:r>
            <a:r>
              <a:rPr lang="en-US" sz="2250" spc="-14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lang="en-US" sz="2250" dirty="0">
                <a:solidFill>
                  <a:srgbClr val="22373A"/>
                </a:solidFill>
                <a:latin typeface="Trebuchet MS"/>
                <a:cs typeface="Trebuchet MS"/>
              </a:rPr>
              <a:t>objects</a:t>
            </a:r>
            <a:r>
              <a:rPr lang="en-US" sz="2250" spc="-1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lang="en-US" sz="2250" spc="-25" dirty="0">
                <a:latin typeface="Trebuchet MS"/>
                <a:cs typeface="Trebuchet MS"/>
              </a:rPr>
              <a:t>that</a:t>
            </a:r>
            <a:r>
              <a:rPr lang="en-US" sz="2250" spc="-125" dirty="0">
                <a:latin typeface="Trebuchet MS"/>
                <a:cs typeface="Trebuchet MS"/>
              </a:rPr>
              <a:t> </a:t>
            </a:r>
            <a:r>
              <a:rPr lang="en-US" sz="2250" dirty="0">
                <a:latin typeface="Trebuchet MS"/>
                <a:cs typeface="Trebuchet MS"/>
              </a:rPr>
              <a:t>appear</a:t>
            </a:r>
            <a:r>
              <a:rPr lang="en-US" sz="2250" spc="-125" dirty="0">
                <a:latin typeface="Trebuchet MS"/>
                <a:cs typeface="Trebuchet MS"/>
              </a:rPr>
              <a:t> </a:t>
            </a:r>
            <a:r>
              <a:rPr lang="en-US" sz="2250" spc="65" dirty="0">
                <a:latin typeface="Trebuchet MS"/>
                <a:cs typeface="Trebuchet MS"/>
              </a:rPr>
              <a:t>on</a:t>
            </a:r>
            <a:r>
              <a:rPr lang="en-US" sz="2250" spc="-80" dirty="0">
                <a:latin typeface="Trebuchet MS"/>
                <a:cs typeface="Trebuchet MS"/>
              </a:rPr>
              <a:t> </a:t>
            </a:r>
            <a:r>
              <a:rPr lang="en-US" sz="2250" dirty="0">
                <a:latin typeface="Trebuchet MS"/>
                <a:cs typeface="Trebuchet MS"/>
              </a:rPr>
              <a:t>the</a:t>
            </a:r>
            <a:r>
              <a:rPr lang="en-US" sz="2250" spc="-114" dirty="0">
                <a:latin typeface="Trebuchet MS"/>
                <a:cs typeface="Trebuchet MS"/>
              </a:rPr>
              <a:t> </a:t>
            </a:r>
            <a:r>
              <a:rPr lang="en-US" sz="2250" spc="-20" dirty="0">
                <a:latin typeface="Trebuchet MS"/>
                <a:cs typeface="Trebuchet MS"/>
              </a:rPr>
              <a:t>plot</a:t>
            </a:r>
            <a:endParaRPr lang="en-US" sz="22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sz="225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How</a:t>
            </a:r>
            <a:r>
              <a:rPr spc="-140" dirty="0"/>
              <a:t> </a:t>
            </a:r>
            <a:r>
              <a:rPr spc="155" dirty="0"/>
              <a:t>do</a:t>
            </a:r>
            <a:r>
              <a:rPr spc="-140" dirty="0"/>
              <a:t> </a:t>
            </a:r>
            <a:r>
              <a:rPr dirty="0"/>
              <a:t>we</a:t>
            </a:r>
            <a:r>
              <a:rPr spc="-85" dirty="0"/>
              <a:t> </a:t>
            </a:r>
            <a:r>
              <a:rPr spc="70" dirty="0"/>
              <a:t>express</a:t>
            </a:r>
            <a:r>
              <a:rPr spc="-125" dirty="0"/>
              <a:t> </a:t>
            </a:r>
            <a:r>
              <a:rPr spc="80" dirty="0"/>
              <a:t>visuals</a:t>
            </a:r>
            <a:r>
              <a:rPr spc="-125" dirty="0"/>
              <a:t> </a:t>
            </a:r>
            <a:r>
              <a:rPr spc="80" dirty="0"/>
              <a:t>in</a:t>
            </a:r>
            <a:r>
              <a:rPr spc="-145" dirty="0"/>
              <a:t> </a:t>
            </a:r>
            <a:r>
              <a:rPr spc="80" dirty="0"/>
              <a:t>words?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200480"/>
            <a:ext cx="85748" cy="8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915052"/>
            <a:ext cx="85748" cy="85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2629624"/>
            <a:ext cx="85748" cy="85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3344196"/>
            <a:ext cx="85748" cy="8574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2373A"/>
                </a:solidFill>
              </a:rPr>
              <a:t>Data</a:t>
            </a:r>
            <a:r>
              <a:rPr spc="-130" dirty="0">
                <a:solidFill>
                  <a:srgbClr val="22373A"/>
                </a:solidFill>
              </a:rPr>
              <a:t> </a:t>
            </a:r>
            <a:r>
              <a:rPr spc="-10" dirty="0"/>
              <a:t>to</a:t>
            </a:r>
            <a:r>
              <a:rPr spc="-105" dirty="0"/>
              <a:t> </a:t>
            </a:r>
            <a:r>
              <a:rPr dirty="0"/>
              <a:t>be</a:t>
            </a:r>
            <a:r>
              <a:rPr spc="-100" dirty="0"/>
              <a:t> </a:t>
            </a:r>
            <a:r>
              <a:rPr spc="-10" dirty="0"/>
              <a:t>visualized</a:t>
            </a:r>
          </a:p>
          <a:p>
            <a:pPr marL="12700" marR="5080">
              <a:lnSpc>
                <a:spcPct val="208400"/>
              </a:lnSpc>
            </a:pPr>
            <a:r>
              <a:rPr spc="-10" dirty="0">
                <a:solidFill>
                  <a:srgbClr val="DD1144"/>
                </a:solidFill>
              </a:rPr>
              <a:t>Geom</a:t>
            </a:r>
            <a:r>
              <a:rPr spc="-10" dirty="0">
                <a:solidFill>
                  <a:srgbClr val="22373A"/>
                </a:solidFill>
              </a:rPr>
              <a:t>etric</a:t>
            </a:r>
            <a:r>
              <a:rPr spc="-140" dirty="0">
                <a:solidFill>
                  <a:srgbClr val="22373A"/>
                </a:solidFill>
              </a:rPr>
              <a:t> </a:t>
            </a:r>
            <a:r>
              <a:rPr dirty="0">
                <a:solidFill>
                  <a:srgbClr val="22373A"/>
                </a:solidFill>
              </a:rPr>
              <a:t>objects</a:t>
            </a:r>
            <a:r>
              <a:rPr spc="-130" dirty="0">
                <a:solidFill>
                  <a:srgbClr val="22373A"/>
                </a:solidFill>
              </a:rPr>
              <a:t> </a:t>
            </a:r>
            <a:r>
              <a:rPr spc="-25" dirty="0"/>
              <a:t>that</a:t>
            </a:r>
            <a:r>
              <a:rPr spc="-125" dirty="0"/>
              <a:t> </a:t>
            </a:r>
            <a:r>
              <a:rPr dirty="0"/>
              <a:t>appear</a:t>
            </a:r>
            <a:r>
              <a:rPr spc="-125" dirty="0"/>
              <a:t> </a:t>
            </a:r>
            <a:r>
              <a:rPr spc="65" dirty="0"/>
              <a:t>on</a:t>
            </a:r>
            <a:r>
              <a:rPr spc="-80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spc="-20" dirty="0"/>
              <a:t>plot</a:t>
            </a:r>
            <a:r>
              <a:rPr spc="560" dirty="0"/>
              <a:t> </a:t>
            </a:r>
            <a:r>
              <a:rPr spc="-20" dirty="0">
                <a:solidFill>
                  <a:srgbClr val="DD1144"/>
                </a:solidFill>
              </a:rPr>
              <a:t>Aes</a:t>
            </a:r>
            <a:r>
              <a:rPr spc="-20" dirty="0">
                <a:solidFill>
                  <a:srgbClr val="22373A"/>
                </a:solidFill>
              </a:rPr>
              <a:t>thetic</a:t>
            </a:r>
            <a:r>
              <a:rPr spc="-125" dirty="0">
                <a:solidFill>
                  <a:srgbClr val="22373A"/>
                </a:solidFill>
              </a:rPr>
              <a:t> </a:t>
            </a:r>
            <a:r>
              <a:rPr spc="60" dirty="0">
                <a:solidFill>
                  <a:srgbClr val="22373A"/>
                </a:solidFill>
              </a:rPr>
              <a:t>mappings</a:t>
            </a:r>
            <a:r>
              <a:rPr spc="-120" dirty="0">
                <a:solidFill>
                  <a:srgbClr val="22373A"/>
                </a:solidFill>
              </a:rPr>
              <a:t> </a:t>
            </a:r>
            <a:r>
              <a:rPr spc="-10" dirty="0"/>
              <a:t>from</a:t>
            </a:r>
            <a:r>
              <a:rPr spc="-70" dirty="0"/>
              <a:t> </a:t>
            </a:r>
            <a:r>
              <a:rPr dirty="0"/>
              <a:t>data</a:t>
            </a:r>
            <a:r>
              <a:rPr spc="-105" dirty="0"/>
              <a:t> </a:t>
            </a:r>
            <a:r>
              <a:rPr spc="-10" dirty="0"/>
              <a:t>to</a:t>
            </a:r>
            <a:r>
              <a:rPr spc="-110" dirty="0"/>
              <a:t> </a:t>
            </a:r>
            <a:r>
              <a:rPr dirty="0"/>
              <a:t>visual</a:t>
            </a:r>
            <a:r>
              <a:rPr spc="-70" dirty="0"/>
              <a:t> </a:t>
            </a:r>
            <a:r>
              <a:rPr spc="-10" dirty="0"/>
              <a:t>component </a:t>
            </a:r>
            <a:r>
              <a:rPr dirty="0">
                <a:solidFill>
                  <a:srgbClr val="DD1144"/>
                </a:solidFill>
              </a:rPr>
              <a:t>Stat</a:t>
            </a:r>
            <a:r>
              <a:rPr dirty="0">
                <a:solidFill>
                  <a:srgbClr val="22373A"/>
                </a:solidFill>
              </a:rPr>
              <a:t>istics</a:t>
            </a:r>
            <a:r>
              <a:rPr spc="-120" dirty="0">
                <a:solidFill>
                  <a:srgbClr val="22373A"/>
                </a:solidFill>
              </a:rPr>
              <a:t> </a:t>
            </a:r>
            <a:r>
              <a:rPr dirty="0"/>
              <a:t>transform</a:t>
            </a:r>
            <a:r>
              <a:rPr spc="-70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65" dirty="0"/>
              <a:t>on</a:t>
            </a:r>
            <a:r>
              <a:rPr spc="-6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-50" dirty="0"/>
              <a:t>way</a:t>
            </a:r>
            <a:r>
              <a:rPr spc="-105" dirty="0"/>
              <a:t> </a:t>
            </a:r>
            <a:r>
              <a:rPr spc="-10" dirty="0"/>
              <a:t>to</a:t>
            </a:r>
            <a:r>
              <a:rPr spc="-105" dirty="0"/>
              <a:t> </a:t>
            </a:r>
            <a:r>
              <a:rPr spc="-10" dirty="0"/>
              <a:t>visualization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How</a:t>
            </a:r>
            <a:r>
              <a:rPr spc="-140" dirty="0"/>
              <a:t> </a:t>
            </a:r>
            <a:r>
              <a:rPr spc="155" dirty="0"/>
              <a:t>do</a:t>
            </a:r>
            <a:r>
              <a:rPr spc="-140" dirty="0"/>
              <a:t> </a:t>
            </a:r>
            <a:r>
              <a:rPr dirty="0"/>
              <a:t>we</a:t>
            </a:r>
            <a:r>
              <a:rPr spc="-85" dirty="0"/>
              <a:t> </a:t>
            </a:r>
            <a:r>
              <a:rPr spc="70" dirty="0"/>
              <a:t>express</a:t>
            </a:r>
            <a:r>
              <a:rPr spc="-125" dirty="0"/>
              <a:t> </a:t>
            </a:r>
            <a:r>
              <a:rPr spc="80" dirty="0"/>
              <a:t>visuals</a:t>
            </a:r>
            <a:r>
              <a:rPr spc="-125" dirty="0"/>
              <a:t> </a:t>
            </a:r>
            <a:r>
              <a:rPr spc="80" dirty="0"/>
              <a:t>in</a:t>
            </a:r>
            <a:r>
              <a:rPr spc="-145" dirty="0"/>
              <a:t> </a:t>
            </a:r>
            <a:r>
              <a:rPr spc="80" dirty="0"/>
              <a:t>words?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200480"/>
            <a:ext cx="85748" cy="8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915052"/>
            <a:ext cx="85748" cy="85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2629624"/>
            <a:ext cx="85748" cy="85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3344196"/>
            <a:ext cx="85748" cy="85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4058768"/>
            <a:ext cx="85748" cy="8574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2373A"/>
                </a:solidFill>
              </a:rPr>
              <a:t>Data</a:t>
            </a:r>
            <a:r>
              <a:rPr spc="-130" dirty="0">
                <a:solidFill>
                  <a:srgbClr val="22373A"/>
                </a:solidFill>
              </a:rPr>
              <a:t> </a:t>
            </a:r>
            <a:r>
              <a:rPr spc="-10" dirty="0"/>
              <a:t>to</a:t>
            </a:r>
            <a:r>
              <a:rPr spc="-105" dirty="0"/>
              <a:t> </a:t>
            </a:r>
            <a:r>
              <a:rPr dirty="0"/>
              <a:t>be</a:t>
            </a:r>
            <a:r>
              <a:rPr spc="-100" dirty="0"/>
              <a:t> </a:t>
            </a:r>
            <a:r>
              <a:rPr spc="-10" dirty="0"/>
              <a:t>visualized</a:t>
            </a:r>
          </a:p>
          <a:p>
            <a:pPr marL="12700" marR="5080">
              <a:lnSpc>
                <a:spcPct val="208400"/>
              </a:lnSpc>
            </a:pPr>
            <a:r>
              <a:rPr spc="-10" dirty="0">
                <a:solidFill>
                  <a:srgbClr val="DD1144"/>
                </a:solidFill>
              </a:rPr>
              <a:t>Geom</a:t>
            </a:r>
            <a:r>
              <a:rPr spc="-10" dirty="0">
                <a:solidFill>
                  <a:srgbClr val="22373A"/>
                </a:solidFill>
              </a:rPr>
              <a:t>etric</a:t>
            </a:r>
            <a:r>
              <a:rPr spc="-140" dirty="0">
                <a:solidFill>
                  <a:srgbClr val="22373A"/>
                </a:solidFill>
              </a:rPr>
              <a:t> </a:t>
            </a:r>
            <a:r>
              <a:rPr dirty="0">
                <a:solidFill>
                  <a:srgbClr val="22373A"/>
                </a:solidFill>
              </a:rPr>
              <a:t>objects</a:t>
            </a:r>
            <a:r>
              <a:rPr spc="-130" dirty="0">
                <a:solidFill>
                  <a:srgbClr val="22373A"/>
                </a:solidFill>
              </a:rPr>
              <a:t> </a:t>
            </a:r>
            <a:r>
              <a:rPr spc="-25" dirty="0"/>
              <a:t>that</a:t>
            </a:r>
            <a:r>
              <a:rPr spc="-125" dirty="0"/>
              <a:t> </a:t>
            </a:r>
            <a:r>
              <a:rPr dirty="0"/>
              <a:t>appear</a:t>
            </a:r>
            <a:r>
              <a:rPr spc="-125" dirty="0"/>
              <a:t> </a:t>
            </a:r>
            <a:r>
              <a:rPr spc="65" dirty="0"/>
              <a:t>on</a:t>
            </a:r>
            <a:r>
              <a:rPr spc="-80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spc="-20" dirty="0"/>
              <a:t>plot</a:t>
            </a:r>
            <a:r>
              <a:rPr spc="560" dirty="0"/>
              <a:t> </a:t>
            </a:r>
            <a:r>
              <a:rPr spc="-20" dirty="0">
                <a:solidFill>
                  <a:srgbClr val="DD1144"/>
                </a:solidFill>
              </a:rPr>
              <a:t>Aes</a:t>
            </a:r>
            <a:r>
              <a:rPr spc="-20" dirty="0">
                <a:solidFill>
                  <a:srgbClr val="22373A"/>
                </a:solidFill>
              </a:rPr>
              <a:t>thetic</a:t>
            </a:r>
            <a:r>
              <a:rPr spc="-125" dirty="0">
                <a:solidFill>
                  <a:srgbClr val="22373A"/>
                </a:solidFill>
              </a:rPr>
              <a:t> </a:t>
            </a:r>
            <a:r>
              <a:rPr spc="60" dirty="0">
                <a:solidFill>
                  <a:srgbClr val="22373A"/>
                </a:solidFill>
              </a:rPr>
              <a:t>mappings</a:t>
            </a:r>
            <a:r>
              <a:rPr spc="-120" dirty="0">
                <a:solidFill>
                  <a:srgbClr val="22373A"/>
                </a:solidFill>
              </a:rPr>
              <a:t> </a:t>
            </a:r>
            <a:r>
              <a:rPr spc="-10" dirty="0"/>
              <a:t>from</a:t>
            </a:r>
            <a:r>
              <a:rPr spc="-70" dirty="0"/>
              <a:t> </a:t>
            </a:r>
            <a:r>
              <a:rPr dirty="0"/>
              <a:t>data</a:t>
            </a:r>
            <a:r>
              <a:rPr spc="-105" dirty="0"/>
              <a:t> </a:t>
            </a:r>
            <a:r>
              <a:rPr spc="-10" dirty="0"/>
              <a:t>to</a:t>
            </a:r>
            <a:r>
              <a:rPr spc="-110" dirty="0"/>
              <a:t> </a:t>
            </a:r>
            <a:r>
              <a:rPr dirty="0"/>
              <a:t>visual</a:t>
            </a:r>
            <a:r>
              <a:rPr spc="-70" dirty="0"/>
              <a:t> </a:t>
            </a:r>
            <a:r>
              <a:rPr spc="-10" dirty="0"/>
              <a:t>component </a:t>
            </a:r>
            <a:r>
              <a:rPr dirty="0">
                <a:solidFill>
                  <a:srgbClr val="DD1144"/>
                </a:solidFill>
              </a:rPr>
              <a:t>Stat</a:t>
            </a:r>
            <a:r>
              <a:rPr dirty="0">
                <a:solidFill>
                  <a:srgbClr val="22373A"/>
                </a:solidFill>
              </a:rPr>
              <a:t>istics</a:t>
            </a:r>
            <a:r>
              <a:rPr spc="-120" dirty="0">
                <a:solidFill>
                  <a:srgbClr val="22373A"/>
                </a:solidFill>
              </a:rPr>
              <a:t> </a:t>
            </a:r>
            <a:r>
              <a:rPr dirty="0"/>
              <a:t>transform</a:t>
            </a:r>
            <a:r>
              <a:rPr spc="-70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65" dirty="0"/>
              <a:t>on</a:t>
            </a:r>
            <a:r>
              <a:rPr spc="-6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-50" dirty="0"/>
              <a:t>way</a:t>
            </a:r>
            <a:r>
              <a:rPr spc="-105" dirty="0"/>
              <a:t> </a:t>
            </a:r>
            <a:r>
              <a:rPr spc="-10" dirty="0"/>
              <a:t>to</a:t>
            </a:r>
            <a:r>
              <a:rPr spc="-105" dirty="0"/>
              <a:t> </a:t>
            </a:r>
            <a:r>
              <a:rPr spc="-10" dirty="0"/>
              <a:t>visualization </a:t>
            </a:r>
            <a:r>
              <a:rPr dirty="0">
                <a:solidFill>
                  <a:srgbClr val="DD1144"/>
                </a:solidFill>
              </a:rPr>
              <a:t>Coord</a:t>
            </a:r>
            <a:r>
              <a:rPr dirty="0">
                <a:solidFill>
                  <a:srgbClr val="22373A"/>
                </a:solidFill>
              </a:rPr>
              <a:t>inates</a:t>
            </a:r>
            <a:r>
              <a:rPr spc="-110" dirty="0">
                <a:solidFill>
                  <a:srgbClr val="22373A"/>
                </a:solidFill>
              </a:rPr>
              <a:t> </a:t>
            </a:r>
            <a:r>
              <a:rPr spc="-25" dirty="0"/>
              <a:t>organize</a:t>
            </a:r>
            <a:r>
              <a:rPr spc="-100" dirty="0"/>
              <a:t> </a:t>
            </a:r>
            <a:r>
              <a:rPr dirty="0"/>
              <a:t>location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5" dirty="0"/>
              <a:t>geometric</a:t>
            </a:r>
            <a:r>
              <a:rPr spc="-9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How</a:t>
            </a:r>
            <a:r>
              <a:rPr spc="-140" dirty="0"/>
              <a:t> </a:t>
            </a:r>
            <a:r>
              <a:rPr spc="155" dirty="0"/>
              <a:t>do</a:t>
            </a:r>
            <a:r>
              <a:rPr spc="-140" dirty="0"/>
              <a:t> </a:t>
            </a:r>
            <a:r>
              <a:rPr dirty="0"/>
              <a:t>we</a:t>
            </a:r>
            <a:r>
              <a:rPr spc="-85" dirty="0"/>
              <a:t> </a:t>
            </a:r>
            <a:r>
              <a:rPr spc="70" dirty="0"/>
              <a:t>express</a:t>
            </a:r>
            <a:r>
              <a:rPr spc="-125" dirty="0"/>
              <a:t> </a:t>
            </a:r>
            <a:r>
              <a:rPr spc="80" dirty="0"/>
              <a:t>visuals</a:t>
            </a:r>
            <a:r>
              <a:rPr spc="-125" dirty="0"/>
              <a:t> </a:t>
            </a:r>
            <a:r>
              <a:rPr spc="80" dirty="0"/>
              <a:t>in</a:t>
            </a:r>
            <a:r>
              <a:rPr spc="-145" dirty="0"/>
              <a:t> </a:t>
            </a:r>
            <a:r>
              <a:rPr spc="80" dirty="0"/>
              <a:t>words?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200480"/>
            <a:ext cx="85748" cy="8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915052"/>
            <a:ext cx="85748" cy="85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2629624"/>
            <a:ext cx="85748" cy="85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3344196"/>
            <a:ext cx="85748" cy="85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4058768"/>
            <a:ext cx="85748" cy="85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4773340"/>
            <a:ext cx="85748" cy="8574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2373A"/>
                </a:solidFill>
              </a:rPr>
              <a:t>Data</a:t>
            </a:r>
            <a:r>
              <a:rPr spc="-130" dirty="0">
                <a:solidFill>
                  <a:srgbClr val="22373A"/>
                </a:solidFill>
              </a:rPr>
              <a:t> </a:t>
            </a:r>
            <a:r>
              <a:rPr spc="-10" dirty="0"/>
              <a:t>to</a:t>
            </a:r>
            <a:r>
              <a:rPr spc="-105" dirty="0"/>
              <a:t> </a:t>
            </a:r>
            <a:r>
              <a:rPr dirty="0"/>
              <a:t>be</a:t>
            </a:r>
            <a:r>
              <a:rPr spc="-100" dirty="0"/>
              <a:t> </a:t>
            </a:r>
            <a:r>
              <a:rPr spc="-10" dirty="0"/>
              <a:t>visualized</a:t>
            </a:r>
          </a:p>
          <a:p>
            <a:pPr marL="12700" marR="5080">
              <a:lnSpc>
                <a:spcPct val="208400"/>
              </a:lnSpc>
            </a:pPr>
            <a:r>
              <a:rPr spc="-10" dirty="0">
                <a:solidFill>
                  <a:srgbClr val="DD1144"/>
                </a:solidFill>
              </a:rPr>
              <a:t>Geom</a:t>
            </a:r>
            <a:r>
              <a:rPr spc="-10" dirty="0">
                <a:solidFill>
                  <a:srgbClr val="22373A"/>
                </a:solidFill>
              </a:rPr>
              <a:t>etric</a:t>
            </a:r>
            <a:r>
              <a:rPr spc="-140" dirty="0">
                <a:solidFill>
                  <a:srgbClr val="22373A"/>
                </a:solidFill>
              </a:rPr>
              <a:t> </a:t>
            </a:r>
            <a:r>
              <a:rPr dirty="0">
                <a:solidFill>
                  <a:srgbClr val="22373A"/>
                </a:solidFill>
              </a:rPr>
              <a:t>objects</a:t>
            </a:r>
            <a:r>
              <a:rPr spc="-130" dirty="0">
                <a:solidFill>
                  <a:srgbClr val="22373A"/>
                </a:solidFill>
              </a:rPr>
              <a:t> </a:t>
            </a:r>
            <a:r>
              <a:rPr spc="-25" dirty="0"/>
              <a:t>that</a:t>
            </a:r>
            <a:r>
              <a:rPr spc="-125" dirty="0"/>
              <a:t> </a:t>
            </a:r>
            <a:r>
              <a:rPr dirty="0"/>
              <a:t>appear</a:t>
            </a:r>
            <a:r>
              <a:rPr spc="-125" dirty="0"/>
              <a:t> </a:t>
            </a:r>
            <a:r>
              <a:rPr spc="65" dirty="0"/>
              <a:t>on</a:t>
            </a:r>
            <a:r>
              <a:rPr spc="-80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spc="-20" dirty="0"/>
              <a:t>plot</a:t>
            </a:r>
            <a:r>
              <a:rPr spc="560" dirty="0"/>
              <a:t> </a:t>
            </a:r>
            <a:r>
              <a:rPr spc="-20" dirty="0">
                <a:solidFill>
                  <a:srgbClr val="DD1144"/>
                </a:solidFill>
              </a:rPr>
              <a:t>Aes</a:t>
            </a:r>
            <a:r>
              <a:rPr spc="-20" dirty="0">
                <a:solidFill>
                  <a:srgbClr val="22373A"/>
                </a:solidFill>
              </a:rPr>
              <a:t>thetic</a:t>
            </a:r>
            <a:r>
              <a:rPr spc="-125" dirty="0">
                <a:solidFill>
                  <a:srgbClr val="22373A"/>
                </a:solidFill>
              </a:rPr>
              <a:t> </a:t>
            </a:r>
            <a:r>
              <a:rPr spc="60" dirty="0">
                <a:solidFill>
                  <a:srgbClr val="22373A"/>
                </a:solidFill>
              </a:rPr>
              <a:t>mappings</a:t>
            </a:r>
            <a:r>
              <a:rPr spc="-120" dirty="0">
                <a:solidFill>
                  <a:srgbClr val="22373A"/>
                </a:solidFill>
              </a:rPr>
              <a:t> </a:t>
            </a:r>
            <a:r>
              <a:rPr spc="-10" dirty="0"/>
              <a:t>from</a:t>
            </a:r>
            <a:r>
              <a:rPr spc="-70" dirty="0"/>
              <a:t> </a:t>
            </a:r>
            <a:r>
              <a:rPr dirty="0"/>
              <a:t>data</a:t>
            </a:r>
            <a:r>
              <a:rPr spc="-105" dirty="0"/>
              <a:t> </a:t>
            </a:r>
            <a:r>
              <a:rPr spc="-10" dirty="0"/>
              <a:t>to</a:t>
            </a:r>
            <a:r>
              <a:rPr spc="-110" dirty="0"/>
              <a:t> </a:t>
            </a:r>
            <a:r>
              <a:rPr dirty="0"/>
              <a:t>visual</a:t>
            </a:r>
            <a:r>
              <a:rPr spc="-70" dirty="0"/>
              <a:t> </a:t>
            </a:r>
            <a:r>
              <a:rPr spc="-10" dirty="0"/>
              <a:t>component </a:t>
            </a:r>
            <a:r>
              <a:rPr dirty="0">
                <a:solidFill>
                  <a:srgbClr val="DD1144"/>
                </a:solidFill>
              </a:rPr>
              <a:t>Stat</a:t>
            </a:r>
            <a:r>
              <a:rPr dirty="0">
                <a:solidFill>
                  <a:srgbClr val="22373A"/>
                </a:solidFill>
              </a:rPr>
              <a:t>istics</a:t>
            </a:r>
            <a:r>
              <a:rPr spc="-120" dirty="0">
                <a:solidFill>
                  <a:srgbClr val="22373A"/>
                </a:solidFill>
              </a:rPr>
              <a:t> </a:t>
            </a:r>
            <a:r>
              <a:rPr dirty="0"/>
              <a:t>transform</a:t>
            </a:r>
            <a:r>
              <a:rPr spc="-70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65" dirty="0"/>
              <a:t>on</a:t>
            </a:r>
            <a:r>
              <a:rPr spc="-6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-50" dirty="0"/>
              <a:t>way</a:t>
            </a:r>
            <a:r>
              <a:rPr spc="-105" dirty="0"/>
              <a:t> </a:t>
            </a:r>
            <a:r>
              <a:rPr spc="-10" dirty="0"/>
              <a:t>to</a:t>
            </a:r>
            <a:r>
              <a:rPr spc="-105" dirty="0"/>
              <a:t> </a:t>
            </a:r>
            <a:r>
              <a:rPr spc="-10" dirty="0"/>
              <a:t>visualization </a:t>
            </a:r>
            <a:r>
              <a:rPr dirty="0">
                <a:solidFill>
                  <a:srgbClr val="DD1144"/>
                </a:solidFill>
              </a:rPr>
              <a:t>Coord</a:t>
            </a:r>
            <a:r>
              <a:rPr dirty="0">
                <a:solidFill>
                  <a:srgbClr val="22373A"/>
                </a:solidFill>
              </a:rPr>
              <a:t>inates</a:t>
            </a:r>
            <a:r>
              <a:rPr spc="-110" dirty="0">
                <a:solidFill>
                  <a:srgbClr val="22373A"/>
                </a:solidFill>
              </a:rPr>
              <a:t> </a:t>
            </a:r>
            <a:r>
              <a:rPr spc="-25" dirty="0"/>
              <a:t>organize</a:t>
            </a:r>
            <a:r>
              <a:rPr spc="-100" dirty="0"/>
              <a:t> </a:t>
            </a:r>
            <a:r>
              <a:rPr dirty="0"/>
              <a:t>location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5" dirty="0"/>
              <a:t>geometric</a:t>
            </a:r>
            <a:r>
              <a:rPr spc="-95" dirty="0"/>
              <a:t> </a:t>
            </a:r>
            <a:r>
              <a:rPr spc="-10" dirty="0"/>
              <a:t>objects </a:t>
            </a:r>
            <a:r>
              <a:rPr dirty="0">
                <a:solidFill>
                  <a:srgbClr val="DD1144"/>
                </a:solidFill>
              </a:rPr>
              <a:t>Scale</a:t>
            </a:r>
            <a:r>
              <a:rPr dirty="0">
                <a:solidFill>
                  <a:srgbClr val="22373A"/>
                </a:solidFill>
              </a:rPr>
              <a:t>s</a:t>
            </a:r>
            <a:r>
              <a:rPr spc="-95" dirty="0">
                <a:solidFill>
                  <a:srgbClr val="22373A"/>
                </a:solidFill>
              </a:rPr>
              <a:t> </a:t>
            </a:r>
            <a:r>
              <a:rPr dirty="0"/>
              <a:t>define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range</a:t>
            </a:r>
            <a:r>
              <a:rPr spc="-8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values</a:t>
            </a:r>
            <a:r>
              <a:rPr spc="-70" dirty="0"/>
              <a:t> </a:t>
            </a:r>
            <a:r>
              <a:rPr spc="-10" dirty="0"/>
              <a:t>for</a:t>
            </a:r>
            <a:r>
              <a:rPr spc="-90" dirty="0"/>
              <a:t> </a:t>
            </a:r>
            <a:r>
              <a:rPr spc="-10" dirty="0"/>
              <a:t>aesthetics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How</a:t>
            </a:r>
            <a:r>
              <a:rPr spc="-140" dirty="0"/>
              <a:t> </a:t>
            </a:r>
            <a:r>
              <a:rPr spc="155" dirty="0"/>
              <a:t>do</a:t>
            </a:r>
            <a:r>
              <a:rPr spc="-140" dirty="0"/>
              <a:t> </a:t>
            </a:r>
            <a:r>
              <a:rPr dirty="0"/>
              <a:t>we</a:t>
            </a:r>
            <a:r>
              <a:rPr spc="-85" dirty="0"/>
              <a:t> </a:t>
            </a:r>
            <a:r>
              <a:rPr spc="70" dirty="0"/>
              <a:t>express</a:t>
            </a:r>
            <a:r>
              <a:rPr spc="-125" dirty="0"/>
              <a:t> </a:t>
            </a:r>
            <a:r>
              <a:rPr spc="80" dirty="0"/>
              <a:t>visuals</a:t>
            </a:r>
            <a:r>
              <a:rPr spc="-125" dirty="0"/>
              <a:t> </a:t>
            </a:r>
            <a:r>
              <a:rPr spc="80" dirty="0"/>
              <a:t>in</a:t>
            </a:r>
            <a:r>
              <a:rPr spc="-145" dirty="0"/>
              <a:t> </a:t>
            </a:r>
            <a:r>
              <a:rPr spc="80" dirty="0"/>
              <a:t>words?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200480"/>
            <a:ext cx="85748" cy="8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1915052"/>
            <a:ext cx="85748" cy="85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2629624"/>
            <a:ext cx="85748" cy="85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3344196"/>
            <a:ext cx="85748" cy="85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4058768"/>
            <a:ext cx="85748" cy="85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4773340"/>
            <a:ext cx="85748" cy="85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295" y="5487912"/>
            <a:ext cx="85748" cy="8574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44786" y="1025810"/>
            <a:ext cx="6661784" cy="465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dirty="0">
                <a:solidFill>
                  <a:srgbClr val="22373A"/>
                </a:solidFill>
                <a:latin typeface="Trebuchet MS"/>
                <a:cs typeface="Trebuchet MS"/>
              </a:rPr>
              <a:t>Data</a:t>
            </a:r>
            <a:r>
              <a:rPr sz="2250" spc="-1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to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be</a:t>
            </a:r>
            <a:r>
              <a:rPr sz="2250" spc="-10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visualized</a:t>
            </a:r>
            <a:endParaRPr sz="2250">
              <a:latin typeface="Trebuchet MS"/>
              <a:cs typeface="Trebuchet MS"/>
            </a:endParaRPr>
          </a:p>
          <a:p>
            <a:pPr marL="12700" marR="5080">
              <a:lnSpc>
                <a:spcPct val="208400"/>
              </a:lnSpc>
            </a:pPr>
            <a:r>
              <a:rPr sz="2250" spc="-10" dirty="0">
                <a:solidFill>
                  <a:srgbClr val="DD1144"/>
                </a:solidFill>
                <a:latin typeface="Trebuchet MS"/>
                <a:cs typeface="Trebuchet MS"/>
              </a:rPr>
              <a:t>Geom</a:t>
            </a:r>
            <a:r>
              <a:rPr sz="2250" spc="-10" dirty="0">
                <a:solidFill>
                  <a:srgbClr val="22373A"/>
                </a:solidFill>
                <a:latin typeface="Trebuchet MS"/>
                <a:cs typeface="Trebuchet MS"/>
              </a:rPr>
              <a:t>etric</a:t>
            </a:r>
            <a:r>
              <a:rPr sz="2250" spc="-14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2373A"/>
                </a:solidFill>
                <a:latin typeface="Trebuchet MS"/>
                <a:cs typeface="Trebuchet MS"/>
              </a:rPr>
              <a:t>objects</a:t>
            </a:r>
            <a:r>
              <a:rPr sz="2250" spc="-1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-25" dirty="0">
                <a:latin typeface="Trebuchet MS"/>
                <a:cs typeface="Trebuchet MS"/>
              </a:rPr>
              <a:t>that</a:t>
            </a:r>
            <a:r>
              <a:rPr sz="2250" spc="-12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appear</a:t>
            </a:r>
            <a:r>
              <a:rPr sz="2250" spc="-125" dirty="0">
                <a:latin typeface="Trebuchet MS"/>
                <a:cs typeface="Trebuchet MS"/>
              </a:rPr>
              <a:t> </a:t>
            </a:r>
            <a:r>
              <a:rPr sz="2250" spc="65" dirty="0">
                <a:latin typeface="Trebuchet MS"/>
                <a:cs typeface="Trebuchet MS"/>
              </a:rPr>
              <a:t>on</a:t>
            </a:r>
            <a:r>
              <a:rPr sz="2250" spc="-8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the</a:t>
            </a:r>
            <a:r>
              <a:rPr sz="2250" spc="-114" dirty="0">
                <a:latin typeface="Trebuchet MS"/>
                <a:cs typeface="Trebuchet MS"/>
              </a:rPr>
              <a:t> </a:t>
            </a:r>
            <a:r>
              <a:rPr sz="2250" spc="-20" dirty="0">
                <a:latin typeface="Trebuchet MS"/>
                <a:cs typeface="Trebuchet MS"/>
              </a:rPr>
              <a:t>plot</a:t>
            </a:r>
            <a:r>
              <a:rPr sz="2250" spc="560" dirty="0">
                <a:latin typeface="Trebuchet MS"/>
                <a:cs typeface="Trebuchet MS"/>
              </a:rPr>
              <a:t> </a:t>
            </a:r>
            <a:r>
              <a:rPr sz="2250" spc="-20" dirty="0">
                <a:solidFill>
                  <a:srgbClr val="DD1144"/>
                </a:solidFill>
                <a:latin typeface="Trebuchet MS"/>
                <a:cs typeface="Trebuchet MS"/>
              </a:rPr>
              <a:t>Aes</a:t>
            </a:r>
            <a:r>
              <a:rPr sz="2250" spc="-20" dirty="0">
                <a:solidFill>
                  <a:srgbClr val="22373A"/>
                </a:solidFill>
                <a:latin typeface="Trebuchet MS"/>
                <a:cs typeface="Trebuchet MS"/>
              </a:rPr>
              <a:t>thetic</a:t>
            </a:r>
            <a:r>
              <a:rPr sz="2250" spc="-12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60" dirty="0">
                <a:solidFill>
                  <a:srgbClr val="22373A"/>
                </a:solidFill>
                <a:latin typeface="Trebuchet MS"/>
                <a:cs typeface="Trebuchet MS"/>
              </a:rPr>
              <a:t>mappings</a:t>
            </a:r>
            <a:r>
              <a:rPr sz="2250" spc="-12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from</a:t>
            </a:r>
            <a:r>
              <a:rPr sz="2250" spc="-7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data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to</a:t>
            </a:r>
            <a:r>
              <a:rPr sz="2250" spc="-11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visual</a:t>
            </a:r>
            <a:r>
              <a:rPr sz="2250" spc="-7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component </a:t>
            </a:r>
            <a:r>
              <a:rPr sz="2250" dirty="0">
                <a:solidFill>
                  <a:srgbClr val="DD1144"/>
                </a:solidFill>
                <a:latin typeface="Trebuchet MS"/>
                <a:cs typeface="Trebuchet MS"/>
              </a:rPr>
              <a:t>Stat</a:t>
            </a:r>
            <a:r>
              <a:rPr sz="2250" dirty="0">
                <a:solidFill>
                  <a:srgbClr val="22373A"/>
                </a:solidFill>
                <a:latin typeface="Trebuchet MS"/>
                <a:cs typeface="Trebuchet MS"/>
              </a:rPr>
              <a:t>istics</a:t>
            </a:r>
            <a:r>
              <a:rPr sz="2250" spc="-12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transform</a:t>
            </a:r>
            <a:r>
              <a:rPr sz="2250" spc="-7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data</a:t>
            </a:r>
            <a:r>
              <a:rPr sz="2250" spc="-100" dirty="0">
                <a:latin typeface="Trebuchet MS"/>
                <a:cs typeface="Trebuchet MS"/>
              </a:rPr>
              <a:t> </a:t>
            </a:r>
            <a:r>
              <a:rPr sz="2250" spc="65" dirty="0">
                <a:latin typeface="Trebuchet MS"/>
                <a:cs typeface="Trebuchet MS"/>
              </a:rPr>
              <a:t>on</a:t>
            </a:r>
            <a:r>
              <a:rPr sz="2250" spc="-6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the</a:t>
            </a:r>
            <a:r>
              <a:rPr sz="2250" spc="-100" dirty="0">
                <a:latin typeface="Trebuchet MS"/>
                <a:cs typeface="Trebuchet MS"/>
              </a:rPr>
              <a:t> </a:t>
            </a:r>
            <a:r>
              <a:rPr sz="2250" spc="-50" dirty="0">
                <a:latin typeface="Trebuchet MS"/>
                <a:cs typeface="Trebuchet MS"/>
              </a:rPr>
              <a:t>way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to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visualization </a:t>
            </a:r>
            <a:r>
              <a:rPr sz="2250" dirty="0">
                <a:solidFill>
                  <a:srgbClr val="DD1144"/>
                </a:solidFill>
                <a:latin typeface="Trebuchet MS"/>
                <a:cs typeface="Trebuchet MS"/>
              </a:rPr>
              <a:t>Coord</a:t>
            </a:r>
            <a:r>
              <a:rPr sz="2250" dirty="0">
                <a:solidFill>
                  <a:srgbClr val="22373A"/>
                </a:solidFill>
                <a:latin typeface="Trebuchet MS"/>
                <a:cs typeface="Trebuchet MS"/>
              </a:rPr>
              <a:t>inates</a:t>
            </a:r>
            <a:r>
              <a:rPr sz="2250" spc="-11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spc="-25" dirty="0">
                <a:latin typeface="Trebuchet MS"/>
                <a:cs typeface="Trebuchet MS"/>
              </a:rPr>
              <a:t>organize</a:t>
            </a:r>
            <a:r>
              <a:rPr sz="2250" spc="-10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location</a:t>
            </a:r>
            <a:r>
              <a:rPr sz="2250" spc="-5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of</a:t>
            </a:r>
            <a:r>
              <a:rPr sz="2250" spc="-60" dirty="0">
                <a:latin typeface="Trebuchet MS"/>
                <a:cs typeface="Trebuchet MS"/>
              </a:rPr>
              <a:t> </a:t>
            </a:r>
            <a:r>
              <a:rPr sz="2250" spc="-25" dirty="0">
                <a:latin typeface="Trebuchet MS"/>
                <a:cs typeface="Trebuchet MS"/>
              </a:rPr>
              <a:t>geometric</a:t>
            </a:r>
            <a:r>
              <a:rPr sz="2250" spc="-95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objects </a:t>
            </a:r>
            <a:r>
              <a:rPr sz="2250" dirty="0">
                <a:solidFill>
                  <a:srgbClr val="DD1144"/>
                </a:solidFill>
                <a:latin typeface="Trebuchet MS"/>
                <a:cs typeface="Trebuchet MS"/>
              </a:rPr>
              <a:t>Scale</a:t>
            </a:r>
            <a:r>
              <a:rPr sz="2250" dirty="0">
                <a:solidFill>
                  <a:srgbClr val="22373A"/>
                </a:solidFill>
                <a:latin typeface="Trebuchet MS"/>
                <a:cs typeface="Trebuchet MS"/>
              </a:rPr>
              <a:t>s</a:t>
            </a:r>
            <a:r>
              <a:rPr sz="2250" spc="-9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define</a:t>
            </a:r>
            <a:r>
              <a:rPr sz="2250" spc="-8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the</a:t>
            </a:r>
            <a:r>
              <a:rPr sz="2250" spc="-7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range</a:t>
            </a:r>
            <a:r>
              <a:rPr sz="2250" spc="-8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of</a:t>
            </a:r>
            <a:r>
              <a:rPr sz="2250" spc="-40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values</a:t>
            </a:r>
            <a:r>
              <a:rPr sz="2250" spc="-7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for</a:t>
            </a:r>
            <a:r>
              <a:rPr sz="2250" spc="-9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aesthetics </a:t>
            </a:r>
            <a:r>
              <a:rPr sz="2250" spc="-55" dirty="0">
                <a:solidFill>
                  <a:srgbClr val="DD1144"/>
                </a:solidFill>
                <a:latin typeface="Trebuchet MS"/>
                <a:cs typeface="Trebuchet MS"/>
              </a:rPr>
              <a:t>Facet</a:t>
            </a:r>
            <a:r>
              <a:rPr sz="2250" spc="-55" dirty="0">
                <a:solidFill>
                  <a:srgbClr val="22373A"/>
                </a:solidFill>
                <a:latin typeface="Trebuchet MS"/>
                <a:cs typeface="Trebuchet MS"/>
              </a:rPr>
              <a:t>s</a:t>
            </a:r>
            <a:r>
              <a:rPr sz="2250" spc="-9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group</a:t>
            </a:r>
            <a:r>
              <a:rPr sz="2250" spc="-10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into</a:t>
            </a:r>
            <a:r>
              <a:rPr sz="2250" spc="-80" dirty="0">
                <a:latin typeface="Trebuchet MS"/>
                <a:cs typeface="Trebuchet MS"/>
              </a:rPr>
              <a:t> </a:t>
            </a:r>
            <a:r>
              <a:rPr sz="2250" spc="-10" dirty="0">
                <a:latin typeface="Trebuchet MS"/>
                <a:cs typeface="Trebuchet MS"/>
              </a:rPr>
              <a:t>subplots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283056"/>
            <a:ext cx="73088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20" dirty="0">
                <a:latin typeface="Trebuchet MS"/>
                <a:cs typeface="Trebuchet MS"/>
              </a:rPr>
              <a:t>Data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76381" y="1829304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1850" spc="-40" dirty="0">
                <a:latin typeface="Courier New"/>
                <a:cs typeface="Courier New"/>
              </a:rPr>
              <a:t>ggplot</a:t>
            </a:r>
            <a:r>
              <a:rPr sz="2350" spc="-40" dirty="0">
                <a:latin typeface="Courier New"/>
                <a:cs typeface="Courier New"/>
              </a:rPr>
              <a:t>(</a:t>
            </a:r>
            <a:r>
              <a:rPr sz="1850" spc="-40" dirty="0">
                <a:latin typeface="Courier New"/>
                <a:cs typeface="Courier New"/>
              </a:rPr>
              <a:t>data</a:t>
            </a:r>
            <a:r>
              <a:rPr sz="2350" spc="-40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330695"/>
            <a:ext cx="3566795" cy="807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solidFill>
                  <a:srgbClr val="1A292C"/>
                </a:solidFill>
                <a:latin typeface="Trebuchet MS"/>
                <a:cs typeface="Trebuchet MS"/>
              </a:rPr>
              <a:t>Tidy</a:t>
            </a:r>
            <a:r>
              <a:rPr sz="1850" spc="-65" dirty="0">
                <a:solidFill>
                  <a:srgbClr val="1A292C"/>
                </a:solidFill>
                <a:latin typeface="Trebuchet MS"/>
                <a:cs typeface="Trebuchet MS"/>
              </a:rPr>
              <a:t> </a:t>
            </a:r>
            <a:r>
              <a:rPr sz="1850" spc="-20" dirty="0">
                <a:solidFill>
                  <a:srgbClr val="1A292C"/>
                </a:solidFill>
                <a:latin typeface="Trebuchet MS"/>
                <a:cs typeface="Trebuchet MS"/>
              </a:rPr>
              <a:t>Data</a:t>
            </a:r>
            <a:endParaRPr sz="1850">
              <a:latin typeface="Trebuchet MS"/>
              <a:cs typeface="Trebuchet MS"/>
            </a:endParaRPr>
          </a:p>
          <a:p>
            <a:pPr marL="188595">
              <a:lnSpc>
                <a:spcPct val="100000"/>
              </a:lnSpc>
              <a:spcBef>
                <a:spcPts val="1680"/>
              </a:spcBef>
            </a:pPr>
            <a:r>
              <a:rPr sz="1850" spc="-260" dirty="0">
                <a:latin typeface="Trebuchet MS"/>
                <a:cs typeface="Trebuchet MS"/>
              </a:rPr>
              <a:t>1.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Each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variable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forms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DD1144"/>
                </a:solidFill>
                <a:latin typeface="Trebuchet MS"/>
                <a:cs typeface="Trebuchet MS"/>
              </a:rPr>
              <a:t>column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4803" y="2416844"/>
            <a:ext cx="4255135" cy="902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6220" indent="-223520">
              <a:lnSpc>
                <a:spcPct val="100000"/>
              </a:lnSpc>
              <a:spcBef>
                <a:spcPts val="125"/>
              </a:spcBef>
              <a:buAutoNum type="arabicPeriod" startAt="2"/>
              <a:tabLst>
                <a:tab pos="236220" algn="l"/>
              </a:tabLst>
            </a:pPr>
            <a:r>
              <a:rPr sz="1850" dirty="0">
                <a:latin typeface="Trebuchet MS"/>
                <a:cs typeface="Trebuchet MS"/>
              </a:rPr>
              <a:t>Each</a:t>
            </a:r>
            <a:r>
              <a:rPr sz="1850" spc="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observation</a:t>
            </a:r>
            <a:r>
              <a:rPr sz="1850" spc="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forms</a:t>
            </a:r>
            <a:r>
              <a:rPr sz="1850" spc="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spc="-25" dirty="0">
                <a:solidFill>
                  <a:srgbClr val="DD1144"/>
                </a:solidFill>
                <a:latin typeface="Trebuchet MS"/>
                <a:cs typeface="Trebuchet MS"/>
              </a:rPr>
              <a:t>row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Trebuchet MS"/>
              <a:buAutoNum type="arabicPeriod" startAt="2"/>
            </a:pPr>
            <a:endParaRPr sz="1850">
              <a:latin typeface="Trebuchet MS"/>
              <a:cs typeface="Trebuchet MS"/>
            </a:endParaRPr>
          </a:p>
          <a:p>
            <a:pPr marL="236220" indent="-223520">
              <a:lnSpc>
                <a:spcPct val="100000"/>
              </a:lnSpc>
              <a:buAutoNum type="arabicPeriod" startAt="2"/>
              <a:tabLst>
                <a:tab pos="236220" algn="l"/>
              </a:tabLst>
            </a:pPr>
            <a:r>
              <a:rPr sz="1850" dirty="0">
                <a:latin typeface="Trebuchet MS"/>
                <a:cs typeface="Trebuchet MS"/>
              </a:rPr>
              <a:t>Each</a:t>
            </a:r>
            <a:r>
              <a:rPr sz="1850" spc="8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observational</a:t>
            </a:r>
            <a:r>
              <a:rPr sz="1850" spc="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unit</a:t>
            </a:r>
            <a:r>
              <a:rPr sz="1850" spc="9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forms</a:t>
            </a:r>
            <a:r>
              <a:rPr sz="1850" spc="8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table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283056"/>
            <a:ext cx="73088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20" dirty="0">
                <a:latin typeface="Trebuchet MS"/>
                <a:cs typeface="Trebuchet MS"/>
              </a:rPr>
              <a:t>Data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1829304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1850" spc="-40" dirty="0">
                <a:latin typeface="Courier New"/>
                <a:cs typeface="Courier New"/>
              </a:rPr>
              <a:t>ggplot</a:t>
            </a:r>
            <a:r>
              <a:rPr sz="2350" spc="-40" dirty="0">
                <a:latin typeface="Courier New"/>
                <a:cs typeface="Courier New"/>
              </a:rPr>
              <a:t>(</a:t>
            </a:r>
            <a:r>
              <a:rPr sz="1850" spc="-40" dirty="0">
                <a:latin typeface="Courier New"/>
                <a:cs typeface="Courier New"/>
              </a:rPr>
              <a:t>data</a:t>
            </a:r>
            <a:r>
              <a:rPr sz="2350" spc="-40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58928" y="2924980"/>
            <a:ext cx="5250180" cy="9525"/>
          </a:xfrm>
          <a:custGeom>
            <a:avLst/>
            <a:gdLst/>
            <a:ahLst/>
            <a:cxnLst/>
            <a:rect l="l" t="t" r="r" b="b"/>
            <a:pathLst>
              <a:path w="5250180" h="9525">
                <a:moveTo>
                  <a:pt x="5249721" y="9527"/>
                </a:moveTo>
                <a:lnTo>
                  <a:pt x="0" y="9527"/>
                </a:lnTo>
                <a:lnTo>
                  <a:pt x="0" y="0"/>
                </a:lnTo>
                <a:lnTo>
                  <a:pt x="5249721" y="0"/>
                </a:lnTo>
                <a:lnTo>
                  <a:pt x="5249721" y="9527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77984" y="1043274"/>
          <a:ext cx="5212714" cy="452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10" dirty="0">
                          <a:latin typeface="Trebuchet MS"/>
                          <a:cs typeface="Trebuchet MS"/>
                        </a:rPr>
                        <a:t>country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R w="19050">
                      <a:solidFill>
                        <a:srgbClr val="F9F9F9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25" dirty="0">
                          <a:latin typeface="Trebuchet MS"/>
                          <a:cs typeface="Trebuchet MS"/>
                        </a:rPr>
                        <a:t>1997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F9F9F9"/>
                      </a:solidFill>
                      <a:prstDash val="solid"/>
                    </a:lnL>
                    <a:lnR w="19050">
                      <a:solidFill>
                        <a:srgbClr val="F9F9F9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20" dirty="0">
                          <a:latin typeface="Trebuchet MS"/>
                          <a:cs typeface="Trebuchet MS"/>
                        </a:rPr>
                        <a:t>2002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F9F9F9"/>
                      </a:solidFill>
                      <a:prstDash val="solid"/>
                    </a:lnL>
                    <a:lnR w="19050">
                      <a:solidFill>
                        <a:srgbClr val="F9F9F9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356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20" dirty="0">
                          <a:latin typeface="Trebuchet MS"/>
                          <a:cs typeface="Trebuchet MS"/>
                        </a:rPr>
                        <a:t>2007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F9F9F9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477984" y="1597068"/>
          <a:ext cx="5212714" cy="1218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49530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Canada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30.30584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31.90227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33.39014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China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25" dirty="0">
                          <a:latin typeface="Trebuchet MS"/>
                          <a:cs typeface="Trebuchet MS"/>
                        </a:rPr>
                        <a:t>1230.07500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1280.40000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85" dirty="0">
                          <a:latin typeface="Trebuchet MS"/>
                          <a:cs typeface="Trebuchet MS"/>
                        </a:rPr>
                        <a:t>1318.68310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dirty="0">
                          <a:latin typeface="Trebuchet MS"/>
                          <a:cs typeface="Trebuchet MS"/>
                        </a:rPr>
                        <a:t>United</a:t>
                      </a:r>
                      <a:r>
                        <a:rPr sz="185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0" dirty="0">
                          <a:latin typeface="Trebuchet MS"/>
                          <a:cs typeface="Trebuchet MS"/>
                        </a:rPr>
                        <a:t>States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50" dirty="0">
                          <a:latin typeface="Trebuchet MS"/>
                          <a:cs typeface="Trebuchet MS"/>
                        </a:rPr>
                        <a:t>272.91176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287.67553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30" dirty="0">
                          <a:latin typeface="Trebuchet MS"/>
                          <a:cs typeface="Trebuchet MS"/>
                        </a:rPr>
                        <a:t>301.13995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283056"/>
            <a:ext cx="73088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20" dirty="0">
                <a:latin typeface="Trebuchet MS"/>
                <a:cs typeface="Trebuchet MS"/>
              </a:rPr>
              <a:t>Data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1829304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1900" spc="-65" dirty="0">
                <a:latin typeface="Courier New"/>
                <a:cs typeface="Courier New"/>
              </a:rPr>
              <a:t>ggplot</a:t>
            </a:r>
            <a:r>
              <a:rPr sz="2350" spc="-65" dirty="0">
                <a:latin typeface="Courier New"/>
                <a:cs typeface="Courier New"/>
              </a:rPr>
              <a:t>(</a:t>
            </a:r>
            <a:r>
              <a:rPr sz="1900" spc="-65" dirty="0">
                <a:latin typeface="Courier New"/>
                <a:cs typeface="Courier New"/>
              </a:rPr>
              <a:t>data</a:t>
            </a:r>
            <a:r>
              <a:rPr sz="2350" spc="-65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58928" y="2924980"/>
            <a:ext cx="5250180" cy="9525"/>
          </a:xfrm>
          <a:custGeom>
            <a:avLst/>
            <a:gdLst/>
            <a:ahLst/>
            <a:cxnLst/>
            <a:rect l="l" t="t" r="r" b="b"/>
            <a:pathLst>
              <a:path w="5250180" h="9525">
                <a:moveTo>
                  <a:pt x="5249721" y="9527"/>
                </a:moveTo>
                <a:lnTo>
                  <a:pt x="0" y="9527"/>
                </a:lnTo>
                <a:lnTo>
                  <a:pt x="0" y="0"/>
                </a:lnTo>
                <a:lnTo>
                  <a:pt x="5249721" y="0"/>
                </a:lnTo>
                <a:lnTo>
                  <a:pt x="5249721" y="9527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77984" y="1043274"/>
          <a:ext cx="5212714" cy="452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10" dirty="0">
                          <a:latin typeface="Trebuchet MS"/>
                          <a:cs typeface="Trebuchet MS"/>
                        </a:rPr>
                        <a:t>country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R w="19050">
                      <a:solidFill>
                        <a:srgbClr val="F9F9F9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25" dirty="0">
                          <a:latin typeface="Trebuchet MS"/>
                          <a:cs typeface="Trebuchet MS"/>
                        </a:rPr>
                        <a:t>1997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F9F9F9"/>
                      </a:solidFill>
                      <a:prstDash val="solid"/>
                    </a:lnL>
                    <a:lnR w="19050">
                      <a:solidFill>
                        <a:srgbClr val="F9F9F9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20" dirty="0">
                          <a:latin typeface="Trebuchet MS"/>
                          <a:cs typeface="Trebuchet MS"/>
                        </a:rPr>
                        <a:t>2002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F9F9F9"/>
                      </a:solidFill>
                      <a:prstDash val="solid"/>
                    </a:lnL>
                    <a:lnR w="19050">
                      <a:solidFill>
                        <a:srgbClr val="F9F9F9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356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b="1" spc="-20" dirty="0">
                          <a:latin typeface="Trebuchet MS"/>
                          <a:cs typeface="Trebuchet MS"/>
                        </a:rPr>
                        <a:t>2007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F9F9F9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477984" y="1597068"/>
          <a:ext cx="5212714" cy="1218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49530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Canada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30.30584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31.90227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33.39014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China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25" dirty="0">
                          <a:latin typeface="Trebuchet MS"/>
                          <a:cs typeface="Trebuchet MS"/>
                        </a:rPr>
                        <a:t>1230.07500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1280.40000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85" dirty="0">
                          <a:latin typeface="Trebuchet MS"/>
                          <a:cs typeface="Trebuchet MS"/>
                        </a:rPr>
                        <a:t>1318.68310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dirty="0">
                          <a:latin typeface="Trebuchet MS"/>
                          <a:cs typeface="Trebuchet MS"/>
                        </a:rPr>
                        <a:t>United</a:t>
                      </a:r>
                      <a:r>
                        <a:rPr sz="185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0" dirty="0">
                          <a:latin typeface="Trebuchet MS"/>
                          <a:cs typeface="Trebuchet MS"/>
                        </a:rPr>
                        <a:t>States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50" dirty="0">
                          <a:latin typeface="Trebuchet MS"/>
                          <a:cs typeface="Trebuchet MS"/>
                        </a:rPr>
                        <a:t>272.91176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287.67553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30" dirty="0">
                          <a:latin typeface="Trebuchet MS"/>
                          <a:cs typeface="Trebuchet MS"/>
                        </a:rPr>
                        <a:t>301.13995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506967" y="3944436"/>
          <a:ext cx="3154679" cy="476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50" b="1" spc="-10" dirty="0">
                          <a:latin typeface="Trebuchet MS"/>
                          <a:cs typeface="Trebuchet MS"/>
                        </a:rPr>
                        <a:t>country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R w="19050">
                      <a:solidFill>
                        <a:srgbClr val="F9F9F9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50" b="1" spc="-20" dirty="0">
                          <a:latin typeface="Trebuchet MS"/>
                          <a:cs typeface="Trebuchet MS"/>
                        </a:rPr>
                        <a:t>year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F9F9F9"/>
                      </a:solidFill>
                      <a:prstDash val="solid"/>
                    </a:lnL>
                    <a:lnR w="19050">
                      <a:solidFill>
                        <a:srgbClr val="F9F9F9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50" b="1" spc="25" dirty="0">
                          <a:latin typeface="Trebuchet MS"/>
                          <a:cs typeface="Trebuchet MS"/>
                        </a:rPr>
                        <a:t>pop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F9F9F9"/>
                      </a:solidFill>
                      <a:prstDash val="solid"/>
                    </a:lnL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506967" y="4522049"/>
          <a:ext cx="3153408" cy="177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49530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Canada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ts val="2125"/>
                        </a:lnSpc>
                      </a:pPr>
                      <a:r>
                        <a:rPr sz="1850" spc="-20" dirty="0">
                          <a:latin typeface="Trebuchet MS"/>
                          <a:cs typeface="Trebuchet MS"/>
                        </a:rPr>
                        <a:t>1997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2125"/>
                        </a:lnSpc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30.306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China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20" dirty="0">
                          <a:latin typeface="Trebuchet MS"/>
                          <a:cs typeface="Trebuchet MS"/>
                        </a:rPr>
                        <a:t>1997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30" dirty="0">
                          <a:latin typeface="Trebuchet MS"/>
                          <a:cs typeface="Trebuchet MS"/>
                        </a:rPr>
                        <a:t>1230.075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dirty="0">
                          <a:latin typeface="Trebuchet MS"/>
                          <a:cs typeface="Trebuchet MS"/>
                        </a:rPr>
                        <a:t>United</a:t>
                      </a:r>
                      <a:r>
                        <a:rPr sz="185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50" spc="-10" dirty="0">
                          <a:latin typeface="Trebuchet MS"/>
                          <a:cs typeface="Trebuchet MS"/>
                        </a:rPr>
                        <a:t>States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20" dirty="0">
                          <a:latin typeface="Trebuchet MS"/>
                          <a:cs typeface="Trebuchet MS"/>
                        </a:rPr>
                        <a:t>1997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272.912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793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Canada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20" dirty="0">
                          <a:latin typeface="Trebuchet MS"/>
                          <a:cs typeface="Trebuchet MS"/>
                        </a:rPr>
                        <a:t>2002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50" spc="-10" dirty="0">
                          <a:latin typeface="Trebuchet MS"/>
                          <a:cs typeface="Trebuchet MS"/>
                        </a:rPr>
                        <a:t>31.902</a:t>
                      </a:r>
                      <a:endParaRPr sz="18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85CB5CB-C6F9-84A6-D797-B34A741A2283}"/>
              </a:ext>
            </a:extLst>
          </p:cNvPr>
          <p:cNvSpPr/>
          <p:nvPr/>
        </p:nvSpPr>
        <p:spPr>
          <a:xfrm>
            <a:off x="7054850" y="3143250"/>
            <a:ext cx="381000" cy="47625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283056"/>
            <a:ext cx="73088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20" dirty="0">
                <a:latin typeface="Trebuchet MS"/>
                <a:cs typeface="Trebuchet MS"/>
              </a:rPr>
              <a:t>Data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76381" y="1829304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1850" spc="-40" dirty="0">
                <a:latin typeface="Courier New"/>
                <a:cs typeface="Courier New"/>
              </a:rPr>
              <a:t>ggplot</a:t>
            </a:r>
            <a:r>
              <a:rPr sz="2350" spc="-40" dirty="0">
                <a:latin typeface="Courier New"/>
                <a:cs typeface="Courier New"/>
              </a:rPr>
              <a:t>(</a:t>
            </a:r>
            <a:r>
              <a:rPr sz="1850" spc="-40" dirty="0">
                <a:latin typeface="Courier New"/>
                <a:cs typeface="Courier New"/>
              </a:rPr>
              <a:t>data</a:t>
            </a:r>
            <a:r>
              <a:rPr sz="2350" spc="-40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330695"/>
            <a:ext cx="3566795" cy="807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solidFill>
                  <a:srgbClr val="1A292C"/>
                </a:solidFill>
                <a:latin typeface="Trebuchet MS"/>
                <a:cs typeface="Trebuchet MS"/>
              </a:rPr>
              <a:t>Tidy</a:t>
            </a:r>
            <a:r>
              <a:rPr sz="1850" spc="-65" dirty="0">
                <a:solidFill>
                  <a:srgbClr val="1A292C"/>
                </a:solidFill>
                <a:latin typeface="Trebuchet MS"/>
                <a:cs typeface="Trebuchet MS"/>
              </a:rPr>
              <a:t> </a:t>
            </a:r>
            <a:r>
              <a:rPr sz="1850" spc="-20" dirty="0">
                <a:solidFill>
                  <a:srgbClr val="1A292C"/>
                </a:solidFill>
                <a:latin typeface="Trebuchet MS"/>
                <a:cs typeface="Trebuchet MS"/>
              </a:rPr>
              <a:t>Data</a:t>
            </a:r>
            <a:endParaRPr sz="1850">
              <a:latin typeface="Trebuchet MS"/>
              <a:cs typeface="Trebuchet MS"/>
            </a:endParaRPr>
          </a:p>
          <a:p>
            <a:pPr marL="188595">
              <a:lnSpc>
                <a:spcPct val="100000"/>
              </a:lnSpc>
              <a:spcBef>
                <a:spcPts val="1680"/>
              </a:spcBef>
            </a:pPr>
            <a:r>
              <a:rPr sz="1850" spc="-260" dirty="0">
                <a:latin typeface="Trebuchet MS"/>
                <a:cs typeface="Trebuchet MS"/>
              </a:rPr>
              <a:t>1.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Each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variable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forms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DD1144"/>
                </a:solidFill>
                <a:latin typeface="Trebuchet MS"/>
                <a:cs typeface="Trebuchet MS"/>
              </a:rPr>
              <a:t>column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7597" y="2416844"/>
            <a:ext cx="7401559" cy="2903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93065" indent="-223520">
              <a:lnSpc>
                <a:spcPct val="100000"/>
              </a:lnSpc>
              <a:spcBef>
                <a:spcPts val="125"/>
              </a:spcBef>
              <a:buAutoNum type="arabicPeriod" startAt="2"/>
              <a:tabLst>
                <a:tab pos="393065" algn="l"/>
              </a:tabLst>
            </a:pPr>
            <a:r>
              <a:rPr sz="1850" dirty="0">
                <a:latin typeface="Trebuchet MS"/>
                <a:cs typeface="Trebuchet MS"/>
              </a:rPr>
              <a:t>Each</a:t>
            </a:r>
            <a:r>
              <a:rPr sz="1850" spc="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observation</a:t>
            </a:r>
            <a:r>
              <a:rPr sz="1850" spc="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forms</a:t>
            </a:r>
            <a:r>
              <a:rPr sz="1850" spc="9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spc="-25" dirty="0">
                <a:solidFill>
                  <a:srgbClr val="DD1144"/>
                </a:solidFill>
                <a:latin typeface="Trebuchet MS"/>
                <a:cs typeface="Trebuchet MS"/>
              </a:rPr>
              <a:t>row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Trebuchet MS"/>
              <a:buAutoNum type="arabicPeriod" startAt="2"/>
            </a:pPr>
            <a:endParaRPr sz="1850">
              <a:latin typeface="Trebuchet MS"/>
              <a:cs typeface="Trebuchet MS"/>
            </a:endParaRPr>
          </a:p>
          <a:p>
            <a:pPr marL="393065" indent="-223520">
              <a:lnSpc>
                <a:spcPct val="100000"/>
              </a:lnSpc>
              <a:buAutoNum type="arabicPeriod" startAt="2"/>
              <a:tabLst>
                <a:tab pos="393065" algn="l"/>
              </a:tabLst>
            </a:pPr>
            <a:r>
              <a:rPr sz="1850" dirty="0">
                <a:latin typeface="Trebuchet MS"/>
                <a:cs typeface="Trebuchet MS"/>
              </a:rPr>
              <a:t>Each</a:t>
            </a:r>
            <a:r>
              <a:rPr sz="1850" spc="8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observational</a:t>
            </a:r>
            <a:r>
              <a:rPr sz="1850" spc="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unit</a:t>
            </a:r>
            <a:r>
              <a:rPr sz="1850" spc="9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forms</a:t>
            </a:r>
            <a:r>
              <a:rPr sz="1850" spc="8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table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50" dirty="0">
                <a:solidFill>
                  <a:srgbClr val="1A292C"/>
                </a:solidFill>
                <a:latin typeface="Trebuchet MS"/>
                <a:cs typeface="Trebuchet MS"/>
              </a:rPr>
              <a:t>Start</a:t>
            </a:r>
            <a:r>
              <a:rPr sz="1850" spc="20" dirty="0">
                <a:solidFill>
                  <a:srgbClr val="1A292C"/>
                </a:solidFill>
                <a:latin typeface="Trebuchet MS"/>
                <a:cs typeface="Trebuchet MS"/>
              </a:rPr>
              <a:t> </a:t>
            </a:r>
            <a:r>
              <a:rPr sz="1850" spc="50" dirty="0">
                <a:solidFill>
                  <a:srgbClr val="1A292C"/>
                </a:solidFill>
                <a:latin typeface="Trebuchet MS"/>
                <a:cs typeface="Trebuchet MS"/>
              </a:rPr>
              <a:t>by</a:t>
            </a:r>
            <a:r>
              <a:rPr sz="1850" spc="-5" dirty="0">
                <a:solidFill>
                  <a:srgbClr val="1A292C"/>
                </a:solidFill>
                <a:latin typeface="Trebuchet MS"/>
                <a:cs typeface="Trebuchet MS"/>
              </a:rPr>
              <a:t> </a:t>
            </a:r>
            <a:r>
              <a:rPr sz="1850" spc="55" dirty="0">
                <a:solidFill>
                  <a:srgbClr val="1A292C"/>
                </a:solidFill>
                <a:latin typeface="Trebuchet MS"/>
                <a:cs typeface="Trebuchet MS"/>
              </a:rPr>
              <a:t>asking</a:t>
            </a:r>
            <a:endParaRPr sz="1850">
              <a:latin typeface="Trebuchet MS"/>
              <a:cs typeface="Trebuchet MS"/>
            </a:endParaRPr>
          </a:p>
          <a:p>
            <a:pPr marL="393700" indent="-22225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93700" algn="l"/>
              </a:tabLst>
            </a:pPr>
            <a:r>
              <a:rPr sz="1850" dirty="0">
                <a:latin typeface="Trebuchet MS"/>
                <a:cs typeface="Trebuchet MS"/>
              </a:rPr>
              <a:t>What</a:t>
            </a:r>
            <a:r>
              <a:rPr sz="1850" spc="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information </a:t>
            </a:r>
            <a:r>
              <a:rPr sz="1850" spc="85" dirty="0">
                <a:latin typeface="Trebuchet MS"/>
                <a:cs typeface="Trebuchet MS"/>
              </a:rPr>
              <a:t>do</a:t>
            </a:r>
            <a:r>
              <a:rPr sz="1850" spc="-5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I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want</a:t>
            </a:r>
            <a:r>
              <a:rPr sz="1850" spc="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50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use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in my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visualization?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Trebuchet MS"/>
              <a:buAutoNum type="arabicPeriod"/>
            </a:pPr>
            <a:endParaRPr sz="1850">
              <a:latin typeface="Trebuchet MS"/>
              <a:cs typeface="Trebuchet MS"/>
            </a:endParaRPr>
          </a:p>
          <a:p>
            <a:pPr marL="393065" indent="-223520">
              <a:lnSpc>
                <a:spcPct val="100000"/>
              </a:lnSpc>
              <a:buAutoNum type="arabicPeriod"/>
              <a:tabLst>
                <a:tab pos="393065" algn="l"/>
              </a:tabLst>
            </a:pPr>
            <a:r>
              <a:rPr sz="1850" spc="65" dirty="0">
                <a:latin typeface="Trebuchet MS"/>
                <a:cs typeface="Trebuchet MS"/>
              </a:rPr>
              <a:t>Is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that</a:t>
            </a:r>
            <a:r>
              <a:rPr sz="1850" spc="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data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contained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in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spc="75" dirty="0">
                <a:solidFill>
                  <a:srgbClr val="DD1144"/>
                </a:solidFill>
                <a:latin typeface="Trebuchet MS"/>
                <a:cs typeface="Trebuchet MS"/>
              </a:rPr>
              <a:t>one</a:t>
            </a:r>
            <a:r>
              <a:rPr sz="1850" spc="60" dirty="0">
                <a:solidFill>
                  <a:srgbClr val="DD1144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D1144"/>
                </a:solidFill>
                <a:latin typeface="Trebuchet MS"/>
                <a:cs typeface="Trebuchet MS"/>
              </a:rPr>
              <a:t>column/row</a:t>
            </a:r>
            <a:r>
              <a:rPr sz="1850" spc="25" dirty="0">
                <a:solidFill>
                  <a:srgbClr val="DD1144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given</a:t>
            </a:r>
            <a:r>
              <a:rPr sz="1850" spc="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data</a:t>
            </a:r>
            <a:r>
              <a:rPr sz="1850" spc="-1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point?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1169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latin typeface="Trebuchet MS"/>
                <a:cs typeface="Trebuchet MS"/>
              </a:rPr>
              <a:t>Aesthetics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2400961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30" dirty="0">
                <a:latin typeface="Courier New"/>
                <a:cs typeface="Courier New"/>
              </a:rPr>
              <a:t> </a:t>
            </a:r>
            <a:r>
              <a:rPr sz="2350" spc="-380" dirty="0">
                <a:latin typeface="Courier New"/>
                <a:cs typeface="Courier New"/>
              </a:rPr>
              <a:t>aes()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254474"/>
            <a:ext cx="458533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55" dirty="0">
                <a:latin typeface="Trebuchet MS"/>
                <a:cs typeface="Trebuchet MS"/>
              </a:rPr>
              <a:t>Map</a:t>
            </a:r>
            <a:r>
              <a:rPr sz="1850" spc="5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data</a:t>
            </a:r>
            <a:r>
              <a:rPr sz="1850" spc="-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visual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elements</a:t>
            </a:r>
            <a:r>
              <a:rPr sz="1850" spc="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or</a:t>
            </a:r>
            <a:r>
              <a:rPr sz="1850" spc="-1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parameters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1991273"/>
            <a:ext cx="76221" cy="762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88702" y="1845186"/>
            <a:ext cx="96393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 dirty="0">
                <a:latin typeface="Trebuchet MS"/>
                <a:cs typeface="Trebuchet MS"/>
              </a:rPr>
              <a:t>year</a:t>
            </a:r>
            <a:r>
              <a:rPr sz="1850" spc="-85" dirty="0">
                <a:latin typeface="Trebuchet MS"/>
                <a:cs typeface="Trebuchet MS"/>
              </a:rPr>
              <a:t> </a:t>
            </a:r>
            <a:r>
              <a:rPr sz="1850" spc="325" dirty="0">
                <a:latin typeface="Cambria"/>
                <a:cs typeface="Cambria"/>
              </a:rPr>
              <a:t>→</a:t>
            </a:r>
            <a:r>
              <a:rPr sz="1850" spc="90" dirty="0">
                <a:latin typeface="Cambria"/>
                <a:cs typeface="Cambria"/>
              </a:rPr>
              <a:t> </a:t>
            </a:r>
            <a:r>
              <a:rPr sz="1850" spc="-50" dirty="0">
                <a:solidFill>
                  <a:srgbClr val="22373A"/>
                </a:solidFill>
                <a:latin typeface="Trebuchet MS"/>
                <a:cs typeface="Trebuchet MS"/>
              </a:rPr>
              <a:t>x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2581986"/>
            <a:ext cx="76221" cy="762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88702" y="2435899"/>
            <a:ext cx="93726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70" dirty="0">
                <a:latin typeface="Trebuchet MS"/>
                <a:cs typeface="Trebuchet MS"/>
              </a:rPr>
              <a:t>pop</a:t>
            </a:r>
            <a:r>
              <a:rPr sz="1850" dirty="0">
                <a:latin typeface="Trebuchet MS"/>
                <a:cs typeface="Trebuchet MS"/>
              </a:rPr>
              <a:t> </a:t>
            </a:r>
            <a:r>
              <a:rPr sz="1850" spc="325" dirty="0">
                <a:latin typeface="Cambria"/>
                <a:cs typeface="Cambria"/>
              </a:rPr>
              <a:t>→</a:t>
            </a:r>
            <a:r>
              <a:rPr sz="1850" spc="114" dirty="0">
                <a:latin typeface="Cambria"/>
                <a:cs typeface="Cambria"/>
              </a:rPr>
              <a:t> </a:t>
            </a:r>
            <a:r>
              <a:rPr sz="1850" spc="-50" dirty="0">
                <a:solidFill>
                  <a:srgbClr val="22373A"/>
                </a:solidFill>
                <a:latin typeface="Trebuchet MS"/>
                <a:cs typeface="Trebuchet MS"/>
              </a:rPr>
              <a:t>y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3172699"/>
            <a:ext cx="76221" cy="7622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488702" y="3026612"/>
            <a:ext cx="299021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rebuchet MS"/>
                <a:cs typeface="Trebuchet MS"/>
              </a:rPr>
              <a:t>country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spc="325" dirty="0">
                <a:latin typeface="Cambria"/>
                <a:cs typeface="Cambria"/>
              </a:rPr>
              <a:t>→</a:t>
            </a:r>
            <a:r>
              <a:rPr sz="1850" spc="120" dirty="0">
                <a:latin typeface="Cambria"/>
                <a:cs typeface="Cambria"/>
              </a:rPr>
              <a:t> </a:t>
            </a:r>
            <a:r>
              <a:rPr sz="1850" i="1" dirty="0">
                <a:latin typeface="Trebuchet MS"/>
                <a:cs typeface="Trebuchet MS"/>
              </a:rPr>
              <a:t>shape</a:t>
            </a:r>
            <a:r>
              <a:rPr sz="1850" dirty="0">
                <a:latin typeface="Trebuchet MS"/>
                <a:cs typeface="Trebuchet MS"/>
              </a:rPr>
              <a:t>,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i="1" spc="-45" dirty="0">
                <a:latin typeface="Trebuchet MS"/>
                <a:cs typeface="Trebuchet MS"/>
              </a:rPr>
              <a:t>color</a:t>
            </a:r>
            <a:r>
              <a:rPr sz="1850" spc="-45" dirty="0">
                <a:latin typeface="Trebuchet MS"/>
                <a:cs typeface="Trebuchet MS"/>
              </a:rPr>
              <a:t>,</a:t>
            </a:r>
            <a:r>
              <a:rPr sz="1850" spc="-50" dirty="0">
                <a:latin typeface="Trebuchet MS"/>
                <a:cs typeface="Trebuchet MS"/>
              </a:rPr>
              <a:t> </a:t>
            </a:r>
            <a:r>
              <a:rPr sz="1850" spc="-75" dirty="0">
                <a:latin typeface="Trebuchet MS"/>
                <a:cs typeface="Trebuchet MS"/>
              </a:rPr>
              <a:t>etc.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1169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latin typeface="Trebuchet MS"/>
                <a:cs typeface="Trebuchet MS"/>
              </a:rPr>
              <a:t>Aesthetics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76381" y="2400961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850" spc="-20" dirty="0">
                <a:latin typeface="Courier New"/>
                <a:cs typeface="Courier New"/>
              </a:rPr>
              <a:t>aes</a:t>
            </a:r>
            <a:r>
              <a:rPr sz="2350" spc="-2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254474"/>
            <a:ext cx="458533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55" dirty="0">
                <a:latin typeface="Trebuchet MS"/>
                <a:cs typeface="Trebuchet MS"/>
              </a:rPr>
              <a:t>Map</a:t>
            </a:r>
            <a:r>
              <a:rPr sz="1850" spc="5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data</a:t>
            </a:r>
            <a:r>
              <a:rPr sz="1850" spc="-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visual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elements</a:t>
            </a:r>
            <a:r>
              <a:rPr sz="1850" spc="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or</a:t>
            </a:r>
            <a:r>
              <a:rPr sz="1850" spc="-1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parameters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5060" y="1848359"/>
            <a:ext cx="7927340" cy="17913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2235">
              <a:lnSpc>
                <a:spcPts val="2475"/>
              </a:lnSpc>
              <a:spcBef>
                <a:spcPts val="275"/>
              </a:spcBef>
            </a:pPr>
            <a:r>
              <a:rPr sz="1850" spc="-20" dirty="0">
                <a:latin typeface="Courier New"/>
                <a:cs typeface="Courier New"/>
              </a:rPr>
              <a:t>aes</a:t>
            </a:r>
            <a:r>
              <a:rPr sz="2350" spc="-20" dirty="0">
                <a:latin typeface="Courier New"/>
                <a:cs typeface="Courier New"/>
              </a:rPr>
              <a:t>(</a:t>
            </a:r>
            <a:endParaRPr sz="2350">
              <a:latin typeface="Courier New"/>
              <a:cs typeface="Courier New"/>
            </a:endParaRPr>
          </a:p>
          <a:p>
            <a:pPr marL="368935" marR="6354445">
              <a:lnSpc>
                <a:spcPct val="76400"/>
              </a:lnSpc>
              <a:spcBef>
                <a:spcPts val="415"/>
              </a:spcBef>
            </a:pPr>
            <a:r>
              <a:rPr sz="1850" dirty="0">
                <a:latin typeface="Courier New"/>
                <a:cs typeface="Courier New"/>
              </a:rPr>
              <a:t>x</a:t>
            </a:r>
            <a:r>
              <a:rPr sz="1850" spc="-12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700" spc="-245" dirty="0">
                <a:latin typeface="Courier New"/>
                <a:cs typeface="Courier New"/>
              </a:rPr>
              <a:t>y</a:t>
            </a:r>
            <a:r>
              <a:rPr sz="1850" spc="-245" dirty="0">
                <a:latin typeface="Courier New"/>
                <a:cs typeface="Courier New"/>
              </a:rPr>
              <a:t>ear</a:t>
            </a:r>
            <a:r>
              <a:rPr sz="2350" spc="-245" dirty="0">
                <a:latin typeface="Courier New"/>
                <a:cs typeface="Courier New"/>
              </a:rPr>
              <a:t>, </a:t>
            </a:r>
            <a:r>
              <a:rPr sz="2700" spc="-620" dirty="0">
                <a:latin typeface="Courier New"/>
                <a:cs typeface="Courier New"/>
              </a:rPr>
              <a:t>y</a:t>
            </a:r>
            <a:r>
              <a:rPr sz="2700" spc="-5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0" dirty="0">
                <a:latin typeface="Courier New"/>
                <a:cs typeface="Courier New"/>
              </a:rPr>
              <a:t> </a:t>
            </a:r>
            <a:r>
              <a:rPr sz="1850" spc="-20" dirty="0">
                <a:latin typeface="Courier New"/>
                <a:cs typeface="Courier New"/>
              </a:rPr>
              <a:t>pop</a:t>
            </a:r>
            <a:r>
              <a:rPr sz="2350" spc="-20" dirty="0">
                <a:latin typeface="Courier New"/>
                <a:cs typeface="Courier New"/>
              </a:rPr>
              <a:t>,</a:t>
            </a:r>
            <a:endParaRPr sz="2350">
              <a:latin typeface="Courier New"/>
              <a:cs typeface="Courier New"/>
            </a:endParaRPr>
          </a:p>
          <a:p>
            <a:pPr marL="368935">
              <a:lnSpc>
                <a:spcPts val="2270"/>
              </a:lnSpc>
            </a:pPr>
            <a:r>
              <a:rPr sz="1850" spc="-30" dirty="0">
                <a:latin typeface="Courier New"/>
                <a:cs typeface="Courier New"/>
              </a:rPr>
              <a:t>color</a:t>
            </a:r>
            <a:r>
              <a:rPr sz="1850" spc="-2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850" spc="-10" dirty="0">
                <a:latin typeface="Courier New"/>
                <a:cs typeface="Courier New"/>
              </a:rPr>
              <a:t>countr</a:t>
            </a:r>
            <a:r>
              <a:rPr sz="2700" spc="-10" dirty="0">
                <a:latin typeface="Courier New"/>
                <a:cs typeface="Courier New"/>
              </a:rPr>
              <a:t>y</a:t>
            </a:r>
            <a:endParaRPr sz="2700">
              <a:latin typeface="Courier New"/>
              <a:cs typeface="Courier New"/>
            </a:endParaRPr>
          </a:p>
          <a:p>
            <a:pPr marL="102235">
              <a:lnSpc>
                <a:spcPts val="2615"/>
              </a:lnSpc>
            </a:pPr>
            <a:r>
              <a:rPr sz="2350" spc="-450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1740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</a:t>
            </a:r>
            <a:r>
              <a:rPr sz="2600" spc="-10" dirty="0">
                <a:latin typeface="Trebuchet MS"/>
                <a:cs typeface="Trebuchet MS"/>
              </a:rPr>
              <a:t>Geoms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2972619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3165"/>
              </a:lnSpc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30" dirty="0">
                <a:latin typeface="Courier New"/>
                <a:cs typeface="Courier New"/>
              </a:rPr>
              <a:t> </a:t>
            </a:r>
            <a:r>
              <a:rPr sz="2700" spc="-490" dirty="0">
                <a:latin typeface="Courier New"/>
                <a:cs typeface="Courier New"/>
              </a:rPr>
              <a:t>geom</a:t>
            </a:r>
            <a:r>
              <a:rPr sz="2350" spc="-490" dirty="0">
                <a:latin typeface="Courier New"/>
                <a:cs typeface="Courier New"/>
              </a:rPr>
              <a:t>_*()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254474"/>
            <a:ext cx="430847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latin typeface="Trebuchet MS"/>
                <a:cs typeface="Trebuchet MS"/>
              </a:rPr>
              <a:t>Geometric</a:t>
            </a:r>
            <a:r>
              <a:rPr sz="1850" spc="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objects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displayed</a:t>
            </a:r>
            <a:r>
              <a:rPr sz="1850" spc="50" dirty="0">
                <a:latin typeface="Trebuchet MS"/>
                <a:cs typeface="Trebuchet MS"/>
              </a:rPr>
              <a:t> </a:t>
            </a:r>
            <a:r>
              <a:rPr sz="1850" spc="65" dirty="0">
                <a:latin typeface="Trebuchet MS"/>
                <a:cs typeface="Trebuchet MS"/>
              </a:rPr>
              <a:t>on</a:t>
            </a:r>
            <a:r>
              <a:rPr sz="1850" spc="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</a:t>
            </a:r>
            <a:r>
              <a:rPr sz="1850" spc="-15" dirty="0">
                <a:latin typeface="Trebuchet MS"/>
                <a:cs typeface="Trebuchet MS"/>
              </a:rPr>
              <a:t> </a:t>
            </a:r>
            <a:r>
              <a:rPr sz="1850" spc="-20" dirty="0">
                <a:latin typeface="Trebuchet MS"/>
                <a:cs typeface="Trebuchet MS"/>
              </a:rPr>
              <a:t>plot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5061" y="1848359"/>
            <a:ext cx="6192956" cy="361097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1740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</a:t>
            </a:r>
            <a:r>
              <a:rPr sz="2600" spc="-10" dirty="0">
                <a:latin typeface="Trebuchet MS"/>
                <a:cs typeface="Trebuchet MS"/>
              </a:rPr>
              <a:t>Geoms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2972619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20" dirty="0">
                <a:latin typeface="Courier New"/>
                <a:cs typeface="Courier New"/>
              </a:rPr>
              <a:t>geom</a:t>
            </a:r>
            <a:r>
              <a:rPr sz="2350" spc="-120" dirty="0">
                <a:latin typeface="Courier New"/>
                <a:cs typeface="Courier New"/>
              </a:rPr>
              <a:t>_*()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78384" y="1848359"/>
            <a:ext cx="3220720" cy="9525"/>
          </a:xfrm>
          <a:custGeom>
            <a:avLst/>
            <a:gdLst/>
            <a:ahLst/>
            <a:cxnLst/>
            <a:rect l="l" t="t" r="r" b="b"/>
            <a:pathLst>
              <a:path w="3220720" h="9525">
                <a:moveTo>
                  <a:pt x="3220337" y="9527"/>
                </a:moveTo>
                <a:lnTo>
                  <a:pt x="0" y="9527"/>
                </a:lnTo>
                <a:lnTo>
                  <a:pt x="0" y="0"/>
                </a:lnTo>
                <a:lnTo>
                  <a:pt x="3220337" y="0"/>
                </a:lnTo>
                <a:lnTo>
                  <a:pt x="3220337" y="9527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97436" y="2219947"/>
            <a:ext cx="3182620" cy="9525"/>
          </a:xfrm>
          <a:custGeom>
            <a:avLst/>
            <a:gdLst/>
            <a:ahLst/>
            <a:cxnLst/>
            <a:rect l="l" t="t" r="r" b="b"/>
            <a:pathLst>
              <a:path w="3182620" h="9525">
                <a:moveTo>
                  <a:pt x="1305280" y="0"/>
                </a:moveTo>
                <a:lnTo>
                  <a:pt x="0" y="0"/>
                </a:lnTo>
                <a:lnTo>
                  <a:pt x="0" y="9525"/>
                </a:lnTo>
                <a:lnTo>
                  <a:pt x="1305280" y="9525"/>
                </a:lnTo>
                <a:lnTo>
                  <a:pt x="1305280" y="0"/>
                </a:lnTo>
                <a:close/>
              </a:path>
              <a:path w="3182620" h="9525">
                <a:moveTo>
                  <a:pt x="3182226" y="0"/>
                </a:moveTo>
                <a:lnTo>
                  <a:pt x="1324343" y="0"/>
                </a:lnTo>
                <a:lnTo>
                  <a:pt x="1324343" y="9525"/>
                </a:lnTo>
                <a:lnTo>
                  <a:pt x="3182226" y="9525"/>
                </a:lnTo>
                <a:lnTo>
                  <a:pt x="318222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21779" y="2610569"/>
            <a:ext cx="1858010" cy="343535"/>
          </a:xfrm>
          <a:custGeom>
            <a:avLst/>
            <a:gdLst/>
            <a:ahLst/>
            <a:cxnLst/>
            <a:rect l="l" t="t" r="r" b="b"/>
            <a:pathLst>
              <a:path w="1858009" h="343535">
                <a:moveTo>
                  <a:pt x="1857886" y="342994"/>
                </a:moveTo>
                <a:lnTo>
                  <a:pt x="0" y="342994"/>
                </a:lnTo>
                <a:lnTo>
                  <a:pt x="0" y="0"/>
                </a:lnTo>
                <a:lnTo>
                  <a:pt x="1857886" y="0"/>
                </a:lnTo>
                <a:lnTo>
                  <a:pt x="1857886" y="34299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21779" y="3334668"/>
            <a:ext cx="1858010" cy="343535"/>
          </a:xfrm>
          <a:custGeom>
            <a:avLst/>
            <a:gdLst/>
            <a:ahLst/>
            <a:cxnLst/>
            <a:rect l="l" t="t" r="r" b="b"/>
            <a:pathLst>
              <a:path w="1858009" h="343535">
                <a:moveTo>
                  <a:pt x="1857886" y="342994"/>
                </a:moveTo>
                <a:lnTo>
                  <a:pt x="0" y="342994"/>
                </a:lnTo>
                <a:lnTo>
                  <a:pt x="0" y="0"/>
                </a:lnTo>
                <a:lnTo>
                  <a:pt x="1857886" y="0"/>
                </a:lnTo>
                <a:lnTo>
                  <a:pt x="1857886" y="34299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21779" y="4058768"/>
            <a:ext cx="1858010" cy="343535"/>
          </a:xfrm>
          <a:custGeom>
            <a:avLst/>
            <a:gdLst/>
            <a:ahLst/>
            <a:cxnLst/>
            <a:rect l="l" t="t" r="r" b="b"/>
            <a:pathLst>
              <a:path w="1858009" h="343535">
                <a:moveTo>
                  <a:pt x="1857886" y="342994"/>
                </a:moveTo>
                <a:lnTo>
                  <a:pt x="0" y="342994"/>
                </a:lnTo>
                <a:lnTo>
                  <a:pt x="0" y="0"/>
                </a:lnTo>
                <a:lnTo>
                  <a:pt x="1857886" y="0"/>
                </a:lnTo>
                <a:lnTo>
                  <a:pt x="1857886" y="34299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21779" y="4782867"/>
            <a:ext cx="1858010" cy="343535"/>
          </a:xfrm>
          <a:custGeom>
            <a:avLst/>
            <a:gdLst/>
            <a:ahLst/>
            <a:cxnLst/>
            <a:rect l="l" t="t" r="r" b="b"/>
            <a:pathLst>
              <a:path w="1858009" h="343535">
                <a:moveTo>
                  <a:pt x="1857886" y="342994"/>
                </a:moveTo>
                <a:lnTo>
                  <a:pt x="0" y="342994"/>
                </a:lnTo>
                <a:lnTo>
                  <a:pt x="0" y="0"/>
                </a:lnTo>
                <a:lnTo>
                  <a:pt x="1857886" y="0"/>
                </a:lnTo>
                <a:lnTo>
                  <a:pt x="1857886" y="34299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478384" y="5506967"/>
            <a:ext cx="3220720" cy="372110"/>
            <a:chOff x="5478384" y="5506967"/>
            <a:chExt cx="3220720" cy="372110"/>
          </a:xfrm>
        </p:grpSpPr>
        <p:sp>
          <p:nvSpPr>
            <p:cNvPr id="12" name="object 12"/>
            <p:cNvSpPr/>
            <p:nvPr/>
          </p:nvSpPr>
          <p:spPr>
            <a:xfrm>
              <a:off x="5478384" y="5869017"/>
              <a:ext cx="3220720" cy="9525"/>
            </a:xfrm>
            <a:custGeom>
              <a:avLst/>
              <a:gdLst/>
              <a:ahLst/>
              <a:cxnLst/>
              <a:rect l="l" t="t" r="r" b="b"/>
              <a:pathLst>
                <a:path w="3220720" h="9525">
                  <a:moveTo>
                    <a:pt x="3220337" y="9527"/>
                  </a:moveTo>
                  <a:lnTo>
                    <a:pt x="0" y="9527"/>
                  </a:lnTo>
                  <a:lnTo>
                    <a:pt x="0" y="0"/>
                  </a:lnTo>
                  <a:lnTo>
                    <a:pt x="3220337" y="0"/>
                  </a:lnTo>
                  <a:lnTo>
                    <a:pt x="3220337" y="952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21779" y="5506967"/>
              <a:ext cx="1858010" cy="343535"/>
            </a:xfrm>
            <a:custGeom>
              <a:avLst/>
              <a:gdLst/>
              <a:ahLst/>
              <a:cxnLst/>
              <a:rect l="l" t="t" r="r" b="b"/>
              <a:pathLst>
                <a:path w="1858009" h="343535">
                  <a:moveTo>
                    <a:pt x="1857886" y="342994"/>
                  </a:moveTo>
                  <a:lnTo>
                    <a:pt x="0" y="342994"/>
                  </a:lnTo>
                  <a:lnTo>
                    <a:pt x="0" y="0"/>
                  </a:lnTo>
                  <a:lnTo>
                    <a:pt x="1857886" y="0"/>
                  </a:lnTo>
                  <a:lnTo>
                    <a:pt x="1857886" y="34299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07597" y="1254474"/>
            <a:ext cx="533844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0" dirty="0">
                <a:latin typeface="Trebuchet MS"/>
                <a:cs typeface="Trebuchet MS"/>
              </a:rPr>
              <a:t>Here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-40" dirty="0">
                <a:latin typeface="Trebuchet MS"/>
                <a:cs typeface="Trebuchet MS"/>
              </a:rPr>
              <a:t>are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55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some</a:t>
            </a:r>
            <a:r>
              <a:rPr sz="1850" spc="-65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185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of</a:t>
            </a:r>
            <a:r>
              <a:rPr sz="1850" spc="-35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185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the</a:t>
            </a:r>
            <a:r>
              <a:rPr sz="1850" spc="-65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185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most widely</a:t>
            </a:r>
            <a:r>
              <a:rPr sz="1850" spc="-1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1850" spc="5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used</a:t>
            </a:r>
            <a:r>
              <a:rPr sz="1850" spc="-5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1850" spc="-1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geoms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97439" y="1876942"/>
            <a:ext cx="1305560" cy="3435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1300" b="1" spc="-20" dirty="0">
                <a:latin typeface="Trebuchet MS"/>
                <a:cs typeface="Trebuchet MS"/>
              </a:rPr>
              <a:t>Type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21779" y="1876942"/>
            <a:ext cx="1858010" cy="3435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53975" rIns="0" bIns="0" rtlCol="0">
            <a:spAutoFit/>
          </a:bodyPr>
          <a:lstStyle/>
          <a:p>
            <a:pPr marL="602615">
              <a:lnSpc>
                <a:spcPct val="100000"/>
              </a:lnSpc>
              <a:spcBef>
                <a:spcPts val="425"/>
              </a:spcBef>
            </a:pPr>
            <a:r>
              <a:rPr sz="1300" b="1" spc="-10" dirty="0">
                <a:latin typeface="Trebuchet MS"/>
                <a:cs typeface="Trebuchet MS"/>
              </a:rPr>
              <a:t>Function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44447" y="2288221"/>
            <a:ext cx="40640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0" dirty="0">
                <a:latin typeface="Trebuchet MS"/>
                <a:cs typeface="Trebuchet MS"/>
              </a:rPr>
              <a:t>Point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50522" y="2305685"/>
            <a:ext cx="991235" cy="238760"/>
          </a:xfrm>
          <a:custGeom>
            <a:avLst/>
            <a:gdLst/>
            <a:ahLst/>
            <a:cxnLst/>
            <a:rect l="l" t="t" r="r" b="b"/>
            <a:pathLst>
              <a:path w="991234" h="238760">
                <a:moveTo>
                  <a:pt x="966080" y="238190"/>
                </a:moveTo>
                <a:lnTo>
                  <a:pt x="24792" y="238190"/>
                </a:lnTo>
                <a:lnTo>
                  <a:pt x="21146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966080" y="0"/>
                </a:lnTo>
                <a:lnTo>
                  <a:pt x="990873" y="24792"/>
                </a:lnTo>
                <a:lnTo>
                  <a:pt x="990873" y="213397"/>
                </a:lnTo>
                <a:lnTo>
                  <a:pt x="969726" y="237464"/>
                </a:lnTo>
                <a:lnTo>
                  <a:pt x="966080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78315" y="2268213"/>
            <a:ext cx="944244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35" dirty="0">
                <a:latin typeface="Courier New"/>
                <a:cs typeface="Courier New"/>
              </a:rPr>
              <a:t>geom</a:t>
            </a:r>
            <a:r>
              <a:rPr sz="1450" spc="-135" dirty="0">
                <a:latin typeface="Courier New"/>
                <a:cs typeface="Courier New"/>
              </a:rPr>
              <a:t>_</a:t>
            </a:r>
            <a:r>
              <a:rPr sz="1150" spc="-135" dirty="0">
                <a:latin typeface="Courier New"/>
                <a:cs typeface="Courier New"/>
              </a:rPr>
              <a:t>point</a:t>
            </a:r>
            <a:r>
              <a:rPr sz="1450" spc="-135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97439" y="2610569"/>
            <a:ext cx="1305560" cy="3435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1300" spc="-20" dirty="0">
                <a:latin typeface="Trebuchet MS"/>
                <a:cs typeface="Trebuchet MS"/>
              </a:rPr>
              <a:t>Line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88632" y="2667735"/>
            <a:ext cx="915035" cy="238760"/>
          </a:xfrm>
          <a:custGeom>
            <a:avLst/>
            <a:gdLst/>
            <a:ahLst/>
            <a:cxnLst/>
            <a:rect l="l" t="t" r="r" b="b"/>
            <a:pathLst>
              <a:path w="915034" h="238760">
                <a:moveTo>
                  <a:pt x="889859" y="238190"/>
                </a:moveTo>
                <a:lnTo>
                  <a:pt x="24792" y="238190"/>
                </a:lnTo>
                <a:lnTo>
                  <a:pt x="21146" y="237465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889859" y="0"/>
                </a:lnTo>
                <a:lnTo>
                  <a:pt x="914652" y="24792"/>
                </a:lnTo>
                <a:lnTo>
                  <a:pt x="914652" y="213397"/>
                </a:lnTo>
                <a:lnTo>
                  <a:pt x="893505" y="237465"/>
                </a:lnTo>
                <a:lnTo>
                  <a:pt x="889859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21779" y="2630263"/>
            <a:ext cx="1858010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20"/>
              </a:spcBef>
            </a:pPr>
            <a:r>
              <a:rPr sz="1150" spc="-55" dirty="0">
                <a:latin typeface="Courier New"/>
                <a:cs typeface="Courier New"/>
              </a:rPr>
              <a:t>geom</a:t>
            </a:r>
            <a:r>
              <a:rPr sz="1450" spc="-55" dirty="0">
                <a:latin typeface="Courier New"/>
                <a:cs typeface="Courier New"/>
              </a:rPr>
              <a:t>_</a:t>
            </a:r>
            <a:r>
              <a:rPr sz="1150" spc="-55" dirty="0">
                <a:latin typeface="Courier New"/>
                <a:cs typeface="Courier New"/>
              </a:rPr>
              <a:t>line</a:t>
            </a:r>
            <a:r>
              <a:rPr sz="1450" spc="-55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11140" y="3012320"/>
            <a:ext cx="26924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25" dirty="0">
                <a:latin typeface="Trebuchet MS"/>
                <a:cs typeface="Trebuchet MS"/>
              </a:rPr>
              <a:t>Bar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69417" y="3029784"/>
            <a:ext cx="838835" cy="238760"/>
          </a:xfrm>
          <a:custGeom>
            <a:avLst/>
            <a:gdLst/>
            <a:ahLst/>
            <a:cxnLst/>
            <a:rect l="l" t="t" r="r" b="b"/>
            <a:pathLst>
              <a:path w="838834" h="238760">
                <a:moveTo>
                  <a:pt x="813638" y="238190"/>
                </a:moveTo>
                <a:lnTo>
                  <a:pt x="24792" y="238190"/>
                </a:lnTo>
                <a:lnTo>
                  <a:pt x="21146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813638" y="0"/>
                </a:lnTo>
                <a:lnTo>
                  <a:pt x="838431" y="24792"/>
                </a:lnTo>
                <a:lnTo>
                  <a:pt x="838431" y="213397"/>
                </a:lnTo>
                <a:lnTo>
                  <a:pt x="817284" y="237464"/>
                </a:lnTo>
                <a:lnTo>
                  <a:pt x="813638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93597" y="3029784"/>
            <a:ext cx="838835" cy="238760"/>
          </a:xfrm>
          <a:custGeom>
            <a:avLst/>
            <a:gdLst/>
            <a:ahLst/>
            <a:cxnLst/>
            <a:rect l="l" t="t" r="r" b="b"/>
            <a:pathLst>
              <a:path w="838834" h="238760">
                <a:moveTo>
                  <a:pt x="813638" y="238190"/>
                </a:moveTo>
                <a:lnTo>
                  <a:pt x="24792" y="238190"/>
                </a:lnTo>
                <a:lnTo>
                  <a:pt x="21146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813638" y="0"/>
                </a:lnTo>
                <a:lnTo>
                  <a:pt x="838431" y="24792"/>
                </a:lnTo>
                <a:lnTo>
                  <a:pt x="838431" y="213397"/>
                </a:lnTo>
                <a:lnTo>
                  <a:pt x="817284" y="237464"/>
                </a:lnTo>
                <a:lnTo>
                  <a:pt x="813638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892445" y="2992312"/>
            <a:ext cx="1715770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45" dirty="0">
                <a:latin typeface="Courier New"/>
                <a:cs typeface="Courier New"/>
              </a:rPr>
              <a:t>geom</a:t>
            </a:r>
            <a:r>
              <a:rPr sz="1450" spc="-145" dirty="0">
                <a:latin typeface="Courier New"/>
                <a:cs typeface="Courier New"/>
              </a:rPr>
              <a:t>_</a:t>
            </a:r>
            <a:r>
              <a:rPr sz="1150" spc="-145" dirty="0">
                <a:latin typeface="Courier New"/>
                <a:cs typeface="Courier New"/>
              </a:rPr>
              <a:t>bar</a:t>
            </a:r>
            <a:r>
              <a:rPr sz="1450" spc="-145" dirty="0">
                <a:latin typeface="Courier New"/>
                <a:cs typeface="Courier New"/>
              </a:rPr>
              <a:t>()</a:t>
            </a:r>
            <a:r>
              <a:rPr sz="1450" spc="-605" dirty="0">
                <a:latin typeface="Courier New"/>
                <a:cs typeface="Courier New"/>
              </a:rPr>
              <a:t> </a:t>
            </a:r>
            <a:r>
              <a:rPr sz="1300" dirty="0">
                <a:latin typeface="Trebuchet MS"/>
                <a:cs typeface="Trebuchet MS"/>
              </a:rPr>
              <a:t>,</a:t>
            </a:r>
            <a:r>
              <a:rPr sz="1300" spc="185" dirty="0">
                <a:latin typeface="Trebuchet MS"/>
                <a:cs typeface="Trebuchet MS"/>
              </a:rPr>
              <a:t> </a:t>
            </a:r>
            <a:r>
              <a:rPr sz="1150" spc="-145" dirty="0">
                <a:latin typeface="Courier New"/>
                <a:cs typeface="Courier New"/>
              </a:rPr>
              <a:t>geom</a:t>
            </a:r>
            <a:r>
              <a:rPr sz="1450" spc="-145" dirty="0">
                <a:latin typeface="Courier New"/>
                <a:cs typeface="Courier New"/>
              </a:rPr>
              <a:t>_</a:t>
            </a:r>
            <a:r>
              <a:rPr sz="1150" spc="-145" dirty="0">
                <a:latin typeface="Courier New"/>
                <a:cs typeface="Courier New"/>
              </a:rPr>
              <a:t>col</a:t>
            </a:r>
            <a:r>
              <a:rPr sz="1450" spc="-145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97439" y="3334668"/>
            <a:ext cx="1305560" cy="3435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5397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425"/>
              </a:spcBef>
            </a:pPr>
            <a:r>
              <a:rPr sz="1300" spc="-10" dirty="0">
                <a:latin typeface="Trebuchet MS"/>
                <a:cs typeface="Trebuchet MS"/>
              </a:rPr>
              <a:t>Histogram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98079" y="3391834"/>
            <a:ext cx="1296035" cy="238760"/>
          </a:xfrm>
          <a:custGeom>
            <a:avLst/>
            <a:gdLst/>
            <a:ahLst/>
            <a:cxnLst/>
            <a:rect l="l" t="t" r="r" b="b"/>
            <a:pathLst>
              <a:path w="1296034" h="238760">
                <a:moveTo>
                  <a:pt x="1270964" y="238190"/>
                </a:moveTo>
                <a:lnTo>
                  <a:pt x="24792" y="238190"/>
                </a:lnTo>
                <a:lnTo>
                  <a:pt x="21146" y="237465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1270964" y="0"/>
                </a:lnTo>
                <a:lnTo>
                  <a:pt x="1295757" y="24792"/>
                </a:lnTo>
                <a:lnTo>
                  <a:pt x="1295757" y="213397"/>
                </a:lnTo>
                <a:lnTo>
                  <a:pt x="1274610" y="237465"/>
                </a:lnTo>
                <a:lnTo>
                  <a:pt x="1270964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821779" y="3354362"/>
            <a:ext cx="1858010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120"/>
              </a:spcBef>
            </a:pPr>
            <a:r>
              <a:rPr sz="1150" spc="-65" dirty="0">
                <a:latin typeface="Courier New"/>
                <a:cs typeface="Courier New"/>
              </a:rPr>
              <a:t>geom</a:t>
            </a:r>
            <a:r>
              <a:rPr sz="1450" spc="-65" dirty="0">
                <a:latin typeface="Courier New"/>
                <a:cs typeface="Courier New"/>
              </a:rPr>
              <a:t>_</a:t>
            </a:r>
            <a:r>
              <a:rPr sz="1150" spc="-65" dirty="0">
                <a:latin typeface="Courier New"/>
                <a:cs typeface="Courier New"/>
              </a:rPr>
              <a:t>histogram</a:t>
            </a:r>
            <a:r>
              <a:rPr sz="1450" spc="-65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34839" y="3736420"/>
            <a:ext cx="82804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0" dirty="0">
                <a:latin typeface="Trebuchet MS"/>
                <a:cs typeface="Trebuchet MS"/>
              </a:rPr>
              <a:t>Regression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12411" y="3753884"/>
            <a:ext cx="1067435" cy="238760"/>
          </a:xfrm>
          <a:custGeom>
            <a:avLst/>
            <a:gdLst/>
            <a:ahLst/>
            <a:cxnLst/>
            <a:rect l="l" t="t" r="r" b="b"/>
            <a:pathLst>
              <a:path w="1067434" h="238760">
                <a:moveTo>
                  <a:pt x="1042301" y="238190"/>
                </a:moveTo>
                <a:lnTo>
                  <a:pt x="24792" y="238190"/>
                </a:lnTo>
                <a:lnTo>
                  <a:pt x="21145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1042301" y="0"/>
                </a:lnTo>
                <a:lnTo>
                  <a:pt x="1067094" y="24792"/>
                </a:lnTo>
                <a:lnTo>
                  <a:pt x="1067094" y="213397"/>
                </a:lnTo>
                <a:lnTo>
                  <a:pt x="1045947" y="237464"/>
                </a:lnTo>
                <a:lnTo>
                  <a:pt x="1042301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240204" y="3716412"/>
            <a:ext cx="1020444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30" dirty="0">
                <a:latin typeface="Courier New"/>
                <a:cs typeface="Courier New"/>
              </a:rPr>
              <a:t>geom</a:t>
            </a:r>
            <a:r>
              <a:rPr sz="1450" spc="-130" dirty="0">
                <a:latin typeface="Courier New"/>
                <a:cs typeface="Courier New"/>
              </a:rPr>
              <a:t>_</a:t>
            </a:r>
            <a:r>
              <a:rPr sz="1150" spc="-130" dirty="0">
                <a:latin typeface="Courier New"/>
                <a:cs typeface="Courier New"/>
              </a:rPr>
              <a:t>smooth</a:t>
            </a:r>
            <a:r>
              <a:rPr sz="1450" spc="-130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97439" y="4058768"/>
            <a:ext cx="1305560" cy="3435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53975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425"/>
              </a:spcBef>
            </a:pPr>
            <a:r>
              <a:rPr sz="1300" spc="-10" dirty="0">
                <a:latin typeface="Trebuchet MS"/>
                <a:cs typeface="Trebuchet MS"/>
              </a:rPr>
              <a:t>Boxplot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74300" y="4115934"/>
            <a:ext cx="1143635" cy="238760"/>
          </a:xfrm>
          <a:custGeom>
            <a:avLst/>
            <a:gdLst/>
            <a:ahLst/>
            <a:cxnLst/>
            <a:rect l="l" t="t" r="r" b="b"/>
            <a:pathLst>
              <a:path w="1143634" h="238760">
                <a:moveTo>
                  <a:pt x="1118522" y="238190"/>
                </a:moveTo>
                <a:lnTo>
                  <a:pt x="24792" y="238190"/>
                </a:lnTo>
                <a:lnTo>
                  <a:pt x="21146" y="237465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1118522" y="0"/>
                </a:lnTo>
                <a:lnTo>
                  <a:pt x="1143315" y="24792"/>
                </a:lnTo>
                <a:lnTo>
                  <a:pt x="1143315" y="213397"/>
                </a:lnTo>
                <a:lnTo>
                  <a:pt x="1122168" y="237465"/>
                </a:lnTo>
                <a:lnTo>
                  <a:pt x="1118522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821779" y="4078462"/>
            <a:ext cx="1858010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120"/>
              </a:spcBef>
            </a:pPr>
            <a:r>
              <a:rPr sz="1150" spc="-60" dirty="0">
                <a:latin typeface="Courier New"/>
                <a:cs typeface="Courier New"/>
              </a:rPr>
              <a:t>geom</a:t>
            </a:r>
            <a:r>
              <a:rPr sz="1450" spc="-60" dirty="0">
                <a:latin typeface="Courier New"/>
                <a:cs typeface="Courier New"/>
              </a:rPr>
              <a:t>_</a:t>
            </a:r>
            <a:r>
              <a:rPr sz="1150" spc="-60" dirty="0">
                <a:latin typeface="Courier New"/>
                <a:cs typeface="Courier New"/>
              </a:rPr>
              <a:t>boxplot</a:t>
            </a:r>
            <a:r>
              <a:rPr sz="1450" spc="-60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87321" y="4460519"/>
            <a:ext cx="32067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70" dirty="0">
                <a:latin typeface="Trebuchet MS"/>
                <a:cs typeface="Trebuchet MS"/>
              </a:rPr>
              <a:t>Text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88632" y="4477984"/>
            <a:ext cx="915035" cy="238760"/>
          </a:xfrm>
          <a:custGeom>
            <a:avLst/>
            <a:gdLst/>
            <a:ahLst/>
            <a:cxnLst/>
            <a:rect l="l" t="t" r="r" b="b"/>
            <a:pathLst>
              <a:path w="915034" h="238760">
                <a:moveTo>
                  <a:pt x="889859" y="238190"/>
                </a:moveTo>
                <a:lnTo>
                  <a:pt x="24792" y="238190"/>
                </a:lnTo>
                <a:lnTo>
                  <a:pt x="21146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2" y="0"/>
                </a:lnTo>
                <a:lnTo>
                  <a:pt x="889859" y="0"/>
                </a:lnTo>
                <a:lnTo>
                  <a:pt x="914652" y="24792"/>
                </a:lnTo>
                <a:lnTo>
                  <a:pt x="914652" y="213397"/>
                </a:lnTo>
                <a:lnTo>
                  <a:pt x="893505" y="237464"/>
                </a:lnTo>
                <a:lnTo>
                  <a:pt x="889859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316425" y="4440511"/>
            <a:ext cx="868044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40" dirty="0">
                <a:latin typeface="Courier New"/>
                <a:cs typeface="Courier New"/>
              </a:rPr>
              <a:t>geom</a:t>
            </a:r>
            <a:r>
              <a:rPr sz="1450" spc="-140" dirty="0">
                <a:latin typeface="Courier New"/>
                <a:cs typeface="Courier New"/>
              </a:rPr>
              <a:t>_</a:t>
            </a:r>
            <a:r>
              <a:rPr sz="1150" spc="-140" dirty="0">
                <a:latin typeface="Courier New"/>
                <a:cs typeface="Courier New"/>
              </a:rPr>
              <a:t>text</a:t>
            </a:r>
            <a:r>
              <a:rPr sz="1450" spc="-140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97439" y="4782867"/>
            <a:ext cx="1305560" cy="3435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5397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425"/>
              </a:spcBef>
            </a:pPr>
            <a:r>
              <a:rPr sz="1300" spc="-40" dirty="0">
                <a:latin typeface="Trebuchet MS"/>
                <a:cs typeface="Trebuchet MS"/>
              </a:rPr>
              <a:t>Vert./Horiz.</a:t>
            </a:r>
            <a:r>
              <a:rPr sz="1300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Line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136191" y="4840033"/>
            <a:ext cx="1219835" cy="238760"/>
          </a:xfrm>
          <a:custGeom>
            <a:avLst/>
            <a:gdLst/>
            <a:ahLst/>
            <a:cxnLst/>
            <a:rect l="l" t="t" r="r" b="b"/>
            <a:pathLst>
              <a:path w="1219834" h="238760">
                <a:moveTo>
                  <a:pt x="1194742" y="238190"/>
                </a:moveTo>
                <a:lnTo>
                  <a:pt x="24791" y="238190"/>
                </a:lnTo>
                <a:lnTo>
                  <a:pt x="21145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2"/>
                </a:lnTo>
                <a:lnTo>
                  <a:pt x="24791" y="0"/>
                </a:lnTo>
                <a:lnTo>
                  <a:pt x="1194742" y="0"/>
                </a:lnTo>
                <a:lnTo>
                  <a:pt x="1219534" y="24792"/>
                </a:lnTo>
                <a:lnTo>
                  <a:pt x="1219534" y="213397"/>
                </a:lnTo>
                <a:lnTo>
                  <a:pt x="1198388" y="237464"/>
                </a:lnTo>
                <a:lnTo>
                  <a:pt x="1194742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821779" y="4802561"/>
            <a:ext cx="1858010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4330">
              <a:lnSpc>
                <a:spcPct val="100000"/>
              </a:lnSpc>
              <a:spcBef>
                <a:spcPts val="120"/>
              </a:spcBef>
            </a:pPr>
            <a:r>
              <a:rPr sz="1150" spc="-85" dirty="0">
                <a:latin typeface="Courier New"/>
                <a:cs typeface="Courier New"/>
              </a:rPr>
              <a:t>geom</a:t>
            </a:r>
            <a:r>
              <a:rPr sz="1450" spc="-85" dirty="0">
                <a:latin typeface="Courier New"/>
                <a:cs typeface="Courier New"/>
              </a:rPr>
              <a:t>_{</a:t>
            </a:r>
            <a:r>
              <a:rPr sz="1150" spc="-85" dirty="0">
                <a:latin typeface="Courier New"/>
                <a:cs typeface="Courier New"/>
              </a:rPr>
              <a:t>vh</a:t>
            </a:r>
            <a:r>
              <a:rPr sz="1450" spc="-85" dirty="0">
                <a:latin typeface="Courier New"/>
                <a:cs typeface="Courier New"/>
              </a:rPr>
              <a:t>}</a:t>
            </a:r>
            <a:r>
              <a:rPr sz="1150" spc="-85" dirty="0">
                <a:latin typeface="Courier New"/>
                <a:cs typeface="Courier New"/>
              </a:rPr>
              <a:t>line</a:t>
            </a:r>
            <a:r>
              <a:rPr sz="1450" spc="-85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15864" y="5184619"/>
            <a:ext cx="46355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0" dirty="0">
                <a:latin typeface="Trebuchet MS"/>
                <a:cs typeface="Trebuchet MS"/>
              </a:rPr>
              <a:t>Count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250522" y="5202083"/>
            <a:ext cx="991235" cy="238760"/>
          </a:xfrm>
          <a:custGeom>
            <a:avLst/>
            <a:gdLst/>
            <a:ahLst/>
            <a:cxnLst/>
            <a:rect l="l" t="t" r="r" b="b"/>
            <a:pathLst>
              <a:path w="991234" h="238760">
                <a:moveTo>
                  <a:pt x="966080" y="238190"/>
                </a:moveTo>
                <a:lnTo>
                  <a:pt x="24792" y="238190"/>
                </a:lnTo>
                <a:lnTo>
                  <a:pt x="21146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1"/>
                </a:lnTo>
                <a:lnTo>
                  <a:pt x="24792" y="0"/>
                </a:lnTo>
                <a:lnTo>
                  <a:pt x="966080" y="0"/>
                </a:lnTo>
                <a:lnTo>
                  <a:pt x="990873" y="24791"/>
                </a:lnTo>
                <a:lnTo>
                  <a:pt x="990873" y="213397"/>
                </a:lnTo>
                <a:lnTo>
                  <a:pt x="969726" y="237464"/>
                </a:lnTo>
                <a:lnTo>
                  <a:pt x="966080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278315" y="5164611"/>
            <a:ext cx="944244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35" dirty="0">
                <a:latin typeface="Courier New"/>
                <a:cs typeface="Courier New"/>
              </a:rPr>
              <a:t>geom</a:t>
            </a:r>
            <a:r>
              <a:rPr sz="1450" spc="-135" dirty="0">
                <a:latin typeface="Courier New"/>
                <a:cs typeface="Courier New"/>
              </a:rPr>
              <a:t>_</a:t>
            </a:r>
            <a:r>
              <a:rPr sz="1150" spc="-135" dirty="0">
                <a:latin typeface="Courier New"/>
                <a:cs typeface="Courier New"/>
              </a:rPr>
              <a:t>count</a:t>
            </a:r>
            <a:r>
              <a:rPr sz="1450" spc="-135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97439" y="5506967"/>
            <a:ext cx="1305560" cy="3435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5397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425"/>
              </a:spcBef>
            </a:pPr>
            <a:r>
              <a:rPr sz="1300" spc="-10" dirty="0">
                <a:latin typeface="Trebuchet MS"/>
                <a:cs typeface="Trebuchet MS"/>
              </a:rPr>
              <a:t>Density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174300" y="5564133"/>
            <a:ext cx="1143635" cy="238760"/>
          </a:xfrm>
          <a:custGeom>
            <a:avLst/>
            <a:gdLst/>
            <a:ahLst/>
            <a:cxnLst/>
            <a:rect l="l" t="t" r="r" b="b"/>
            <a:pathLst>
              <a:path w="1143634" h="238760">
                <a:moveTo>
                  <a:pt x="1118522" y="238190"/>
                </a:moveTo>
                <a:lnTo>
                  <a:pt x="24792" y="238190"/>
                </a:lnTo>
                <a:lnTo>
                  <a:pt x="21146" y="237464"/>
                </a:lnTo>
                <a:lnTo>
                  <a:pt x="0" y="213397"/>
                </a:lnTo>
                <a:lnTo>
                  <a:pt x="0" y="209607"/>
                </a:lnTo>
                <a:lnTo>
                  <a:pt x="0" y="24791"/>
                </a:lnTo>
                <a:lnTo>
                  <a:pt x="24792" y="0"/>
                </a:lnTo>
                <a:lnTo>
                  <a:pt x="1118522" y="0"/>
                </a:lnTo>
                <a:lnTo>
                  <a:pt x="1143315" y="24791"/>
                </a:lnTo>
                <a:lnTo>
                  <a:pt x="1143315" y="213397"/>
                </a:lnTo>
                <a:lnTo>
                  <a:pt x="1122168" y="237464"/>
                </a:lnTo>
                <a:lnTo>
                  <a:pt x="1118522" y="238190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821779" y="5499672"/>
            <a:ext cx="185801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130"/>
              </a:spcBef>
            </a:pPr>
            <a:r>
              <a:rPr sz="1150" spc="-80" dirty="0">
                <a:latin typeface="Courier New"/>
                <a:cs typeface="Courier New"/>
              </a:rPr>
              <a:t>geom</a:t>
            </a:r>
            <a:r>
              <a:rPr sz="1450" spc="-80" dirty="0">
                <a:latin typeface="Courier New"/>
                <a:cs typeface="Courier New"/>
              </a:rPr>
              <a:t>_</a:t>
            </a:r>
            <a:r>
              <a:rPr sz="1150" spc="-80" dirty="0">
                <a:latin typeface="Courier New"/>
                <a:cs typeface="Courier New"/>
              </a:rPr>
              <a:t>densit</a:t>
            </a:r>
            <a:r>
              <a:rPr sz="1650" spc="-80" dirty="0">
                <a:latin typeface="Courier New"/>
                <a:cs typeface="Courier New"/>
              </a:rPr>
              <a:t>y</a:t>
            </a:r>
            <a:r>
              <a:rPr sz="1450" spc="-80" dirty="0">
                <a:latin typeface="Courier New"/>
                <a:cs typeface="Courier New"/>
              </a:rPr>
              <a:t>()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24871" y="6052943"/>
            <a:ext cx="4923790" cy="22606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00" spc="-5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https://eric.netlify.com/2017/08/10/most-</a:t>
            </a:r>
            <a:r>
              <a:rPr sz="130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popular-</a:t>
            </a:r>
            <a:r>
              <a:rPr sz="1300" spc="-10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ggplot2-geoms/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1740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</a:t>
            </a:r>
            <a:r>
              <a:rPr sz="2600" spc="-10" dirty="0">
                <a:latin typeface="Trebuchet MS"/>
                <a:cs typeface="Trebuchet MS"/>
              </a:rPr>
              <a:t>Geoms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76381" y="2972619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9207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725"/>
              </a:spcBef>
            </a:pPr>
            <a:r>
              <a:rPr sz="1750" dirty="0">
                <a:latin typeface="Courier New"/>
                <a:cs typeface="Courier New"/>
              </a:rPr>
              <a:t>+</a:t>
            </a:r>
            <a:r>
              <a:rPr sz="1750" spc="-1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geom</a:t>
            </a:r>
            <a:r>
              <a:rPr sz="1750" spc="-10" dirty="0">
                <a:latin typeface="Courier New"/>
                <a:cs typeface="Courier New"/>
              </a:rPr>
              <a:t>_*()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254474"/>
            <a:ext cx="708215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rebuchet MS"/>
                <a:cs typeface="Trebuchet MS"/>
              </a:rPr>
              <a:t>See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45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http://ggplot2.tidyverse.org/reference/</a:t>
            </a:r>
            <a:r>
              <a:rPr sz="1850" dirty="0">
                <a:solidFill>
                  <a:srgbClr val="F82571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many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more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spc="40" dirty="0">
                <a:latin typeface="Trebuchet MS"/>
                <a:cs typeface="Trebuchet MS"/>
              </a:rPr>
              <a:t>options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3345" y="1828616"/>
            <a:ext cx="62896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9875" algn="l"/>
                <a:tab pos="2155825" algn="l"/>
                <a:tab pos="3699510" algn="l"/>
                <a:tab pos="5243195" algn="l"/>
              </a:tabLst>
            </a:pPr>
            <a:r>
              <a:rPr sz="1200" spc="-50" dirty="0">
                <a:latin typeface="Courier New"/>
                <a:cs typeface="Courier New"/>
              </a:rPr>
              <a:t>#</a:t>
            </a:r>
            <a:r>
              <a:rPr sz="1200" dirty="0">
                <a:latin typeface="Courier New"/>
                <a:cs typeface="Courier New"/>
              </a:rPr>
              <a:t>	</a:t>
            </a:r>
            <a:r>
              <a:rPr sz="1250" spc="-65" dirty="0">
                <a:latin typeface="Courier New"/>
                <a:cs typeface="Courier New"/>
              </a:rPr>
              <a:t>[1]</a:t>
            </a:r>
            <a:r>
              <a:rPr sz="1250" spc="-120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geom</a:t>
            </a:r>
            <a:r>
              <a:rPr sz="1250" spc="-10" dirty="0">
                <a:latin typeface="Courier New"/>
                <a:cs typeface="Courier New"/>
              </a:rPr>
              <a:t>_</a:t>
            </a:r>
            <a:r>
              <a:rPr sz="1300" spc="-10" dirty="0">
                <a:latin typeface="Courier New"/>
                <a:cs typeface="Courier New"/>
              </a:rPr>
              <a:t>abline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250" dirty="0">
                <a:latin typeface="Courier New"/>
                <a:cs typeface="Courier New"/>
              </a:rPr>
              <a:t>	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geom</a:t>
            </a:r>
            <a:r>
              <a:rPr sz="1250" spc="-10" dirty="0">
                <a:latin typeface="Courier New"/>
                <a:cs typeface="Courier New"/>
              </a:rPr>
              <a:t>_</a:t>
            </a:r>
            <a:r>
              <a:rPr sz="1300" spc="-10" dirty="0">
                <a:latin typeface="Courier New"/>
                <a:cs typeface="Courier New"/>
              </a:rPr>
              <a:t>area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250" dirty="0">
                <a:latin typeface="Courier New"/>
                <a:cs typeface="Courier New"/>
              </a:rPr>
              <a:t>	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geom</a:t>
            </a:r>
            <a:r>
              <a:rPr sz="1250" spc="-10" dirty="0">
                <a:latin typeface="Courier New"/>
                <a:cs typeface="Courier New"/>
              </a:rPr>
              <a:t>_</a:t>
            </a:r>
            <a:r>
              <a:rPr sz="1300" spc="-10" dirty="0">
                <a:latin typeface="Courier New"/>
                <a:cs typeface="Courier New"/>
              </a:rPr>
              <a:t>bar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250" dirty="0">
                <a:latin typeface="Courier New"/>
                <a:cs typeface="Courier New"/>
              </a:rPr>
              <a:t>	</a:t>
            </a:r>
            <a:r>
              <a:rPr sz="1250" spc="-90" dirty="0">
                <a:latin typeface="Courier New"/>
                <a:cs typeface="Courier New"/>
              </a:rPr>
              <a:t>"</a:t>
            </a:r>
            <a:r>
              <a:rPr sz="1300" spc="-90" dirty="0">
                <a:latin typeface="Courier New"/>
                <a:cs typeface="Courier New"/>
              </a:rPr>
              <a:t>geom</a:t>
            </a:r>
            <a:r>
              <a:rPr sz="1250" spc="-90" dirty="0">
                <a:latin typeface="Courier New"/>
                <a:cs typeface="Courier New"/>
              </a:rPr>
              <a:t>_</a:t>
            </a:r>
            <a:r>
              <a:rPr sz="1300" spc="-90" dirty="0">
                <a:latin typeface="Courier New"/>
                <a:cs typeface="Courier New"/>
              </a:rPr>
              <a:t>bin</a:t>
            </a:r>
            <a:r>
              <a:rPr sz="1250" spc="-90" dirty="0">
                <a:latin typeface="Courier New"/>
                <a:cs typeface="Courier New"/>
              </a:rPr>
              <a:t>2</a:t>
            </a:r>
            <a:r>
              <a:rPr sz="1300" spc="-90" dirty="0">
                <a:latin typeface="Courier New"/>
                <a:cs typeface="Courier New"/>
              </a:rPr>
              <a:t>d</a:t>
            </a:r>
            <a:r>
              <a:rPr sz="1250" spc="-90" dirty="0">
                <a:latin typeface="Courier New"/>
                <a:cs typeface="Courier New"/>
              </a:rPr>
              <a:t>"</a:t>
            </a:r>
            <a:endParaRPr sz="125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174295" y="2071901"/>
          <a:ext cx="6668768" cy="2422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6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99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00"/>
                        </a:lnSpc>
                      </a:pPr>
                      <a:r>
                        <a:rPr sz="1250" spc="-65" dirty="0">
                          <a:latin typeface="Courier New"/>
                          <a:cs typeface="Courier New"/>
                        </a:rPr>
                        <a:t>[5]</a:t>
                      </a:r>
                      <a:r>
                        <a:rPr sz="125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blank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00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boxplot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00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col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00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contour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65" dirty="0">
                          <a:latin typeface="Courier New"/>
                          <a:cs typeface="Courier New"/>
                        </a:rPr>
                        <a:t>[9]</a:t>
                      </a:r>
                      <a:r>
                        <a:rPr sz="125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count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crossbar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curve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90"/>
                        </a:lnSpc>
                      </a:pP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densit</a:t>
                      </a:r>
                      <a:r>
                        <a:rPr sz="1900" spc="-6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2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90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[13]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5" dirty="0">
                          <a:latin typeface="Courier New"/>
                          <a:cs typeface="Courier New"/>
                        </a:rPr>
                        <a:t>densit</a:t>
                      </a:r>
                      <a:r>
                        <a:rPr sz="1900" spc="-105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_2</a:t>
                      </a:r>
                      <a:r>
                        <a:rPr sz="1300" spc="-10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90"/>
                        </a:lnSpc>
                      </a:pP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densit</a:t>
                      </a:r>
                      <a:r>
                        <a:rPr sz="1900" spc="-85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00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dotplot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00"/>
                        </a:lnSpc>
                      </a:pP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errorbar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[17]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errorbarh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625"/>
                        </a:lnSpc>
                      </a:pPr>
                      <a:r>
                        <a:rPr sz="1250" spc="-6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6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6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65" dirty="0">
                          <a:latin typeface="Courier New"/>
                          <a:cs typeface="Courier New"/>
                        </a:rPr>
                        <a:t>freqpol</a:t>
                      </a:r>
                      <a:r>
                        <a:rPr sz="1900" spc="-65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6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hex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9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9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9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90" dirty="0">
                          <a:latin typeface="Courier New"/>
                          <a:cs typeface="Courier New"/>
                        </a:rPr>
                        <a:t>histogram</a:t>
                      </a:r>
                      <a:r>
                        <a:rPr sz="1250" spc="-9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[21]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hline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jitter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label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line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[25]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linerange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map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path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point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[29]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pointrange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625"/>
                        </a:lnSpc>
                      </a:pP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pol</a:t>
                      </a:r>
                      <a:r>
                        <a:rPr sz="1900" spc="-6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gon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qq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qq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line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[33]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quantile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raster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rect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ribbon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[37]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rug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segment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sf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sf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label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[41]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sf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text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smooth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spoke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step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99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[45]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text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tile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violin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vline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1740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</a:t>
            </a:r>
            <a:r>
              <a:rPr sz="2600" spc="-10" dirty="0">
                <a:latin typeface="Trebuchet MS"/>
                <a:cs typeface="Trebuchet MS"/>
              </a:rPr>
              <a:t>Geoms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2972619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9207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725"/>
              </a:spcBef>
            </a:pPr>
            <a:r>
              <a:rPr sz="1750" dirty="0">
                <a:latin typeface="Courier New"/>
                <a:cs typeface="Courier New"/>
              </a:rPr>
              <a:t>+</a:t>
            </a:r>
            <a:r>
              <a:rPr sz="1750" spc="-1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geom</a:t>
            </a:r>
            <a:r>
              <a:rPr sz="1750" spc="-10" dirty="0">
                <a:latin typeface="Courier New"/>
                <a:cs typeface="Courier New"/>
              </a:rPr>
              <a:t>_*()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254474"/>
            <a:ext cx="708215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rebuchet MS"/>
                <a:cs typeface="Trebuchet MS"/>
              </a:rPr>
              <a:t>See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45" dirty="0">
                <a:solidFill>
                  <a:srgbClr val="F82571"/>
                </a:solidFill>
                <a:latin typeface="Trebuchet MS"/>
                <a:cs typeface="Trebuchet MS"/>
                <a:hlinkClick r:id="rId3"/>
              </a:rPr>
              <a:t>http://ggplot2.tidyverse.org/reference/</a:t>
            </a:r>
            <a:r>
              <a:rPr sz="1850" dirty="0">
                <a:solidFill>
                  <a:srgbClr val="F82571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for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many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more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spc="40" dirty="0">
                <a:latin typeface="Trebuchet MS"/>
                <a:cs typeface="Trebuchet MS"/>
              </a:rPr>
              <a:t>options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3345" y="1828616"/>
            <a:ext cx="62896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9875" algn="l"/>
                <a:tab pos="2155825" algn="l"/>
                <a:tab pos="3699510" algn="l"/>
                <a:tab pos="5243195" algn="l"/>
              </a:tabLst>
            </a:pPr>
            <a:r>
              <a:rPr sz="1200" spc="-50" dirty="0">
                <a:latin typeface="Courier New"/>
                <a:cs typeface="Courier New"/>
              </a:rPr>
              <a:t>#</a:t>
            </a:r>
            <a:r>
              <a:rPr sz="1200" dirty="0">
                <a:latin typeface="Courier New"/>
                <a:cs typeface="Courier New"/>
              </a:rPr>
              <a:t>	</a:t>
            </a:r>
            <a:r>
              <a:rPr sz="1250" spc="-65" dirty="0">
                <a:latin typeface="Courier New"/>
                <a:cs typeface="Courier New"/>
              </a:rPr>
              <a:t>[1]</a:t>
            </a:r>
            <a:r>
              <a:rPr sz="1250" spc="-120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geom</a:t>
            </a:r>
            <a:r>
              <a:rPr sz="1250" spc="-10" dirty="0">
                <a:latin typeface="Courier New"/>
                <a:cs typeface="Courier New"/>
              </a:rPr>
              <a:t>_</a:t>
            </a:r>
            <a:r>
              <a:rPr sz="1300" spc="-10" dirty="0">
                <a:latin typeface="Courier New"/>
                <a:cs typeface="Courier New"/>
              </a:rPr>
              <a:t>abline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250" dirty="0">
                <a:latin typeface="Courier New"/>
                <a:cs typeface="Courier New"/>
              </a:rPr>
              <a:t>	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geom</a:t>
            </a:r>
            <a:r>
              <a:rPr sz="1250" spc="-10" dirty="0">
                <a:latin typeface="Courier New"/>
                <a:cs typeface="Courier New"/>
              </a:rPr>
              <a:t>_</a:t>
            </a:r>
            <a:r>
              <a:rPr sz="1300" spc="-10" dirty="0">
                <a:latin typeface="Courier New"/>
                <a:cs typeface="Courier New"/>
              </a:rPr>
              <a:t>area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250" dirty="0">
                <a:latin typeface="Courier New"/>
                <a:cs typeface="Courier New"/>
              </a:rPr>
              <a:t>	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geom</a:t>
            </a:r>
            <a:r>
              <a:rPr sz="1250" spc="-10" dirty="0">
                <a:latin typeface="Courier New"/>
                <a:cs typeface="Courier New"/>
              </a:rPr>
              <a:t>_</a:t>
            </a:r>
            <a:r>
              <a:rPr sz="1300" spc="-10" dirty="0">
                <a:latin typeface="Courier New"/>
                <a:cs typeface="Courier New"/>
              </a:rPr>
              <a:t>bar</a:t>
            </a:r>
            <a:r>
              <a:rPr sz="1250" spc="-10" dirty="0">
                <a:latin typeface="Courier New"/>
                <a:cs typeface="Courier New"/>
              </a:rPr>
              <a:t>"</a:t>
            </a:r>
            <a:r>
              <a:rPr sz="1250" dirty="0">
                <a:latin typeface="Courier New"/>
                <a:cs typeface="Courier New"/>
              </a:rPr>
              <a:t>	</a:t>
            </a:r>
            <a:r>
              <a:rPr sz="1250" spc="-90" dirty="0">
                <a:latin typeface="Courier New"/>
                <a:cs typeface="Courier New"/>
              </a:rPr>
              <a:t>"</a:t>
            </a:r>
            <a:r>
              <a:rPr sz="1300" spc="-90" dirty="0">
                <a:latin typeface="Courier New"/>
                <a:cs typeface="Courier New"/>
              </a:rPr>
              <a:t>geom</a:t>
            </a:r>
            <a:r>
              <a:rPr sz="1250" spc="-90" dirty="0">
                <a:latin typeface="Courier New"/>
                <a:cs typeface="Courier New"/>
              </a:rPr>
              <a:t>_</a:t>
            </a:r>
            <a:r>
              <a:rPr sz="1300" spc="-90" dirty="0">
                <a:latin typeface="Courier New"/>
                <a:cs typeface="Courier New"/>
              </a:rPr>
              <a:t>bin</a:t>
            </a:r>
            <a:r>
              <a:rPr sz="1250" spc="-90" dirty="0">
                <a:latin typeface="Courier New"/>
                <a:cs typeface="Courier New"/>
              </a:rPr>
              <a:t>2</a:t>
            </a:r>
            <a:r>
              <a:rPr sz="1300" spc="-90" dirty="0">
                <a:latin typeface="Courier New"/>
                <a:cs typeface="Courier New"/>
              </a:rPr>
              <a:t>d</a:t>
            </a:r>
            <a:r>
              <a:rPr sz="1250" spc="-90" dirty="0">
                <a:latin typeface="Courier New"/>
                <a:cs typeface="Courier New"/>
              </a:rPr>
              <a:t>"</a:t>
            </a:r>
            <a:endParaRPr sz="125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174295" y="2071901"/>
          <a:ext cx="6668768" cy="2422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6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99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00"/>
                        </a:lnSpc>
                      </a:pPr>
                      <a:r>
                        <a:rPr sz="1250" spc="-65" dirty="0">
                          <a:latin typeface="Courier New"/>
                          <a:cs typeface="Courier New"/>
                        </a:rPr>
                        <a:t>[5]</a:t>
                      </a:r>
                      <a:r>
                        <a:rPr sz="125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blank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00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boxplot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00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col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00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contour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65" dirty="0">
                          <a:latin typeface="Courier New"/>
                          <a:cs typeface="Courier New"/>
                        </a:rPr>
                        <a:t>[9]</a:t>
                      </a:r>
                      <a:r>
                        <a:rPr sz="125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count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crossbar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curve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90"/>
                        </a:lnSpc>
                      </a:pP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densit</a:t>
                      </a:r>
                      <a:r>
                        <a:rPr sz="1900" spc="-6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2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90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[13]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5" dirty="0">
                          <a:latin typeface="Courier New"/>
                          <a:cs typeface="Courier New"/>
                        </a:rPr>
                        <a:t>densit</a:t>
                      </a:r>
                      <a:r>
                        <a:rPr sz="1900" spc="-105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_2</a:t>
                      </a:r>
                      <a:r>
                        <a:rPr sz="1300" spc="-10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250" spc="-10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90"/>
                        </a:lnSpc>
                      </a:pP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densit</a:t>
                      </a:r>
                      <a:r>
                        <a:rPr sz="1900" spc="-85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00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dotplot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00"/>
                        </a:lnSpc>
                      </a:pP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errorbar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[17]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errorbarh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625"/>
                        </a:lnSpc>
                      </a:pPr>
                      <a:r>
                        <a:rPr sz="1250" spc="-6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6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6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65" dirty="0">
                          <a:latin typeface="Courier New"/>
                          <a:cs typeface="Courier New"/>
                        </a:rPr>
                        <a:t>freqpol</a:t>
                      </a:r>
                      <a:r>
                        <a:rPr sz="1900" spc="-65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50" spc="-6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hex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9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9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9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90" dirty="0">
                          <a:latin typeface="Courier New"/>
                          <a:cs typeface="Courier New"/>
                        </a:rPr>
                        <a:t>histogram</a:t>
                      </a:r>
                      <a:r>
                        <a:rPr sz="1250" spc="-9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[21]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hline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jitter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label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line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[25]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linerange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map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path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point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[29]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85" dirty="0">
                          <a:latin typeface="Courier New"/>
                          <a:cs typeface="Courier New"/>
                        </a:rPr>
                        <a:t>pointrange</a:t>
                      </a:r>
                      <a:r>
                        <a:rPr sz="1250" spc="-8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625"/>
                        </a:lnSpc>
                      </a:pP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pol</a:t>
                      </a:r>
                      <a:r>
                        <a:rPr sz="1900" spc="-6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300" spc="-60" dirty="0">
                          <a:latin typeface="Courier New"/>
                          <a:cs typeface="Courier New"/>
                        </a:rPr>
                        <a:t>gon</a:t>
                      </a:r>
                      <a:r>
                        <a:rPr sz="1250" spc="-6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qq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qq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line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[33]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quantile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raster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rect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ribbon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[37]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rug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segment</a:t>
                      </a:r>
                      <a:r>
                        <a:rPr sz="1250" spc="-35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sf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sf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40" dirty="0">
                          <a:latin typeface="Courier New"/>
                          <a:cs typeface="Courier New"/>
                        </a:rPr>
                        <a:t>label</a:t>
                      </a:r>
                      <a:r>
                        <a:rPr sz="1250" spc="-4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[41]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sf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text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smooth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spoke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step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99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2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70" dirty="0">
                          <a:latin typeface="Courier New"/>
                          <a:cs typeface="Courier New"/>
                        </a:rPr>
                        <a:t>[45]</a:t>
                      </a:r>
                      <a:r>
                        <a:rPr sz="125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text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535"/>
                        </a:lnSpc>
                      </a:pP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tile</a:t>
                      </a:r>
                      <a:r>
                        <a:rPr sz="1250" spc="-1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35"/>
                        </a:lnSpc>
                      </a:pP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30" dirty="0">
                          <a:latin typeface="Courier New"/>
                          <a:cs typeface="Courier New"/>
                        </a:rPr>
                        <a:t>violin</a:t>
                      </a:r>
                      <a:r>
                        <a:rPr sz="1250" spc="-3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1535"/>
                        </a:lnSpc>
                      </a:pP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geom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vline</a:t>
                      </a:r>
                      <a:r>
                        <a:rPr sz="1250" spc="-20" dirty="0">
                          <a:latin typeface="Courier New"/>
                          <a:cs typeface="Courier New"/>
                        </a:rPr>
                        <a:t>"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3757" y="4649481"/>
            <a:ext cx="1905525" cy="169591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11610" y="4916254"/>
            <a:ext cx="648335" cy="305435"/>
          </a:xfrm>
          <a:custGeom>
            <a:avLst/>
            <a:gdLst/>
            <a:ahLst/>
            <a:cxnLst/>
            <a:rect l="l" t="t" r="r" b="b"/>
            <a:pathLst>
              <a:path w="648335" h="305435">
                <a:moveTo>
                  <a:pt x="623086" y="304883"/>
                </a:moveTo>
                <a:lnTo>
                  <a:pt x="24792" y="304883"/>
                </a:lnTo>
                <a:lnTo>
                  <a:pt x="21146" y="304157"/>
                </a:lnTo>
                <a:lnTo>
                  <a:pt x="0" y="280090"/>
                </a:lnTo>
                <a:lnTo>
                  <a:pt x="0" y="276301"/>
                </a:lnTo>
                <a:lnTo>
                  <a:pt x="0" y="24791"/>
                </a:lnTo>
                <a:lnTo>
                  <a:pt x="24792" y="0"/>
                </a:lnTo>
                <a:lnTo>
                  <a:pt x="623086" y="0"/>
                </a:lnTo>
                <a:lnTo>
                  <a:pt x="647878" y="24791"/>
                </a:lnTo>
                <a:lnTo>
                  <a:pt x="647878" y="280090"/>
                </a:lnTo>
                <a:lnTo>
                  <a:pt x="626731" y="304157"/>
                </a:lnTo>
                <a:lnTo>
                  <a:pt x="623086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07597" y="4884499"/>
            <a:ext cx="393446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rebuchet MS"/>
                <a:cs typeface="Trebuchet MS"/>
              </a:rPr>
              <a:t>Or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just start typing</a:t>
            </a:r>
            <a:r>
              <a:rPr sz="1850" spc="300" dirty="0">
                <a:latin typeface="Trebuchet MS"/>
                <a:cs typeface="Trebuchet MS"/>
              </a:rPr>
              <a:t> </a:t>
            </a:r>
            <a:r>
              <a:rPr sz="1650" spc="-80" dirty="0">
                <a:latin typeface="Courier New"/>
                <a:cs typeface="Courier New"/>
              </a:rPr>
              <a:t>geom</a:t>
            </a:r>
            <a:r>
              <a:rPr sz="1550" spc="-80" dirty="0">
                <a:latin typeface="Courier New"/>
                <a:cs typeface="Courier New"/>
              </a:rPr>
              <a:t>_</a:t>
            </a:r>
            <a:r>
              <a:rPr sz="1550" spc="-105" dirty="0">
                <a:latin typeface="Courier New"/>
                <a:cs typeface="Courier New"/>
              </a:rPr>
              <a:t> </a:t>
            </a:r>
            <a:r>
              <a:rPr sz="1850" dirty="0">
                <a:latin typeface="Trebuchet MS"/>
                <a:cs typeface="Trebuchet MS"/>
              </a:rPr>
              <a:t>in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RStudio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6381" y="1257646"/>
            <a:ext cx="402082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3165"/>
              </a:lnSpc>
            </a:pPr>
            <a:r>
              <a:rPr sz="1900" spc="-120" dirty="0">
                <a:latin typeface="Courier New"/>
                <a:cs typeface="Courier New"/>
              </a:rPr>
              <a:t>ggplot</a:t>
            </a:r>
            <a:r>
              <a:rPr sz="2350" spc="-120" dirty="0">
                <a:latin typeface="Courier New"/>
                <a:cs typeface="Courier New"/>
              </a:rPr>
              <a:t>(</a:t>
            </a:r>
            <a:r>
              <a:rPr sz="1900" spc="-120" dirty="0">
                <a:latin typeface="Courier New"/>
                <a:cs typeface="Courier New"/>
              </a:rPr>
              <a:t>tid</a:t>
            </a:r>
            <a:r>
              <a:rPr sz="2700" spc="-120" dirty="0">
                <a:latin typeface="Courier New"/>
                <a:cs typeface="Courier New"/>
              </a:rPr>
              <a:t>y</a:t>
            </a:r>
            <a:r>
              <a:rPr sz="2350" spc="-120" dirty="0">
                <a:latin typeface="Courier New"/>
                <a:cs typeface="Courier New"/>
              </a:rPr>
              <a:t>_</a:t>
            </a:r>
            <a:r>
              <a:rPr sz="1900" spc="-120" dirty="0">
                <a:latin typeface="Courier New"/>
                <a:cs typeface="Courier New"/>
              </a:rPr>
              <a:t>pop</a:t>
            </a:r>
            <a:r>
              <a:rPr sz="2350" spc="-120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6646" y="1257646"/>
            <a:ext cx="6345398" cy="50020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Our</a:t>
            </a:r>
            <a:r>
              <a:rPr spc="-165" dirty="0"/>
              <a:t> </a:t>
            </a:r>
            <a:r>
              <a:rPr spc="-45" dirty="0"/>
              <a:t>first</a:t>
            </a:r>
            <a:r>
              <a:rPr spc="-155" dirty="0"/>
              <a:t> </a:t>
            </a:r>
            <a:r>
              <a:rPr spc="-30" dirty="0"/>
              <a:t>plot!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6381" y="1257646"/>
            <a:ext cx="4020820" cy="116268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3165"/>
              </a:lnSpc>
            </a:pPr>
            <a:r>
              <a:rPr sz="1900" spc="-180" dirty="0">
                <a:latin typeface="Courier New"/>
                <a:cs typeface="Courier New"/>
              </a:rPr>
              <a:t>ggplot</a:t>
            </a:r>
            <a:r>
              <a:rPr sz="2350" spc="-180" dirty="0">
                <a:latin typeface="Courier New"/>
                <a:cs typeface="Courier New"/>
              </a:rPr>
              <a:t>(</a:t>
            </a:r>
            <a:r>
              <a:rPr sz="1900" spc="-180" dirty="0">
                <a:latin typeface="Courier New"/>
                <a:cs typeface="Courier New"/>
              </a:rPr>
              <a:t>tid</a:t>
            </a:r>
            <a:r>
              <a:rPr sz="2700" spc="-180" dirty="0">
                <a:latin typeface="Courier New"/>
                <a:cs typeface="Courier New"/>
              </a:rPr>
              <a:t>y</a:t>
            </a:r>
            <a:r>
              <a:rPr sz="2350" spc="-180" dirty="0">
                <a:latin typeface="Courier New"/>
                <a:cs typeface="Courier New"/>
              </a:rPr>
              <a:t>_</a:t>
            </a:r>
            <a:r>
              <a:rPr sz="1900" spc="-180" dirty="0">
                <a:latin typeface="Courier New"/>
                <a:cs typeface="Courier New"/>
              </a:rPr>
              <a:t>pop</a:t>
            </a:r>
            <a:r>
              <a:rPr sz="2350" spc="-180" dirty="0">
                <a:latin typeface="Courier New"/>
                <a:cs typeface="Courier New"/>
              </a:rPr>
              <a:t>)</a:t>
            </a:r>
            <a:r>
              <a:rPr sz="2350" spc="-229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185" y="1676861"/>
            <a:ext cx="3811270" cy="639278"/>
          </a:xfrm>
          <a:prstGeom prst="rect">
            <a:avLst/>
          </a:prstGeom>
          <a:solidFill>
            <a:srgbClr val="FFFF87"/>
          </a:solidFill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1960"/>
              </a:lnSpc>
            </a:pPr>
            <a:r>
              <a:rPr sz="1900" spc="-135" dirty="0">
                <a:latin typeface="Courier New"/>
                <a:cs typeface="Courier New"/>
              </a:rPr>
              <a:t>aes</a:t>
            </a:r>
            <a:r>
              <a:rPr sz="2350" spc="-135" dirty="0">
                <a:latin typeface="Courier New"/>
                <a:cs typeface="Courier New"/>
              </a:rPr>
              <a:t>(</a:t>
            </a:r>
            <a:r>
              <a:rPr sz="1900" spc="-135" dirty="0">
                <a:latin typeface="Courier New"/>
                <a:cs typeface="Courier New"/>
              </a:rPr>
              <a:t>x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lang="en-US" sz="2700" spc="-65" dirty="0">
                <a:latin typeface="Courier New"/>
                <a:cs typeface="Courier New"/>
              </a:rPr>
              <a:t>y</a:t>
            </a:r>
            <a:r>
              <a:rPr sz="1900" spc="-65" dirty="0">
                <a:latin typeface="Courier New"/>
                <a:cs typeface="Courier New"/>
              </a:rPr>
              <a:t>ear</a:t>
            </a:r>
            <a:r>
              <a:rPr sz="2350" spc="-65" dirty="0">
                <a:latin typeface="Courier New"/>
                <a:cs typeface="Courier New"/>
              </a:rPr>
              <a:t>,</a:t>
            </a:r>
            <a:endParaRPr sz="2350" dirty="0">
              <a:latin typeface="Courier New"/>
              <a:cs typeface="Courier New"/>
            </a:endParaRPr>
          </a:p>
          <a:p>
            <a:pPr marL="802640">
              <a:lnSpc>
                <a:spcPts val="2860"/>
              </a:lnSpc>
            </a:pPr>
            <a:r>
              <a:rPr sz="2700" spc="-620" dirty="0">
                <a:latin typeface="Courier New"/>
                <a:cs typeface="Courier New"/>
              </a:rPr>
              <a:t>y</a:t>
            </a:r>
            <a:r>
              <a:rPr sz="2700" spc="-5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pop</a:t>
            </a:r>
            <a:r>
              <a:rPr sz="2350" spc="-20" dirty="0">
                <a:latin typeface="Courier New"/>
                <a:cs typeface="Courier New"/>
              </a:rPr>
              <a:t>)</a:t>
            </a:r>
            <a:endParaRPr sz="235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6646" y="1257646"/>
            <a:ext cx="6345398" cy="500200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Our</a:t>
            </a:r>
            <a:r>
              <a:rPr spc="-165" dirty="0"/>
              <a:t> </a:t>
            </a:r>
            <a:r>
              <a:rPr spc="-45" dirty="0"/>
              <a:t>first</a:t>
            </a:r>
            <a:r>
              <a:rPr spc="-155" dirty="0"/>
              <a:t> </a:t>
            </a:r>
            <a:r>
              <a:rPr spc="-30" dirty="0"/>
              <a:t>plot!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6381" y="1257646"/>
            <a:ext cx="4020820" cy="147701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87630" rIns="0" bIns="0" rtlCol="0">
            <a:spAutoFit/>
          </a:bodyPr>
          <a:lstStyle/>
          <a:p>
            <a:pPr marL="373380" marR="1509395" indent="-267335">
              <a:lnSpc>
                <a:spcPct val="76400"/>
              </a:lnSpc>
              <a:spcBef>
                <a:spcPts val="690"/>
              </a:spcBef>
            </a:pPr>
            <a:r>
              <a:rPr sz="1900" spc="-180" dirty="0">
                <a:latin typeface="Courier New"/>
                <a:cs typeface="Courier New"/>
              </a:rPr>
              <a:t>ggplot</a:t>
            </a:r>
            <a:r>
              <a:rPr sz="2350" spc="-180" dirty="0">
                <a:latin typeface="Courier New"/>
                <a:cs typeface="Courier New"/>
              </a:rPr>
              <a:t>(</a:t>
            </a:r>
            <a:r>
              <a:rPr sz="1900" spc="-180" dirty="0">
                <a:latin typeface="Courier New"/>
                <a:cs typeface="Courier New"/>
              </a:rPr>
              <a:t>tid</a:t>
            </a:r>
            <a:r>
              <a:rPr sz="2700" spc="-180" dirty="0">
                <a:latin typeface="Courier New"/>
                <a:cs typeface="Courier New"/>
              </a:rPr>
              <a:t>y</a:t>
            </a:r>
            <a:r>
              <a:rPr sz="2350" spc="-180" dirty="0">
                <a:latin typeface="Courier New"/>
                <a:cs typeface="Courier New"/>
              </a:rPr>
              <a:t>_</a:t>
            </a:r>
            <a:r>
              <a:rPr sz="1900" spc="-180" dirty="0">
                <a:latin typeface="Courier New"/>
                <a:cs typeface="Courier New"/>
              </a:rPr>
              <a:t>pop</a:t>
            </a:r>
            <a:r>
              <a:rPr sz="2350" spc="-180" dirty="0">
                <a:latin typeface="Courier New"/>
                <a:cs typeface="Courier New"/>
              </a:rPr>
              <a:t>)</a:t>
            </a:r>
            <a:r>
              <a:rPr sz="2350" spc="-229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135" dirty="0">
                <a:latin typeface="Courier New"/>
                <a:cs typeface="Courier New"/>
              </a:rPr>
              <a:t>aes</a:t>
            </a:r>
            <a:r>
              <a:rPr sz="2350" spc="-135" dirty="0">
                <a:latin typeface="Courier New"/>
                <a:cs typeface="Courier New"/>
              </a:rPr>
              <a:t>(</a:t>
            </a:r>
            <a:r>
              <a:rPr sz="1900" spc="-135" dirty="0">
                <a:latin typeface="Courier New"/>
                <a:cs typeface="Courier New"/>
              </a:rPr>
              <a:t>x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700" spc="-65" dirty="0">
                <a:latin typeface="Courier New"/>
                <a:cs typeface="Courier New"/>
              </a:rPr>
              <a:t>y</a:t>
            </a:r>
            <a:r>
              <a:rPr sz="1900" spc="-65" dirty="0">
                <a:latin typeface="Courier New"/>
                <a:cs typeface="Courier New"/>
              </a:rPr>
              <a:t>ear</a:t>
            </a:r>
            <a:r>
              <a:rPr sz="2350" spc="-65" dirty="0">
                <a:latin typeface="Courier New"/>
                <a:cs typeface="Courier New"/>
              </a:rPr>
              <a:t>,</a:t>
            </a:r>
            <a:endParaRPr sz="2350">
              <a:latin typeface="Courier New"/>
              <a:cs typeface="Courier New"/>
            </a:endParaRPr>
          </a:p>
          <a:p>
            <a:pPr marL="907415">
              <a:lnSpc>
                <a:spcPts val="2475"/>
              </a:lnSpc>
            </a:pPr>
            <a:r>
              <a:rPr sz="2700" spc="-620" dirty="0">
                <a:latin typeface="Courier New"/>
                <a:cs typeface="Courier New"/>
              </a:rPr>
              <a:t>y</a:t>
            </a:r>
            <a:r>
              <a:rPr sz="2700" spc="-52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10" dirty="0">
                <a:latin typeface="Courier New"/>
                <a:cs typeface="Courier New"/>
              </a:rPr>
              <a:t> </a:t>
            </a:r>
            <a:r>
              <a:rPr sz="1900" spc="-175" dirty="0">
                <a:latin typeface="Courier New"/>
                <a:cs typeface="Courier New"/>
              </a:rPr>
              <a:t>pop</a:t>
            </a:r>
            <a:r>
              <a:rPr sz="2350" spc="-175" dirty="0">
                <a:latin typeface="Courier New"/>
                <a:cs typeface="Courier New"/>
              </a:rPr>
              <a:t>)</a:t>
            </a:r>
            <a:r>
              <a:rPr sz="2350" spc="-310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185" y="2305685"/>
            <a:ext cx="3811270" cy="314960"/>
          </a:xfrm>
          <a:prstGeom prst="rect">
            <a:avLst/>
          </a:prstGeom>
          <a:solidFill>
            <a:srgbClr val="FFFF87"/>
          </a:solidFill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270"/>
              </a:lnSpc>
            </a:pPr>
            <a:r>
              <a:rPr sz="1900" spc="-90" dirty="0">
                <a:latin typeface="Courier New"/>
                <a:cs typeface="Courier New"/>
              </a:rPr>
              <a:t>geom</a:t>
            </a:r>
            <a:r>
              <a:rPr sz="2350" spc="-90" dirty="0">
                <a:latin typeface="Courier New"/>
                <a:cs typeface="Courier New"/>
              </a:rPr>
              <a:t>_</a:t>
            </a:r>
            <a:r>
              <a:rPr sz="1900" spc="-90" dirty="0">
                <a:latin typeface="Courier New"/>
                <a:cs typeface="Courier New"/>
              </a:rPr>
              <a:t>point</a:t>
            </a:r>
            <a:r>
              <a:rPr sz="2350" spc="-9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6646" y="1257646"/>
            <a:ext cx="6345398" cy="500200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Our</a:t>
            </a:r>
            <a:r>
              <a:rPr spc="-165" dirty="0"/>
              <a:t> </a:t>
            </a:r>
            <a:r>
              <a:rPr spc="-45" dirty="0"/>
              <a:t>first</a:t>
            </a:r>
            <a:r>
              <a:rPr spc="-155" dirty="0"/>
              <a:t> </a:t>
            </a:r>
            <a:r>
              <a:rPr spc="-30" dirty="0"/>
              <a:t>plot!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1185" y="2305685"/>
            <a:ext cx="3811270" cy="314960"/>
          </a:xfrm>
          <a:prstGeom prst="rect">
            <a:avLst/>
          </a:prstGeom>
          <a:solidFill>
            <a:srgbClr val="FFFF87"/>
          </a:solidFill>
        </p:spPr>
        <p:txBody>
          <a:bodyPr vert="horz" wrap="square" lIns="0" tIns="0" rIns="0" bIns="0" rtlCol="0">
            <a:spAutoFit/>
          </a:bodyPr>
          <a:lstStyle/>
          <a:p>
            <a:pPr marL="802640">
              <a:lnSpc>
                <a:spcPts val="2340"/>
              </a:lnSpc>
            </a:pPr>
            <a:r>
              <a:rPr sz="1900" spc="-70" dirty="0">
                <a:latin typeface="Courier New"/>
                <a:cs typeface="Courier New"/>
              </a:rPr>
              <a:t>color</a:t>
            </a:r>
            <a:r>
              <a:rPr sz="1900" spc="-14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95" dirty="0">
                <a:latin typeface="Courier New"/>
                <a:cs typeface="Courier New"/>
              </a:rPr>
              <a:t>countr</a:t>
            </a:r>
            <a:r>
              <a:rPr sz="2700" spc="-195" dirty="0">
                <a:latin typeface="Courier New"/>
                <a:cs typeface="Courier New"/>
              </a:rPr>
              <a:t>y</a:t>
            </a:r>
            <a:r>
              <a:rPr sz="2350" spc="-195" dirty="0">
                <a:latin typeface="Courier New"/>
                <a:cs typeface="Courier New"/>
              </a:rPr>
              <a:t>)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1257646"/>
            <a:ext cx="4020820" cy="1681871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87630" rIns="0" bIns="0" rtlCol="0">
            <a:spAutoFit/>
          </a:bodyPr>
          <a:lstStyle/>
          <a:p>
            <a:pPr marL="373380" marR="1509395" indent="-267335">
              <a:lnSpc>
                <a:spcPct val="76400"/>
              </a:lnSpc>
              <a:spcBef>
                <a:spcPts val="690"/>
              </a:spcBef>
            </a:pPr>
            <a:r>
              <a:rPr sz="1900" spc="-180" dirty="0">
                <a:latin typeface="Courier New"/>
                <a:cs typeface="Courier New"/>
              </a:rPr>
              <a:t>ggplot</a:t>
            </a:r>
            <a:r>
              <a:rPr sz="2350" spc="-180" dirty="0">
                <a:latin typeface="Courier New"/>
                <a:cs typeface="Courier New"/>
              </a:rPr>
              <a:t>(</a:t>
            </a:r>
            <a:r>
              <a:rPr sz="1900" spc="-180" dirty="0">
                <a:latin typeface="Courier New"/>
                <a:cs typeface="Courier New"/>
              </a:rPr>
              <a:t>tid</a:t>
            </a:r>
            <a:r>
              <a:rPr sz="2700" spc="-180" dirty="0">
                <a:latin typeface="Courier New"/>
                <a:cs typeface="Courier New"/>
              </a:rPr>
              <a:t>y</a:t>
            </a:r>
            <a:r>
              <a:rPr sz="2350" spc="-180" dirty="0">
                <a:latin typeface="Courier New"/>
                <a:cs typeface="Courier New"/>
              </a:rPr>
              <a:t>_</a:t>
            </a:r>
            <a:r>
              <a:rPr sz="1900" spc="-180" dirty="0">
                <a:latin typeface="Courier New"/>
                <a:cs typeface="Courier New"/>
              </a:rPr>
              <a:t>pop</a:t>
            </a:r>
            <a:r>
              <a:rPr sz="2350" spc="-180" dirty="0">
                <a:latin typeface="Courier New"/>
                <a:cs typeface="Courier New"/>
              </a:rPr>
              <a:t>)</a:t>
            </a:r>
            <a:r>
              <a:rPr sz="2350" spc="-229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135" dirty="0">
                <a:latin typeface="Courier New"/>
                <a:cs typeface="Courier New"/>
              </a:rPr>
              <a:t>aes</a:t>
            </a:r>
            <a:r>
              <a:rPr sz="2350" spc="-135" dirty="0">
                <a:latin typeface="Courier New"/>
                <a:cs typeface="Courier New"/>
              </a:rPr>
              <a:t>(</a:t>
            </a:r>
            <a:r>
              <a:rPr sz="1900" spc="-135" dirty="0">
                <a:latin typeface="Courier New"/>
                <a:cs typeface="Courier New"/>
              </a:rPr>
              <a:t>x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700" spc="-65" dirty="0">
                <a:latin typeface="Courier New"/>
                <a:cs typeface="Courier New"/>
              </a:rPr>
              <a:t>y</a:t>
            </a:r>
            <a:r>
              <a:rPr sz="1900" spc="-65" dirty="0">
                <a:latin typeface="Courier New"/>
                <a:cs typeface="Courier New"/>
              </a:rPr>
              <a:t>ear</a:t>
            </a:r>
            <a:r>
              <a:rPr sz="2350" spc="-65" dirty="0">
                <a:latin typeface="Courier New"/>
                <a:cs typeface="Courier New"/>
              </a:rPr>
              <a:t>,</a:t>
            </a:r>
            <a:endParaRPr sz="2350" dirty="0">
              <a:latin typeface="Courier New"/>
              <a:cs typeface="Courier New"/>
            </a:endParaRPr>
          </a:p>
          <a:p>
            <a:pPr marL="907415">
              <a:lnSpc>
                <a:spcPts val="2475"/>
              </a:lnSpc>
            </a:pPr>
            <a:r>
              <a:rPr sz="2700" spc="-620" dirty="0">
                <a:latin typeface="Courier New"/>
                <a:cs typeface="Courier New"/>
              </a:rPr>
              <a:t>y</a:t>
            </a:r>
            <a:r>
              <a:rPr sz="2700" spc="-5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pop</a:t>
            </a:r>
            <a:r>
              <a:rPr sz="2350" spc="-20" dirty="0">
                <a:latin typeface="Courier New"/>
                <a:cs typeface="Courier New"/>
              </a:rPr>
              <a:t>,</a:t>
            </a:r>
            <a:endParaRPr sz="23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lang="en-US" sz="1650" dirty="0">
                <a:latin typeface="Courier New"/>
                <a:cs typeface="Courier New"/>
              </a:rPr>
              <a:t>	color = country</a:t>
            </a:r>
            <a:endParaRPr sz="1650" dirty="0">
              <a:latin typeface="Courier New"/>
              <a:cs typeface="Courier New"/>
            </a:endParaRPr>
          </a:p>
          <a:p>
            <a:pPr marL="373380">
              <a:lnSpc>
                <a:spcPct val="100000"/>
              </a:lnSpc>
            </a:pPr>
            <a:r>
              <a:rPr sz="1900" spc="-90" dirty="0">
                <a:latin typeface="Courier New"/>
                <a:cs typeface="Courier New"/>
              </a:rPr>
              <a:t>geom</a:t>
            </a:r>
            <a:r>
              <a:rPr sz="2350" spc="-90" dirty="0">
                <a:latin typeface="Courier New"/>
                <a:cs typeface="Courier New"/>
              </a:rPr>
              <a:t>_</a:t>
            </a:r>
            <a:r>
              <a:rPr sz="1900" spc="-90" dirty="0">
                <a:latin typeface="Courier New"/>
                <a:cs typeface="Courier New"/>
              </a:rPr>
              <a:t>point</a:t>
            </a:r>
            <a:r>
              <a:rPr sz="2350" spc="-90" dirty="0">
                <a:latin typeface="Courier New"/>
                <a:cs typeface="Courier New"/>
              </a:rPr>
              <a:t>()</a:t>
            </a:r>
            <a:endParaRPr sz="235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6646" y="1257646"/>
            <a:ext cx="6345398" cy="500200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Our</a:t>
            </a:r>
            <a:r>
              <a:rPr spc="-165" dirty="0"/>
              <a:t> </a:t>
            </a:r>
            <a:r>
              <a:rPr spc="-45" dirty="0"/>
              <a:t>first</a:t>
            </a:r>
            <a:r>
              <a:rPr spc="-155" dirty="0"/>
              <a:t> </a:t>
            </a:r>
            <a:r>
              <a:rPr spc="-30" dirty="0"/>
              <a:t>plot!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6381" y="1257646"/>
            <a:ext cx="4020820" cy="242062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87630" rIns="0" bIns="0" rtlCol="0">
            <a:spAutoFit/>
          </a:bodyPr>
          <a:lstStyle/>
          <a:p>
            <a:pPr marL="373380" marR="1509395" indent="-267335">
              <a:lnSpc>
                <a:spcPct val="76400"/>
              </a:lnSpc>
              <a:spcBef>
                <a:spcPts val="690"/>
              </a:spcBef>
            </a:pPr>
            <a:r>
              <a:rPr sz="1900" spc="-180" dirty="0">
                <a:latin typeface="Courier New"/>
                <a:cs typeface="Courier New"/>
              </a:rPr>
              <a:t>ggplot</a:t>
            </a:r>
            <a:r>
              <a:rPr sz="2350" spc="-180" dirty="0">
                <a:latin typeface="Courier New"/>
                <a:cs typeface="Courier New"/>
              </a:rPr>
              <a:t>(</a:t>
            </a:r>
            <a:r>
              <a:rPr sz="1900" spc="-180" dirty="0">
                <a:latin typeface="Courier New"/>
                <a:cs typeface="Courier New"/>
              </a:rPr>
              <a:t>tid</a:t>
            </a:r>
            <a:r>
              <a:rPr sz="2700" spc="-180" dirty="0">
                <a:latin typeface="Courier New"/>
                <a:cs typeface="Courier New"/>
              </a:rPr>
              <a:t>y</a:t>
            </a:r>
            <a:r>
              <a:rPr sz="2350" spc="-180" dirty="0">
                <a:latin typeface="Courier New"/>
                <a:cs typeface="Courier New"/>
              </a:rPr>
              <a:t>_</a:t>
            </a:r>
            <a:r>
              <a:rPr sz="1900" spc="-180" dirty="0">
                <a:latin typeface="Courier New"/>
                <a:cs typeface="Courier New"/>
              </a:rPr>
              <a:t>pop</a:t>
            </a:r>
            <a:r>
              <a:rPr sz="2350" spc="-180" dirty="0">
                <a:latin typeface="Courier New"/>
                <a:cs typeface="Courier New"/>
              </a:rPr>
              <a:t>)</a:t>
            </a:r>
            <a:r>
              <a:rPr sz="2350" spc="-229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135" dirty="0">
                <a:latin typeface="Courier New"/>
                <a:cs typeface="Courier New"/>
              </a:rPr>
              <a:t>aes</a:t>
            </a:r>
            <a:r>
              <a:rPr sz="2350" spc="-135" dirty="0">
                <a:latin typeface="Courier New"/>
                <a:cs typeface="Courier New"/>
              </a:rPr>
              <a:t>(</a:t>
            </a:r>
            <a:r>
              <a:rPr sz="1900" spc="-135" dirty="0">
                <a:latin typeface="Courier New"/>
                <a:cs typeface="Courier New"/>
              </a:rPr>
              <a:t>x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700" spc="-65" dirty="0">
                <a:latin typeface="Courier New"/>
                <a:cs typeface="Courier New"/>
              </a:rPr>
              <a:t>y</a:t>
            </a:r>
            <a:r>
              <a:rPr sz="1900" spc="-65" dirty="0">
                <a:latin typeface="Courier New"/>
                <a:cs typeface="Courier New"/>
              </a:rPr>
              <a:t>ear</a:t>
            </a:r>
            <a:r>
              <a:rPr sz="2350" spc="-65" dirty="0">
                <a:latin typeface="Courier New"/>
                <a:cs typeface="Courier New"/>
              </a:rPr>
              <a:t>,</a:t>
            </a:r>
            <a:endParaRPr sz="2350">
              <a:latin typeface="Courier New"/>
              <a:cs typeface="Courier New"/>
            </a:endParaRPr>
          </a:p>
          <a:p>
            <a:pPr marL="907415">
              <a:lnSpc>
                <a:spcPts val="2095"/>
              </a:lnSpc>
            </a:pPr>
            <a:r>
              <a:rPr sz="2700" spc="-620" dirty="0">
                <a:latin typeface="Courier New"/>
                <a:cs typeface="Courier New"/>
              </a:rPr>
              <a:t>y</a:t>
            </a:r>
            <a:r>
              <a:rPr sz="2700" spc="-5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pop</a:t>
            </a:r>
            <a:r>
              <a:rPr sz="2350" spc="-20" dirty="0">
                <a:latin typeface="Courier New"/>
                <a:cs typeface="Courier New"/>
              </a:rPr>
              <a:t>,</a:t>
            </a:r>
            <a:endParaRPr sz="2350">
              <a:latin typeface="Courier New"/>
              <a:cs typeface="Courier New"/>
            </a:endParaRPr>
          </a:p>
          <a:p>
            <a:pPr marL="373380" marR="709295" indent="533400">
              <a:lnSpc>
                <a:spcPct val="86700"/>
              </a:lnSpc>
              <a:spcBef>
                <a:spcPts val="50"/>
              </a:spcBef>
            </a:pPr>
            <a:r>
              <a:rPr sz="1900" spc="-70" dirty="0">
                <a:latin typeface="Courier New"/>
                <a:cs typeface="Courier New"/>
              </a:rPr>
              <a:t>color</a:t>
            </a:r>
            <a:r>
              <a:rPr sz="1900" spc="-14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95" dirty="0">
                <a:latin typeface="Courier New"/>
                <a:cs typeface="Courier New"/>
              </a:rPr>
              <a:t>countr</a:t>
            </a:r>
            <a:r>
              <a:rPr sz="2700" spc="-195" dirty="0">
                <a:latin typeface="Courier New"/>
                <a:cs typeface="Courier New"/>
              </a:rPr>
              <a:t>y</a:t>
            </a:r>
            <a:r>
              <a:rPr sz="2350" spc="-195" dirty="0">
                <a:latin typeface="Courier New"/>
                <a:cs typeface="Courier New"/>
              </a:rPr>
              <a:t>)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165" dirty="0">
                <a:latin typeface="Courier New"/>
                <a:cs typeface="Courier New"/>
              </a:rPr>
              <a:t>geom</a:t>
            </a:r>
            <a:r>
              <a:rPr sz="2350" spc="-165" dirty="0">
                <a:latin typeface="Courier New"/>
                <a:cs typeface="Courier New"/>
              </a:rPr>
              <a:t>_</a:t>
            </a:r>
            <a:r>
              <a:rPr sz="1900" spc="-165" dirty="0">
                <a:latin typeface="Courier New"/>
                <a:cs typeface="Courier New"/>
              </a:rPr>
              <a:t>point</a:t>
            </a:r>
            <a:r>
              <a:rPr sz="2350" spc="-165" dirty="0">
                <a:latin typeface="Courier New"/>
                <a:cs typeface="Courier New"/>
              </a:rPr>
              <a:t>()</a:t>
            </a:r>
            <a:r>
              <a:rPr sz="2350" spc="-275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60" dirty="0">
                <a:latin typeface="Courier New"/>
                <a:cs typeface="Courier New"/>
              </a:rPr>
              <a:t>geom</a:t>
            </a:r>
            <a:r>
              <a:rPr sz="2350" spc="-60" dirty="0">
                <a:latin typeface="Courier New"/>
                <a:cs typeface="Courier New"/>
              </a:rPr>
              <a:t>_</a:t>
            </a:r>
            <a:r>
              <a:rPr sz="1900" spc="-60" dirty="0">
                <a:latin typeface="Courier New"/>
                <a:cs typeface="Courier New"/>
              </a:rPr>
              <a:t>line</a:t>
            </a:r>
            <a:r>
              <a:rPr sz="2350" spc="-60" dirty="0">
                <a:latin typeface="Courier New"/>
                <a:cs typeface="Courier New"/>
              </a:rPr>
              <a:t>(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185" y="3248920"/>
            <a:ext cx="3811270" cy="314960"/>
          </a:xfrm>
          <a:prstGeom prst="rect">
            <a:avLst/>
          </a:prstGeom>
          <a:solidFill>
            <a:srgbClr val="FFFF87"/>
          </a:solidFill>
        </p:spPr>
        <p:txBody>
          <a:bodyPr vert="horz" wrap="square" lIns="0" tIns="0" rIns="0" bIns="0" rtlCol="0">
            <a:spAutoFit/>
          </a:bodyPr>
          <a:lstStyle/>
          <a:p>
            <a:pPr marL="57150" algn="ctr">
              <a:lnSpc>
                <a:spcPts val="2340"/>
              </a:lnSpc>
            </a:pPr>
            <a:r>
              <a:rPr sz="1900" spc="-114" dirty="0">
                <a:latin typeface="Courier New"/>
                <a:cs typeface="Courier New"/>
              </a:rPr>
              <a:t>aes</a:t>
            </a:r>
            <a:r>
              <a:rPr sz="2350" spc="-114" dirty="0">
                <a:latin typeface="Courier New"/>
                <a:cs typeface="Courier New"/>
              </a:rPr>
              <a:t>(</a:t>
            </a:r>
            <a:r>
              <a:rPr sz="1900" spc="-114" dirty="0">
                <a:latin typeface="Courier New"/>
                <a:cs typeface="Courier New"/>
              </a:rPr>
              <a:t>group</a:t>
            </a:r>
            <a:r>
              <a:rPr sz="1900" spc="-1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10" dirty="0">
                <a:latin typeface="Courier New"/>
                <a:cs typeface="Courier New"/>
              </a:rPr>
              <a:t>countr</a:t>
            </a:r>
            <a:r>
              <a:rPr sz="2700" spc="-110" dirty="0">
                <a:latin typeface="Courier New"/>
                <a:cs typeface="Courier New"/>
              </a:rPr>
              <a:t>y</a:t>
            </a:r>
            <a:r>
              <a:rPr sz="2350" spc="-110" dirty="0">
                <a:latin typeface="Courier New"/>
                <a:cs typeface="Courier New"/>
              </a:rPr>
              <a:t>))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6646" y="1257646"/>
            <a:ext cx="6345398" cy="500200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Our</a:t>
            </a:r>
            <a:r>
              <a:rPr spc="-165" dirty="0"/>
              <a:t> </a:t>
            </a:r>
            <a:r>
              <a:rPr spc="-45" dirty="0"/>
              <a:t>first</a:t>
            </a:r>
            <a:r>
              <a:rPr spc="-155" dirty="0"/>
              <a:t> </a:t>
            </a:r>
            <a:r>
              <a:rPr spc="-30" dirty="0"/>
              <a:t>plot!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6381" y="1257646"/>
            <a:ext cx="4020820" cy="29444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87630" rIns="0" bIns="0" rtlCol="0">
            <a:spAutoFit/>
          </a:bodyPr>
          <a:lstStyle/>
          <a:p>
            <a:pPr marL="373380" marR="842644" indent="-267335">
              <a:lnSpc>
                <a:spcPct val="76400"/>
              </a:lnSpc>
              <a:spcBef>
                <a:spcPts val="690"/>
              </a:spcBef>
              <a:tabLst>
                <a:tab pos="506730" algn="l"/>
                <a:tab pos="773430" algn="l"/>
              </a:tabLst>
            </a:pPr>
            <a:r>
              <a:rPr sz="1900" spc="-50" dirty="0">
                <a:latin typeface="Courier New"/>
                <a:cs typeface="Courier New"/>
              </a:rPr>
              <a:t>g</a:t>
            </a:r>
            <a:r>
              <a:rPr sz="1900" dirty="0">
                <a:latin typeface="Courier New"/>
                <a:cs typeface="Courier New"/>
              </a:rPr>
              <a:t>		</a:t>
            </a:r>
            <a:r>
              <a:rPr lang="en-US" sz="2350" spc="-320" dirty="0">
                <a:latin typeface="Palatino Linotype"/>
                <a:cs typeface="Courier New"/>
              </a:rPr>
              <a:t>&lt;-</a:t>
            </a:r>
            <a:r>
              <a:rPr sz="2350" dirty="0">
                <a:latin typeface="Palatino Linotype"/>
                <a:cs typeface="Palatino Linotype"/>
              </a:rPr>
              <a:t>	</a:t>
            </a:r>
            <a:r>
              <a:rPr sz="1900" spc="-180" dirty="0">
                <a:latin typeface="Courier New"/>
                <a:cs typeface="Courier New"/>
              </a:rPr>
              <a:t>ggplot</a:t>
            </a:r>
            <a:r>
              <a:rPr sz="2350" spc="-180" dirty="0">
                <a:latin typeface="Courier New"/>
                <a:cs typeface="Courier New"/>
              </a:rPr>
              <a:t>(</a:t>
            </a:r>
            <a:r>
              <a:rPr sz="1900" spc="-180" dirty="0">
                <a:latin typeface="Courier New"/>
                <a:cs typeface="Courier New"/>
              </a:rPr>
              <a:t>tid</a:t>
            </a:r>
            <a:r>
              <a:rPr sz="2700" spc="-180" dirty="0">
                <a:latin typeface="Courier New"/>
                <a:cs typeface="Courier New"/>
              </a:rPr>
              <a:t>y</a:t>
            </a:r>
            <a:r>
              <a:rPr sz="2350" spc="-180" dirty="0">
                <a:latin typeface="Courier New"/>
                <a:cs typeface="Courier New"/>
              </a:rPr>
              <a:t>_</a:t>
            </a:r>
            <a:r>
              <a:rPr sz="1900" spc="-180" dirty="0">
                <a:latin typeface="Courier New"/>
                <a:cs typeface="Courier New"/>
              </a:rPr>
              <a:t>pop</a:t>
            </a:r>
            <a:r>
              <a:rPr sz="2350" spc="-180" dirty="0">
                <a:latin typeface="Courier New"/>
                <a:cs typeface="Courier New"/>
              </a:rPr>
              <a:t>)</a:t>
            </a:r>
            <a:r>
              <a:rPr sz="2350" spc="-229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135" dirty="0">
                <a:latin typeface="Courier New"/>
                <a:cs typeface="Courier New"/>
              </a:rPr>
              <a:t>aes</a:t>
            </a:r>
            <a:r>
              <a:rPr sz="2350" spc="-135" dirty="0">
                <a:latin typeface="Courier New"/>
                <a:cs typeface="Courier New"/>
              </a:rPr>
              <a:t>(</a:t>
            </a:r>
            <a:r>
              <a:rPr sz="1900" spc="-135" dirty="0">
                <a:latin typeface="Courier New"/>
                <a:cs typeface="Courier New"/>
              </a:rPr>
              <a:t>x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700" spc="-65" dirty="0">
                <a:latin typeface="Courier New"/>
                <a:cs typeface="Courier New"/>
              </a:rPr>
              <a:t>y</a:t>
            </a:r>
            <a:r>
              <a:rPr sz="1900" spc="-65" dirty="0">
                <a:latin typeface="Courier New"/>
                <a:cs typeface="Courier New"/>
              </a:rPr>
              <a:t>ear</a:t>
            </a:r>
            <a:r>
              <a:rPr sz="2350" spc="-65" dirty="0">
                <a:latin typeface="Courier New"/>
                <a:cs typeface="Courier New"/>
              </a:rPr>
              <a:t>,</a:t>
            </a:r>
            <a:endParaRPr sz="2350" dirty="0">
              <a:latin typeface="Courier New"/>
              <a:cs typeface="Courier New"/>
            </a:endParaRPr>
          </a:p>
          <a:p>
            <a:pPr marL="907415">
              <a:lnSpc>
                <a:spcPts val="2095"/>
              </a:lnSpc>
            </a:pPr>
            <a:r>
              <a:rPr sz="2700" spc="-620" dirty="0">
                <a:latin typeface="Courier New"/>
                <a:cs typeface="Courier New"/>
              </a:rPr>
              <a:t>y</a:t>
            </a:r>
            <a:r>
              <a:rPr sz="2700" spc="-5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pop</a:t>
            </a:r>
            <a:r>
              <a:rPr sz="2350" spc="-20" dirty="0">
                <a:latin typeface="Courier New"/>
                <a:cs typeface="Courier New"/>
              </a:rPr>
              <a:t>,</a:t>
            </a:r>
            <a:endParaRPr sz="2350" dirty="0">
              <a:latin typeface="Courier New"/>
              <a:cs typeface="Courier New"/>
            </a:endParaRPr>
          </a:p>
          <a:p>
            <a:pPr marL="373380" marR="709295" indent="533400">
              <a:lnSpc>
                <a:spcPct val="86700"/>
              </a:lnSpc>
              <a:spcBef>
                <a:spcPts val="50"/>
              </a:spcBef>
            </a:pPr>
            <a:r>
              <a:rPr sz="1900" spc="-70" dirty="0">
                <a:latin typeface="Courier New"/>
                <a:cs typeface="Courier New"/>
              </a:rPr>
              <a:t>color</a:t>
            </a:r>
            <a:r>
              <a:rPr sz="1900" spc="-14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95" dirty="0">
                <a:latin typeface="Courier New"/>
                <a:cs typeface="Courier New"/>
              </a:rPr>
              <a:t>countr</a:t>
            </a:r>
            <a:r>
              <a:rPr sz="2700" spc="-195" dirty="0">
                <a:latin typeface="Courier New"/>
                <a:cs typeface="Courier New"/>
              </a:rPr>
              <a:t>y</a:t>
            </a:r>
            <a:r>
              <a:rPr sz="2350" spc="-195" dirty="0">
                <a:latin typeface="Courier New"/>
                <a:cs typeface="Courier New"/>
              </a:rPr>
              <a:t>)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165" dirty="0">
                <a:latin typeface="Courier New"/>
                <a:cs typeface="Courier New"/>
              </a:rPr>
              <a:t>geom</a:t>
            </a:r>
            <a:r>
              <a:rPr sz="2350" spc="-165" dirty="0">
                <a:latin typeface="Courier New"/>
                <a:cs typeface="Courier New"/>
              </a:rPr>
              <a:t>_</a:t>
            </a:r>
            <a:r>
              <a:rPr sz="1900" spc="-165" dirty="0">
                <a:latin typeface="Courier New"/>
                <a:cs typeface="Courier New"/>
              </a:rPr>
              <a:t>point</a:t>
            </a:r>
            <a:r>
              <a:rPr sz="2350" spc="-165" dirty="0">
                <a:latin typeface="Courier New"/>
                <a:cs typeface="Courier New"/>
              </a:rPr>
              <a:t>()</a:t>
            </a:r>
            <a:r>
              <a:rPr sz="2350" spc="-275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 </a:t>
            </a:r>
            <a:r>
              <a:rPr sz="1900" spc="-60" dirty="0">
                <a:latin typeface="Courier New"/>
                <a:cs typeface="Courier New"/>
              </a:rPr>
              <a:t>geom</a:t>
            </a:r>
            <a:r>
              <a:rPr sz="2350" spc="-60" dirty="0">
                <a:latin typeface="Courier New"/>
                <a:cs typeface="Courier New"/>
              </a:rPr>
              <a:t>_</a:t>
            </a:r>
            <a:r>
              <a:rPr sz="1900" spc="-60" dirty="0">
                <a:latin typeface="Courier New"/>
                <a:cs typeface="Courier New"/>
              </a:rPr>
              <a:t>line</a:t>
            </a:r>
            <a:r>
              <a:rPr sz="2350" spc="-60" dirty="0">
                <a:latin typeface="Courier New"/>
                <a:cs typeface="Courier New"/>
              </a:rPr>
              <a:t>(</a:t>
            </a:r>
            <a:endParaRPr sz="2350" dirty="0">
              <a:latin typeface="Courier New"/>
              <a:cs typeface="Courier New"/>
            </a:endParaRPr>
          </a:p>
          <a:p>
            <a:pPr marL="640715">
              <a:lnSpc>
                <a:spcPts val="2545"/>
              </a:lnSpc>
            </a:pPr>
            <a:r>
              <a:rPr sz="1900" spc="-114" dirty="0">
                <a:latin typeface="Courier New"/>
                <a:cs typeface="Courier New"/>
              </a:rPr>
              <a:t>aes</a:t>
            </a:r>
            <a:r>
              <a:rPr sz="2350" spc="-114" dirty="0">
                <a:latin typeface="Courier New"/>
                <a:cs typeface="Courier New"/>
              </a:rPr>
              <a:t>(</a:t>
            </a:r>
            <a:r>
              <a:rPr sz="1900" spc="-114" dirty="0">
                <a:latin typeface="Courier New"/>
                <a:cs typeface="Courier New"/>
              </a:rPr>
              <a:t>group</a:t>
            </a:r>
            <a:r>
              <a:rPr sz="1900" spc="-1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10" dirty="0">
                <a:latin typeface="Courier New"/>
                <a:cs typeface="Courier New"/>
              </a:rPr>
              <a:t>countr</a:t>
            </a:r>
            <a:r>
              <a:rPr sz="2700" spc="-110" dirty="0">
                <a:latin typeface="Courier New"/>
                <a:cs typeface="Courier New"/>
              </a:rPr>
              <a:t>y</a:t>
            </a:r>
            <a:r>
              <a:rPr sz="2350" spc="-110" dirty="0">
                <a:latin typeface="Courier New"/>
                <a:cs typeface="Courier New"/>
              </a:rPr>
              <a:t>))</a:t>
            </a:r>
            <a:endParaRPr sz="2350" dirty="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760"/>
              </a:spcBef>
            </a:pPr>
            <a:r>
              <a:rPr sz="1900" spc="-50" dirty="0">
                <a:latin typeface="Courier New"/>
                <a:cs typeface="Courier New"/>
              </a:rPr>
              <a:t>g</a:t>
            </a:r>
            <a:endParaRPr sz="1900" dirty="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6646" y="1257646"/>
            <a:ext cx="6345398" cy="50020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Our</a:t>
            </a:r>
            <a:r>
              <a:rPr spc="-165" dirty="0"/>
              <a:t> </a:t>
            </a:r>
            <a:r>
              <a:rPr spc="-45" dirty="0"/>
              <a:t>first</a:t>
            </a:r>
            <a:r>
              <a:rPr spc="-155" dirty="0"/>
              <a:t> </a:t>
            </a:r>
            <a:r>
              <a:rPr spc="-30" dirty="0"/>
              <a:t>plot!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2312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</a:t>
            </a:r>
            <a:r>
              <a:rPr sz="2600" spc="-10" dirty="0">
                <a:latin typeface="Trebuchet MS"/>
                <a:cs typeface="Trebuchet MS"/>
              </a:rPr>
              <a:t>Facet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3544276"/>
            <a:ext cx="2115185" cy="105791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110" dirty="0">
                <a:latin typeface="Courier New"/>
                <a:cs typeface="Courier New"/>
              </a:rPr>
              <a:t>+</a:t>
            </a:r>
            <a:r>
              <a:rPr sz="1900" spc="-110" dirty="0">
                <a:latin typeface="Courier New"/>
                <a:cs typeface="Courier New"/>
              </a:rPr>
              <a:t>facet</a:t>
            </a:r>
            <a:r>
              <a:rPr sz="2350" spc="-110" dirty="0">
                <a:latin typeface="Courier New"/>
                <a:cs typeface="Courier New"/>
              </a:rPr>
              <a:t>_</a:t>
            </a:r>
            <a:r>
              <a:rPr sz="1900" spc="-110" dirty="0">
                <a:latin typeface="Courier New"/>
                <a:cs typeface="Courier New"/>
              </a:rPr>
              <a:t>wrap</a:t>
            </a:r>
            <a:r>
              <a:rPr sz="2350" spc="-11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380"/>
              </a:spcBef>
            </a:pPr>
            <a:r>
              <a:rPr sz="2350" spc="-110" dirty="0">
                <a:latin typeface="Courier New"/>
                <a:cs typeface="Courier New"/>
              </a:rPr>
              <a:t>+</a:t>
            </a:r>
            <a:r>
              <a:rPr sz="1900" spc="-110" dirty="0">
                <a:latin typeface="Courier New"/>
                <a:cs typeface="Courier New"/>
              </a:rPr>
              <a:t>facet</a:t>
            </a:r>
            <a:r>
              <a:rPr sz="2350" spc="-110" dirty="0">
                <a:latin typeface="Courier New"/>
                <a:cs typeface="Courier New"/>
              </a:rPr>
              <a:t>_</a:t>
            </a:r>
            <a:r>
              <a:rPr sz="1900" spc="-110" dirty="0">
                <a:latin typeface="Courier New"/>
                <a:cs typeface="Courier New"/>
              </a:rPr>
              <a:t>grid</a:t>
            </a:r>
            <a:r>
              <a:rPr sz="2350" spc="-11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02235">
              <a:lnSpc>
                <a:spcPts val="3165"/>
              </a:lnSpc>
            </a:pPr>
            <a:r>
              <a:rPr sz="1900" dirty="0">
                <a:latin typeface="Courier New"/>
                <a:cs typeface="Courier New"/>
              </a:rPr>
              <a:t>g</a:t>
            </a:r>
            <a:r>
              <a:rPr sz="1900" spc="-12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65" dirty="0">
                <a:latin typeface="Courier New"/>
                <a:cs typeface="Courier New"/>
              </a:rPr>
              <a:t>facet</a:t>
            </a:r>
            <a:r>
              <a:rPr sz="2350" spc="-165" dirty="0">
                <a:latin typeface="Courier New"/>
                <a:cs typeface="Courier New"/>
              </a:rPr>
              <a:t>_</a:t>
            </a:r>
            <a:r>
              <a:rPr sz="1900" spc="-165" dirty="0">
                <a:latin typeface="Courier New"/>
                <a:cs typeface="Courier New"/>
              </a:rPr>
              <a:t>wrap</a:t>
            </a:r>
            <a:r>
              <a:rPr sz="2350" spc="-165" dirty="0">
                <a:latin typeface="Courier New"/>
                <a:cs typeface="Courier New"/>
              </a:rPr>
              <a:t>(~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75" dirty="0">
                <a:latin typeface="Courier New"/>
                <a:cs typeface="Courier New"/>
              </a:rPr>
              <a:t>countr</a:t>
            </a:r>
            <a:r>
              <a:rPr sz="2700" spc="-75" dirty="0">
                <a:latin typeface="Courier New"/>
                <a:cs typeface="Courier New"/>
              </a:rPr>
              <a:t>y</a:t>
            </a:r>
            <a:r>
              <a:rPr sz="2350" spc="-75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2312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</a:t>
            </a:r>
            <a:r>
              <a:rPr sz="2600" spc="-10" dirty="0">
                <a:latin typeface="Trebuchet MS"/>
                <a:cs typeface="Trebuchet MS"/>
              </a:rPr>
              <a:t>Facet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3544276"/>
            <a:ext cx="2115185" cy="105791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110" dirty="0">
                <a:latin typeface="Courier New"/>
                <a:cs typeface="Courier New"/>
              </a:rPr>
              <a:t>+</a:t>
            </a:r>
            <a:r>
              <a:rPr sz="1900" spc="-110" dirty="0">
                <a:latin typeface="Courier New"/>
                <a:cs typeface="Courier New"/>
              </a:rPr>
              <a:t>facet</a:t>
            </a:r>
            <a:r>
              <a:rPr sz="2350" spc="-110" dirty="0">
                <a:latin typeface="Courier New"/>
                <a:cs typeface="Courier New"/>
              </a:rPr>
              <a:t>_</a:t>
            </a:r>
            <a:r>
              <a:rPr sz="1900" spc="-110" dirty="0">
                <a:latin typeface="Courier New"/>
                <a:cs typeface="Courier New"/>
              </a:rPr>
              <a:t>wrap</a:t>
            </a:r>
            <a:r>
              <a:rPr sz="2350" spc="-11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380"/>
              </a:spcBef>
            </a:pPr>
            <a:r>
              <a:rPr sz="2350" spc="-110" dirty="0">
                <a:latin typeface="Courier New"/>
                <a:cs typeface="Courier New"/>
              </a:rPr>
              <a:t>+</a:t>
            </a:r>
            <a:r>
              <a:rPr sz="1900" spc="-110" dirty="0">
                <a:latin typeface="Courier New"/>
                <a:cs typeface="Courier New"/>
              </a:rPr>
              <a:t>facet</a:t>
            </a:r>
            <a:r>
              <a:rPr sz="2350" spc="-110" dirty="0">
                <a:latin typeface="Courier New"/>
                <a:cs typeface="Courier New"/>
              </a:rPr>
              <a:t>_</a:t>
            </a:r>
            <a:r>
              <a:rPr sz="1900" spc="-110" dirty="0">
                <a:latin typeface="Courier New"/>
                <a:cs typeface="Courier New"/>
              </a:rPr>
              <a:t>grid</a:t>
            </a:r>
            <a:r>
              <a:rPr sz="2350" spc="-11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02235">
              <a:lnSpc>
                <a:spcPts val="3165"/>
              </a:lnSpc>
            </a:pPr>
            <a:r>
              <a:rPr sz="1900" dirty="0">
                <a:latin typeface="Courier New"/>
                <a:cs typeface="Courier New"/>
              </a:rPr>
              <a:t>g</a:t>
            </a:r>
            <a:r>
              <a:rPr sz="1900" spc="-204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14" dirty="0">
                <a:latin typeface="Courier New"/>
                <a:cs typeface="Courier New"/>
              </a:rPr>
              <a:t>facet</a:t>
            </a:r>
            <a:r>
              <a:rPr sz="2350" spc="-114" dirty="0">
                <a:latin typeface="Courier New"/>
                <a:cs typeface="Courier New"/>
              </a:rPr>
              <a:t>_</a:t>
            </a:r>
            <a:r>
              <a:rPr sz="1900" spc="-114" dirty="0">
                <a:latin typeface="Courier New"/>
                <a:cs typeface="Courier New"/>
              </a:rPr>
              <a:t>grid</a:t>
            </a:r>
            <a:r>
              <a:rPr sz="2350" spc="-114" dirty="0">
                <a:latin typeface="Courier New"/>
                <a:cs typeface="Courier New"/>
              </a:rPr>
              <a:t>(</a:t>
            </a:r>
            <a:r>
              <a:rPr sz="1900" spc="-114" dirty="0">
                <a:latin typeface="Courier New"/>
                <a:cs typeface="Courier New"/>
              </a:rPr>
              <a:t>continent</a:t>
            </a:r>
            <a:r>
              <a:rPr sz="1900" spc="-10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~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75" dirty="0">
                <a:latin typeface="Courier New"/>
                <a:cs typeface="Courier New"/>
              </a:rPr>
              <a:t>countr</a:t>
            </a:r>
            <a:r>
              <a:rPr sz="2700" spc="-75" dirty="0">
                <a:latin typeface="Courier New"/>
                <a:cs typeface="Courier New"/>
              </a:rPr>
              <a:t>y</a:t>
            </a:r>
            <a:r>
              <a:rPr sz="2350" spc="-75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288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</a:t>
            </a:r>
            <a:r>
              <a:rPr sz="2600" spc="-10" dirty="0">
                <a:latin typeface="Trebuchet MS"/>
                <a:cs typeface="Trebuchet MS"/>
              </a:rPr>
              <a:t>Labels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4115934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35" dirty="0">
                <a:latin typeface="Courier New"/>
                <a:cs typeface="Courier New"/>
              </a:rPr>
              <a:t>labs</a:t>
            </a:r>
            <a:r>
              <a:rPr sz="2350" spc="-35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02235">
              <a:lnSpc>
                <a:spcPts val="3165"/>
              </a:lnSpc>
            </a:pPr>
            <a:r>
              <a:rPr sz="1900" dirty="0">
                <a:latin typeface="Courier New"/>
                <a:cs typeface="Courier New"/>
              </a:rPr>
              <a:t>g</a:t>
            </a:r>
            <a:r>
              <a:rPr sz="1900" spc="-21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25" dirty="0">
                <a:latin typeface="Courier New"/>
                <a:cs typeface="Courier New"/>
              </a:rPr>
              <a:t>labs</a:t>
            </a:r>
            <a:r>
              <a:rPr sz="2350" spc="-125" dirty="0">
                <a:latin typeface="Courier New"/>
                <a:cs typeface="Courier New"/>
              </a:rPr>
              <a:t>(</a:t>
            </a:r>
            <a:r>
              <a:rPr sz="1900" spc="-125" dirty="0">
                <a:latin typeface="Courier New"/>
                <a:cs typeface="Courier New"/>
              </a:rPr>
              <a:t>x</a:t>
            </a:r>
            <a:r>
              <a:rPr sz="1900" spc="-8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350" spc="-215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900" spc="-215" dirty="0">
                <a:solidFill>
                  <a:srgbClr val="DD1144"/>
                </a:solidFill>
                <a:latin typeface="Courier New"/>
                <a:cs typeface="Courier New"/>
              </a:rPr>
              <a:t>Year</a:t>
            </a:r>
            <a:r>
              <a:rPr sz="2350" spc="-215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2350" spc="-215" dirty="0">
                <a:latin typeface="Courier New"/>
                <a:cs typeface="Courier New"/>
              </a:rPr>
              <a:t>,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700" spc="-620" dirty="0">
                <a:latin typeface="Courier New"/>
                <a:cs typeface="Courier New"/>
              </a:rPr>
              <a:t>y</a:t>
            </a:r>
            <a:r>
              <a:rPr sz="2700" spc="-5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350" spc="-9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900" spc="-90" dirty="0">
                <a:solidFill>
                  <a:srgbClr val="DD1144"/>
                </a:solidFill>
                <a:latin typeface="Courier New"/>
                <a:cs typeface="Courier New"/>
              </a:rPr>
              <a:t>Population</a:t>
            </a:r>
            <a:r>
              <a:rPr sz="2350" spc="-9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2350" spc="-90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3455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</a:t>
            </a:r>
            <a:r>
              <a:rPr sz="2600" spc="-10" dirty="0">
                <a:latin typeface="Trebuchet MS"/>
                <a:cs typeface="Trebuchet MS"/>
              </a:rPr>
              <a:t>Coords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4687591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14" dirty="0">
                <a:latin typeface="Courier New"/>
                <a:cs typeface="Courier New"/>
              </a:rPr>
              <a:t>coord</a:t>
            </a:r>
            <a:r>
              <a:rPr sz="2350" spc="-114" dirty="0">
                <a:latin typeface="Courier New"/>
                <a:cs typeface="Courier New"/>
              </a:rPr>
              <a:t>_*()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75"/>
              </a:spcBef>
            </a:pPr>
            <a:r>
              <a:rPr sz="1900" dirty="0">
                <a:latin typeface="Courier New"/>
                <a:cs typeface="Courier New"/>
              </a:rPr>
              <a:t>g</a:t>
            </a:r>
            <a:r>
              <a:rPr sz="1900" spc="-18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90" dirty="0">
                <a:latin typeface="Courier New"/>
                <a:cs typeface="Courier New"/>
              </a:rPr>
              <a:t>coord</a:t>
            </a:r>
            <a:r>
              <a:rPr sz="2350" spc="-90" dirty="0">
                <a:latin typeface="Courier New"/>
                <a:cs typeface="Courier New"/>
              </a:rPr>
              <a:t>_</a:t>
            </a:r>
            <a:r>
              <a:rPr sz="1900" spc="-90" dirty="0">
                <a:latin typeface="Courier New"/>
                <a:cs typeface="Courier New"/>
              </a:rPr>
              <a:t>flip</a:t>
            </a:r>
            <a:r>
              <a:rPr sz="2350" spc="-9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3455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</a:t>
            </a:r>
            <a:r>
              <a:rPr sz="2600" spc="-10" dirty="0">
                <a:latin typeface="Trebuchet MS"/>
                <a:cs typeface="Trebuchet MS"/>
              </a:rPr>
              <a:t>Coords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4687591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850" spc="-100" dirty="0">
                <a:latin typeface="Courier New"/>
                <a:cs typeface="Courier New"/>
              </a:rPr>
              <a:t>coord</a:t>
            </a:r>
            <a:r>
              <a:rPr sz="2350" spc="-100" dirty="0">
                <a:latin typeface="Courier New"/>
                <a:cs typeface="Courier New"/>
              </a:rPr>
              <a:t>_*()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75"/>
              </a:spcBef>
            </a:pPr>
            <a:r>
              <a:rPr sz="1850" dirty="0">
                <a:latin typeface="Courier New"/>
                <a:cs typeface="Courier New"/>
              </a:rPr>
              <a:t>g</a:t>
            </a:r>
            <a:r>
              <a:rPr sz="1850" spc="-12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850" spc="-65" dirty="0">
                <a:latin typeface="Courier New"/>
                <a:cs typeface="Courier New"/>
              </a:rPr>
              <a:t>coord</a:t>
            </a:r>
            <a:r>
              <a:rPr sz="2350" spc="-65" dirty="0">
                <a:latin typeface="Courier New"/>
                <a:cs typeface="Courier New"/>
              </a:rPr>
              <a:t>_</a:t>
            </a:r>
            <a:r>
              <a:rPr sz="1850" spc="-65" dirty="0">
                <a:latin typeface="Courier New"/>
                <a:cs typeface="Courier New"/>
              </a:rPr>
              <a:t>polar</a:t>
            </a:r>
            <a:r>
              <a:rPr sz="2350" spc="-65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4027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 </a:t>
            </a:r>
            <a:r>
              <a:rPr sz="2600" spc="45" dirty="0">
                <a:latin typeface="Trebuchet MS"/>
                <a:cs typeface="Trebuchet MS"/>
              </a:rPr>
              <a:t>Scales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5259249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scale</a:t>
            </a:r>
            <a:r>
              <a:rPr sz="1750" spc="-10" dirty="0">
                <a:latin typeface="Courier New"/>
                <a:cs typeface="Courier New"/>
              </a:rPr>
              <a:t>_*_*()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5060" y="1286229"/>
            <a:ext cx="648335" cy="305435"/>
          </a:xfrm>
          <a:custGeom>
            <a:avLst/>
            <a:gdLst/>
            <a:ahLst/>
            <a:cxnLst/>
            <a:rect l="l" t="t" r="r" b="b"/>
            <a:pathLst>
              <a:path w="648335" h="305434">
                <a:moveTo>
                  <a:pt x="623086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623086" y="0"/>
                </a:lnTo>
                <a:lnTo>
                  <a:pt x="647878" y="24792"/>
                </a:lnTo>
                <a:lnTo>
                  <a:pt x="647878" y="280091"/>
                </a:lnTo>
                <a:lnTo>
                  <a:pt x="626731" y="304158"/>
                </a:lnTo>
                <a:lnTo>
                  <a:pt x="623086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20657" y="1286229"/>
            <a:ext cx="191135" cy="305435"/>
          </a:xfrm>
          <a:custGeom>
            <a:avLst/>
            <a:gdLst/>
            <a:ahLst/>
            <a:cxnLst/>
            <a:rect l="l" t="t" r="r" b="b"/>
            <a:pathLst>
              <a:path w="191135" h="305434">
                <a:moveTo>
                  <a:pt x="165760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65760" y="0"/>
                </a:lnTo>
                <a:lnTo>
                  <a:pt x="190552" y="24792"/>
                </a:lnTo>
                <a:lnTo>
                  <a:pt x="190552" y="280091"/>
                </a:lnTo>
                <a:lnTo>
                  <a:pt x="169405" y="304158"/>
                </a:lnTo>
                <a:lnTo>
                  <a:pt x="165760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58928" y="1286229"/>
            <a:ext cx="648335" cy="305435"/>
          </a:xfrm>
          <a:custGeom>
            <a:avLst/>
            <a:gdLst/>
            <a:ahLst/>
            <a:cxnLst/>
            <a:rect l="l" t="t" r="r" b="b"/>
            <a:pathLst>
              <a:path w="648335" h="305434">
                <a:moveTo>
                  <a:pt x="623085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623085" y="0"/>
                </a:lnTo>
                <a:lnTo>
                  <a:pt x="647878" y="24792"/>
                </a:lnTo>
                <a:lnTo>
                  <a:pt x="647878" y="280091"/>
                </a:lnTo>
                <a:lnTo>
                  <a:pt x="626731" y="304158"/>
                </a:lnTo>
                <a:lnTo>
                  <a:pt x="623085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54525" y="1286229"/>
            <a:ext cx="191135" cy="305435"/>
          </a:xfrm>
          <a:custGeom>
            <a:avLst/>
            <a:gdLst/>
            <a:ahLst/>
            <a:cxnLst/>
            <a:rect l="l" t="t" r="r" b="b"/>
            <a:pathLst>
              <a:path w="191135" h="305434">
                <a:moveTo>
                  <a:pt x="165759" y="304883"/>
                </a:moveTo>
                <a:lnTo>
                  <a:pt x="24791" y="304883"/>
                </a:lnTo>
                <a:lnTo>
                  <a:pt x="21145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1" y="0"/>
                </a:lnTo>
                <a:lnTo>
                  <a:pt x="165759" y="0"/>
                </a:lnTo>
                <a:lnTo>
                  <a:pt x="190551" y="24792"/>
                </a:lnTo>
                <a:lnTo>
                  <a:pt x="190551" y="280091"/>
                </a:lnTo>
                <a:lnTo>
                  <a:pt x="169404" y="304158"/>
                </a:lnTo>
                <a:lnTo>
                  <a:pt x="165759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92795" y="1286229"/>
            <a:ext cx="762635" cy="305435"/>
          </a:xfrm>
          <a:custGeom>
            <a:avLst/>
            <a:gdLst/>
            <a:ahLst/>
            <a:cxnLst/>
            <a:rect l="l" t="t" r="r" b="b"/>
            <a:pathLst>
              <a:path w="762634" h="305434">
                <a:moveTo>
                  <a:pt x="737418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737418" y="0"/>
                </a:lnTo>
                <a:lnTo>
                  <a:pt x="762210" y="24792"/>
                </a:lnTo>
                <a:lnTo>
                  <a:pt x="762210" y="280091"/>
                </a:lnTo>
                <a:lnTo>
                  <a:pt x="741063" y="304158"/>
                </a:lnTo>
                <a:lnTo>
                  <a:pt x="737418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02723" y="1286229"/>
            <a:ext cx="305435" cy="305435"/>
          </a:xfrm>
          <a:custGeom>
            <a:avLst/>
            <a:gdLst/>
            <a:ahLst/>
            <a:cxnLst/>
            <a:rect l="l" t="t" r="r" b="b"/>
            <a:pathLst>
              <a:path w="305434" h="305434">
                <a:moveTo>
                  <a:pt x="280091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280091" y="0"/>
                </a:lnTo>
                <a:lnTo>
                  <a:pt x="304884" y="24792"/>
                </a:lnTo>
                <a:lnTo>
                  <a:pt x="304884" y="280091"/>
                </a:lnTo>
                <a:lnTo>
                  <a:pt x="283737" y="304158"/>
                </a:lnTo>
                <a:lnTo>
                  <a:pt x="280091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45707" y="1187336"/>
            <a:ext cx="3931920" cy="391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latin typeface="Courier New"/>
                <a:cs typeface="Courier New"/>
              </a:rPr>
              <a:t>scale</a:t>
            </a:r>
            <a:r>
              <a:rPr sz="1650" spc="-165" dirty="0">
                <a:latin typeface="Courier New"/>
                <a:cs typeface="Courier New"/>
              </a:rPr>
              <a:t> </a:t>
            </a:r>
            <a:r>
              <a:rPr sz="1850" dirty="0">
                <a:latin typeface="Trebuchet MS"/>
                <a:cs typeface="Trebuchet MS"/>
              </a:rPr>
              <a:t>+</a:t>
            </a:r>
            <a:r>
              <a:rPr sz="1850" spc="125" dirty="0">
                <a:latin typeface="Trebuchet MS"/>
                <a:cs typeface="Trebuchet MS"/>
              </a:rPr>
              <a:t> </a:t>
            </a:r>
            <a:r>
              <a:rPr sz="1550" dirty="0">
                <a:latin typeface="Courier New"/>
                <a:cs typeface="Courier New"/>
              </a:rPr>
              <a:t>_</a:t>
            </a:r>
            <a:r>
              <a:rPr sz="1550" spc="-130" dirty="0">
                <a:latin typeface="Courier New"/>
                <a:cs typeface="Courier New"/>
              </a:rPr>
              <a:t> </a:t>
            </a:r>
            <a:r>
              <a:rPr sz="1850" dirty="0">
                <a:latin typeface="Trebuchet MS"/>
                <a:cs typeface="Trebuchet MS"/>
              </a:rPr>
              <a:t>+</a:t>
            </a:r>
            <a:r>
              <a:rPr sz="1850" spc="215" dirty="0">
                <a:latin typeface="Trebuchet MS"/>
                <a:cs typeface="Trebuchet MS"/>
              </a:rPr>
              <a:t> </a:t>
            </a:r>
            <a:r>
              <a:rPr sz="2100" spc="-215" dirty="0">
                <a:latin typeface="Courier New"/>
                <a:cs typeface="Courier New"/>
              </a:rPr>
              <a:t>&lt;</a:t>
            </a:r>
            <a:r>
              <a:rPr sz="1650" spc="-215" dirty="0">
                <a:latin typeface="Courier New"/>
                <a:cs typeface="Courier New"/>
              </a:rPr>
              <a:t>aes</a:t>
            </a:r>
            <a:r>
              <a:rPr sz="2100" spc="-215" dirty="0">
                <a:latin typeface="Courier New"/>
                <a:cs typeface="Courier New"/>
              </a:rPr>
              <a:t>&gt;</a:t>
            </a:r>
            <a:r>
              <a:rPr sz="2100" spc="-434" dirty="0">
                <a:latin typeface="Courier New"/>
                <a:cs typeface="Courier New"/>
              </a:rPr>
              <a:t> </a:t>
            </a:r>
            <a:r>
              <a:rPr sz="1850" dirty="0">
                <a:latin typeface="Trebuchet MS"/>
                <a:cs typeface="Trebuchet MS"/>
              </a:rPr>
              <a:t>+</a:t>
            </a:r>
            <a:r>
              <a:rPr sz="1850" spc="210" dirty="0">
                <a:latin typeface="Trebuchet MS"/>
                <a:cs typeface="Trebuchet MS"/>
              </a:rPr>
              <a:t> </a:t>
            </a:r>
            <a:r>
              <a:rPr sz="1550" dirty="0">
                <a:latin typeface="Courier New"/>
                <a:cs typeface="Courier New"/>
              </a:rPr>
              <a:t>_</a:t>
            </a:r>
            <a:r>
              <a:rPr sz="1550" spc="-130" dirty="0">
                <a:latin typeface="Courier New"/>
                <a:cs typeface="Courier New"/>
              </a:rPr>
              <a:t> </a:t>
            </a:r>
            <a:r>
              <a:rPr sz="1850" dirty="0">
                <a:latin typeface="Trebuchet MS"/>
                <a:cs typeface="Trebuchet MS"/>
              </a:rPr>
              <a:t>+</a:t>
            </a:r>
            <a:r>
              <a:rPr sz="1850" spc="210" dirty="0">
                <a:latin typeface="Trebuchet MS"/>
                <a:cs typeface="Trebuchet MS"/>
              </a:rPr>
              <a:t> </a:t>
            </a:r>
            <a:r>
              <a:rPr sz="2100" spc="-265" dirty="0">
                <a:latin typeface="Courier New"/>
                <a:cs typeface="Courier New"/>
              </a:rPr>
              <a:t>&lt;</a:t>
            </a:r>
            <a:r>
              <a:rPr sz="1650" spc="-265" dirty="0">
                <a:latin typeface="Courier New"/>
                <a:cs typeface="Courier New"/>
              </a:rPr>
              <a:t>t</a:t>
            </a:r>
            <a:r>
              <a:rPr sz="2400" spc="-265" dirty="0">
                <a:latin typeface="Courier New"/>
                <a:cs typeface="Courier New"/>
              </a:rPr>
              <a:t>y</a:t>
            </a:r>
            <a:r>
              <a:rPr sz="1650" spc="-265" dirty="0">
                <a:latin typeface="Courier New"/>
                <a:cs typeface="Courier New"/>
              </a:rPr>
              <a:t>pe</a:t>
            </a:r>
            <a:r>
              <a:rPr sz="2100" spc="-265" dirty="0">
                <a:latin typeface="Courier New"/>
                <a:cs typeface="Courier New"/>
              </a:rPr>
              <a:t>&gt;</a:t>
            </a:r>
            <a:r>
              <a:rPr sz="2100" spc="-434" dirty="0">
                <a:latin typeface="Courier New"/>
                <a:cs typeface="Courier New"/>
              </a:rPr>
              <a:t> </a:t>
            </a:r>
            <a:r>
              <a:rPr sz="1850" dirty="0">
                <a:latin typeface="Trebuchet MS"/>
                <a:cs typeface="Trebuchet MS"/>
              </a:rPr>
              <a:t>+</a:t>
            </a:r>
            <a:r>
              <a:rPr sz="1850" spc="215" dirty="0">
                <a:latin typeface="Trebuchet MS"/>
                <a:cs typeface="Trebuchet MS"/>
              </a:rPr>
              <a:t> </a:t>
            </a:r>
            <a:r>
              <a:rPr sz="1550" spc="-25" dirty="0">
                <a:latin typeface="Courier New"/>
                <a:cs typeface="Courier New"/>
              </a:rPr>
              <a:t>()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79264" y="1876942"/>
            <a:ext cx="648335" cy="305435"/>
          </a:xfrm>
          <a:custGeom>
            <a:avLst/>
            <a:gdLst/>
            <a:ahLst/>
            <a:cxnLst/>
            <a:rect l="l" t="t" r="r" b="b"/>
            <a:pathLst>
              <a:path w="648334" h="305435">
                <a:moveTo>
                  <a:pt x="623086" y="304883"/>
                </a:moveTo>
                <a:lnTo>
                  <a:pt x="24793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1" y="276301"/>
                </a:lnTo>
                <a:lnTo>
                  <a:pt x="0" y="24792"/>
                </a:lnTo>
                <a:lnTo>
                  <a:pt x="24793" y="0"/>
                </a:lnTo>
                <a:lnTo>
                  <a:pt x="623086" y="0"/>
                </a:lnTo>
                <a:lnTo>
                  <a:pt x="647879" y="24792"/>
                </a:lnTo>
                <a:lnTo>
                  <a:pt x="647879" y="280091"/>
                </a:lnTo>
                <a:lnTo>
                  <a:pt x="626732" y="304158"/>
                </a:lnTo>
                <a:lnTo>
                  <a:pt x="623086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88312" y="2229464"/>
            <a:ext cx="762635" cy="305435"/>
          </a:xfrm>
          <a:custGeom>
            <a:avLst/>
            <a:gdLst/>
            <a:ahLst/>
            <a:cxnLst/>
            <a:rect l="l" t="t" r="r" b="b"/>
            <a:pathLst>
              <a:path w="762634" h="305435">
                <a:moveTo>
                  <a:pt x="737417" y="304883"/>
                </a:moveTo>
                <a:lnTo>
                  <a:pt x="24792" y="304883"/>
                </a:lnTo>
                <a:lnTo>
                  <a:pt x="21145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737417" y="0"/>
                </a:lnTo>
                <a:lnTo>
                  <a:pt x="762210" y="24792"/>
                </a:lnTo>
                <a:lnTo>
                  <a:pt x="762210" y="280091"/>
                </a:lnTo>
                <a:lnTo>
                  <a:pt x="741063" y="304158"/>
                </a:lnTo>
                <a:lnTo>
                  <a:pt x="737417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07597" y="1816604"/>
            <a:ext cx="5189855" cy="70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00"/>
              </a:lnSpc>
              <a:spcBef>
                <a:spcPts val="100"/>
              </a:spcBef>
            </a:pPr>
            <a:r>
              <a:rPr sz="1850" dirty="0">
                <a:latin typeface="Trebuchet MS"/>
                <a:cs typeface="Trebuchet MS"/>
              </a:rPr>
              <a:t>What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spc="-20" dirty="0">
                <a:latin typeface="Trebuchet MS"/>
                <a:cs typeface="Trebuchet MS"/>
              </a:rPr>
              <a:t>parameter</a:t>
            </a:r>
            <a:r>
              <a:rPr sz="1850" spc="-50" dirty="0">
                <a:latin typeface="Trebuchet MS"/>
                <a:cs typeface="Trebuchet MS"/>
              </a:rPr>
              <a:t> </a:t>
            </a:r>
            <a:r>
              <a:rPr sz="1850" spc="85" dirty="0">
                <a:latin typeface="Trebuchet MS"/>
                <a:cs typeface="Trebuchet MS"/>
              </a:rPr>
              <a:t>do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you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want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adjust?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spc="325" dirty="0">
                <a:latin typeface="Cambria"/>
                <a:cs typeface="Cambria"/>
              </a:rPr>
              <a:t>→</a:t>
            </a:r>
            <a:r>
              <a:rPr sz="1850" spc="434" dirty="0">
                <a:latin typeface="Cambria"/>
                <a:cs typeface="Cambria"/>
              </a:rPr>
              <a:t> </a:t>
            </a:r>
            <a:r>
              <a:rPr sz="2100" spc="-175" dirty="0">
                <a:latin typeface="Courier New"/>
                <a:cs typeface="Courier New"/>
              </a:rPr>
              <a:t>&lt;</a:t>
            </a:r>
            <a:r>
              <a:rPr sz="1650" spc="-175" dirty="0">
                <a:latin typeface="Courier New"/>
                <a:cs typeface="Courier New"/>
              </a:rPr>
              <a:t>aes</a:t>
            </a:r>
            <a:r>
              <a:rPr sz="2100" spc="-175" dirty="0">
                <a:latin typeface="Courier New"/>
                <a:cs typeface="Courier New"/>
              </a:rPr>
              <a:t>&gt;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ts val="2860"/>
              </a:lnSpc>
            </a:pPr>
            <a:r>
              <a:rPr sz="1850" dirty="0">
                <a:latin typeface="Trebuchet MS"/>
                <a:cs typeface="Trebuchet MS"/>
              </a:rPr>
              <a:t>What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type</a:t>
            </a:r>
            <a:r>
              <a:rPr sz="1850" spc="-75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is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</a:t>
            </a:r>
            <a:r>
              <a:rPr sz="1850" spc="-7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parameter?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spc="325" dirty="0">
                <a:latin typeface="Cambria"/>
                <a:cs typeface="Cambria"/>
              </a:rPr>
              <a:t>→</a:t>
            </a:r>
            <a:r>
              <a:rPr sz="1850" spc="405" dirty="0">
                <a:latin typeface="Cambria"/>
                <a:cs typeface="Cambria"/>
              </a:rPr>
              <a:t> </a:t>
            </a:r>
            <a:r>
              <a:rPr sz="2100" spc="-275" dirty="0">
                <a:latin typeface="Courier New"/>
                <a:cs typeface="Courier New"/>
              </a:rPr>
              <a:t>&lt;</a:t>
            </a:r>
            <a:r>
              <a:rPr sz="1650" spc="-275" dirty="0">
                <a:latin typeface="Courier New"/>
                <a:cs typeface="Courier New"/>
              </a:rPr>
              <a:t>t</a:t>
            </a:r>
            <a:r>
              <a:rPr sz="2400" spc="-275" dirty="0">
                <a:latin typeface="Courier New"/>
                <a:cs typeface="Courier New"/>
              </a:rPr>
              <a:t>y</a:t>
            </a:r>
            <a:r>
              <a:rPr sz="1650" spc="-275" dirty="0">
                <a:latin typeface="Courier New"/>
                <a:cs typeface="Courier New"/>
              </a:rPr>
              <a:t>pe</a:t>
            </a:r>
            <a:r>
              <a:rPr sz="2100" spc="-275" dirty="0">
                <a:latin typeface="Courier New"/>
                <a:cs typeface="Courier New"/>
              </a:rPr>
              <a:t>&gt;</a:t>
            </a:r>
            <a:endParaRPr sz="210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2934508"/>
            <a:ext cx="76221" cy="7622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506165" y="3172699"/>
            <a:ext cx="2134235" cy="305435"/>
          </a:xfrm>
          <a:custGeom>
            <a:avLst/>
            <a:gdLst/>
            <a:ahLst/>
            <a:cxnLst/>
            <a:rect l="l" t="t" r="r" b="b"/>
            <a:pathLst>
              <a:path w="2134235" h="305435">
                <a:moveTo>
                  <a:pt x="2109395" y="304884"/>
                </a:moveTo>
                <a:lnTo>
                  <a:pt x="24792" y="304884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2109395" y="0"/>
                </a:lnTo>
                <a:lnTo>
                  <a:pt x="2134187" y="24792"/>
                </a:lnTo>
                <a:lnTo>
                  <a:pt x="2134187" y="280091"/>
                </a:lnTo>
                <a:lnTo>
                  <a:pt x="2113040" y="304158"/>
                </a:lnTo>
                <a:lnTo>
                  <a:pt x="2109395" y="304884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3639552"/>
            <a:ext cx="76221" cy="7622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3506165" y="3877743"/>
            <a:ext cx="2706370" cy="305435"/>
          </a:xfrm>
          <a:custGeom>
            <a:avLst/>
            <a:gdLst/>
            <a:ahLst/>
            <a:cxnLst/>
            <a:rect l="l" t="t" r="r" b="b"/>
            <a:pathLst>
              <a:path w="2706370" h="305435">
                <a:moveTo>
                  <a:pt x="2681052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2681052" y="0"/>
                </a:lnTo>
                <a:lnTo>
                  <a:pt x="2705845" y="24792"/>
                </a:lnTo>
                <a:lnTo>
                  <a:pt x="2705845" y="280091"/>
                </a:lnTo>
                <a:lnTo>
                  <a:pt x="2684698" y="304158"/>
                </a:lnTo>
                <a:lnTo>
                  <a:pt x="2681052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4344597"/>
            <a:ext cx="76221" cy="7622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3506165" y="4582787"/>
            <a:ext cx="1791335" cy="305435"/>
          </a:xfrm>
          <a:custGeom>
            <a:avLst/>
            <a:gdLst/>
            <a:ahLst/>
            <a:cxnLst/>
            <a:rect l="l" t="t" r="r" b="b"/>
            <a:pathLst>
              <a:path w="1791335" h="305435">
                <a:moveTo>
                  <a:pt x="1766400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0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766400" y="0"/>
                </a:lnTo>
                <a:lnTo>
                  <a:pt x="1791193" y="24792"/>
                </a:lnTo>
                <a:lnTo>
                  <a:pt x="1791193" y="280090"/>
                </a:lnTo>
                <a:lnTo>
                  <a:pt x="1770046" y="304158"/>
                </a:lnTo>
                <a:lnTo>
                  <a:pt x="1766400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5049641"/>
            <a:ext cx="76221" cy="76221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3506165" y="5287831"/>
            <a:ext cx="2477770" cy="305435"/>
          </a:xfrm>
          <a:custGeom>
            <a:avLst/>
            <a:gdLst/>
            <a:ahLst/>
            <a:cxnLst/>
            <a:rect l="l" t="t" r="r" b="b"/>
            <a:pathLst>
              <a:path w="2477770" h="305435">
                <a:moveTo>
                  <a:pt x="2452389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0"/>
                </a:lnTo>
                <a:lnTo>
                  <a:pt x="0" y="276301"/>
                </a:lnTo>
                <a:lnTo>
                  <a:pt x="0" y="24791"/>
                </a:lnTo>
                <a:lnTo>
                  <a:pt x="24792" y="0"/>
                </a:lnTo>
                <a:lnTo>
                  <a:pt x="2452389" y="0"/>
                </a:lnTo>
                <a:lnTo>
                  <a:pt x="2477182" y="24791"/>
                </a:lnTo>
                <a:lnTo>
                  <a:pt x="2477182" y="280090"/>
                </a:lnTo>
                <a:lnTo>
                  <a:pt x="2456035" y="304158"/>
                </a:lnTo>
                <a:lnTo>
                  <a:pt x="2452389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06165" y="5640354"/>
            <a:ext cx="2363470" cy="305435"/>
          </a:xfrm>
          <a:custGeom>
            <a:avLst/>
            <a:gdLst/>
            <a:ahLst/>
            <a:cxnLst/>
            <a:rect l="l" t="t" r="r" b="b"/>
            <a:pathLst>
              <a:path w="2363470" h="305435">
                <a:moveTo>
                  <a:pt x="2338058" y="304883"/>
                </a:moveTo>
                <a:lnTo>
                  <a:pt x="24792" y="304883"/>
                </a:lnTo>
                <a:lnTo>
                  <a:pt x="21146" y="304157"/>
                </a:lnTo>
                <a:lnTo>
                  <a:pt x="0" y="280090"/>
                </a:lnTo>
                <a:lnTo>
                  <a:pt x="0" y="276301"/>
                </a:lnTo>
                <a:lnTo>
                  <a:pt x="0" y="24791"/>
                </a:lnTo>
                <a:lnTo>
                  <a:pt x="24792" y="0"/>
                </a:lnTo>
                <a:lnTo>
                  <a:pt x="2338058" y="0"/>
                </a:lnTo>
                <a:lnTo>
                  <a:pt x="2362850" y="24791"/>
                </a:lnTo>
                <a:lnTo>
                  <a:pt x="2362850" y="280090"/>
                </a:lnTo>
                <a:lnTo>
                  <a:pt x="2341704" y="304157"/>
                </a:lnTo>
                <a:lnTo>
                  <a:pt x="2338058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88702" y="2688243"/>
            <a:ext cx="6698615" cy="322707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50" dirty="0">
                <a:latin typeface="Trebuchet MS"/>
                <a:cs typeface="Trebuchet MS"/>
              </a:rPr>
              <a:t>I</a:t>
            </a:r>
            <a:r>
              <a:rPr sz="1850" spc="-1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want</a:t>
            </a:r>
            <a:r>
              <a:rPr sz="1850" spc="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change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my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discrete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65" dirty="0">
                <a:latin typeface="Trebuchet MS"/>
                <a:cs typeface="Trebuchet MS"/>
              </a:rPr>
              <a:t>x-</a:t>
            </a:r>
            <a:r>
              <a:rPr sz="1850" spc="-20" dirty="0">
                <a:latin typeface="Trebuchet MS"/>
                <a:cs typeface="Trebuchet MS"/>
              </a:rPr>
              <a:t>axis</a:t>
            </a:r>
            <a:endParaRPr sz="18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755"/>
              </a:spcBef>
            </a:pPr>
            <a:r>
              <a:rPr sz="1650" spc="-30" dirty="0">
                <a:latin typeface="Courier New"/>
                <a:cs typeface="Courier New"/>
              </a:rPr>
              <a:t>scale</a:t>
            </a:r>
            <a:r>
              <a:rPr sz="1550" spc="-30" dirty="0">
                <a:latin typeface="Courier New"/>
                <a:cs typeface="Courier New"/>
              </a:rPr>
              <a:t>_</a:t>
            </a:r>
            <a:r>
              <a:rPr sz="1650" spc="-30" dirty="0">
                <a:latin typeface="Courier New"/>
                <a:cs typeface="Courier New"/>
              </a:rPr>
              <a:t>x</a:t>
            </a:r>
            <a:r>
              <a:rPr sz="1550" spc="-30" dirty="0">
                <a:latin typeface="Courier New"/>
                <a:cs typeface="Courier New"/>
              </a:rPr>
              <a:t>_</a:t>
            </a:r>
            <a:r>
              <a:rPr sz="1650" spc="-30" dirty="0">
                <a:latin typeface="Courier New"/>
                <a:cs typeface="Courier New"/>
              </a:rPr>
              <a:t>discrete</a:t>
            </a:r>
            <a:r>
              <a:rPr sz="1550" spc="-30" dirty="0">
                <a:latin typeface="Courier New"/>
                <a:cs typeface="Courier New"/>
              </a:rPr>
              <a:t>()</a:t>
            </a: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850" dirty="0">
                <a:latin typeface="Trebuchet MS"/>
                <a:cs typeface="Trebuchet MS"/>
              </a:rPr>
              <a:t>I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want</a:t>
            </a:r>
            <a:r>
              <a:rPr sz="1850" spc="9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change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range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of</a:t>
            </a:r>
            <a:r>
              <a:rPr sz="1850" spc="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point</a:t>
            </a:r>
            <a:r>
              <a:rPr sz="1850" spc="8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sizes</a:t>
            </a:r>
            <a:r>
              <a:rPr sz="1850" spc="8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from</a:t>
            </a:r>
            <a:r>
              <a:rPr sz="1850" spc="1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continuous</a:t>
            </a:r>
            <a:r>
              <a:rPr sz="1850" spc="8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variable</a:t>
            </a:r>
            <a:endParaRPr sz="18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650" spc="-65" dirty="0">
                <a:latin typeface="Courier New"/>
                <a:cs typeface="Courier New"/>
              </a:rPr>
              <a:t>scale</a:t>
            </a:r>
            <a:r>
              <a:rPr sz="1550" spc="-65" dirty="0">
                <a:latin typeface="Courier New"/>
                <a:cs typeface="Courier New"/>
              </a:rPr>
              <a:t>_</a:t>
            </a:r>
            <a:r>
              <a:rPr sz="1650" spc="-65" dirty="0">
                <a:latin typeface="Courier New"/>
                <a:cs typeface="Courier New"/>
              </a:rPr>
              <a:t>si</a:t>
            </a:r>
            <a:r>
              <a:rPr sz="2400" spc="-65" dirty="0">
                <a:latin typeface="Courier New"/>
                <a:cs typeface="Courier New"/>
              </a:rPr>
              <a:t>z</a:t>
            </a:r>
            <a:r>
              <a:rPr sz="1650" spc="-65" dirty="0">
                <a:latin typeface="Courier New"/>
                <a:cs typeface="Courier New"/>
              </a:rPr>
              <a:t>e</a:t>
            </a:r>
            <a:r>
              <a:rPr sz="1550" spc="-65" dirty="0">
                <a:latin typeface="Courier New"/>
                <a:cs typeface="Courier New"/>
              </a:rPr>
              <a:t>_</a:t>
            </a:r>
            <a:r>
              <a:rPr sz="1650" spc="-65" dirty="0">
                <a:latin typeface="Courier New"/>
                <a:cs typeface="Courier New"/>
              </a:rPr>
              <a:t>continuous</a:t>
            </a:r>
            <a:r>
              <a:rPr sz="1550" spc="-65" dirty="0">
                <a:latin typeface="Courier New"/>
                <a:cs typeface="Courier New"/>
              </a:rPr>
              <a:t>()</a:t>
            </a: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850" dirty="0">
                <a:latin typeface="Trebuchet MS"/>
                <a:cs typeface="Trebuchet MS"/>
              </a:rPr>
              <a:t>I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want to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rescale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y-axis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as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log</a:t>
            </a:r>
            <a:endParaRPr sz="18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650" spc="-40" dirty="0">
                <a:latin typeface="Courier New"/>
                <a:cs typeface="Courier New"/>
              </a:rPr>
              <a:t>scale</a:t>
            </a:r>
            <a:r>
              <a:rPr sz="1550" spc="-40" dirty="0">
                <a:latin typeface="Courier New"/>
                <a:cs typeface="Courier New"/>
              </a:rPr>
              <a:t>_</a:t>
            </a:r>
            <a:r>
              <a:rPr sz="2400" spc="-40" dirty="0">
                <a:latin typeface="Courier New"/>
                <a:cs typeface="Courier New"/>
              </a:rPr>
              <a:t>y</a:t>
            </a:r>
            <a:r>
              <a:rPr sz="1550" spc="-40" dirty="0">
                <a:latin typeface="Courier New"/>
                <a:cs typeface="Courier New"/>
              </a:rPr>
              <a:t>_</a:t>
            </a:r>
            <a:r>
              <a:rPr sz="1650" spc="-40" dirty="0">
                <a:latin typeface="Courier New"/>
                <a:cs typeface="Courier New"/>
              </a:rPr>
              <a:t>log</a:t>
            </a:r>
            <a:r>
              <a:rPr sz="1550" spc="-40" dirty="0">
                <a:latin typeface="Courier New"/>
                <a:cs typeface="Courier New"/>
              </a:rPr>
              <a:t>10()</a:t>
            </a:r>
            <a:endParaRPr sz="1550">
              <a:latin typeface="Courier New"/>
              <a:cs typeface="Courier New"/>
            </a:endParaRPr>
          </a:p>
          <a:p>
            <a:pPr marL="50800" marR="2710815" indent="-38735">
              <a:lnSpc>
                <a:spcPts val="2780"/>
              </a:lnSpc>
            </a:pPr>
            <a:r>
              <a:rPr sz="1850" dirty="0">
                <a:latin typeface="Trebuchet MS"/>
                <a:cs typeface="Trebuchet MS"/>
              </a:rPr>
              <a:t>I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want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65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use</a:t>
            </a:r>
            <a:r>
              <a:rPr sz="1850" spc="-8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7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different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color</a:t>
            </a:r>
            <a:r>
              <a:rPr sz="1850" spc="-7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palette </a:t>
            </a:r>
            <a:r>
              <a:rPr sz="1650" spc="-40" dirty="0">
                <a:latin typeface="Courier New"/>
                <a:cs typeface="Courier New"/>
              </a:rPr>
              <a:t>scale</a:t>
            </a:r>
            <a:r>
              <a:rPr sz="1550" spc="-40" dirty="0">
                <a:latin typeface="Courier New"/>
                <a:cs typeface="Courier New"/>
              </a:rPr>
              <a:t>_</a:t>
            </a:r>
            <a:r>
              <a:rPr sz="1650" spc="-40" dirty="0">
                <a:latin typeface="Courier New"/>
                <a:cs typeface="Courier New"/>
              </a:rPr>
              <a:t>fill</a:t>
            </a:r>
            <a:r>
              <a:rPr sz="1550" spc="-40" dirty="0">
                <a:latin typeface="Courier New"/>
                <a:cs typeface="Courier New"/>
              </a:rPr>
              <a:t>_</a:t>
            </a:r>
            <a:r>
              <a:rPr sz="1650" spc="-40" dirty="0">
                <a:latin typeface="Courier New"/>
                <a:cs typeface="Courier New"/>
              </a:rPr>
              <a:t>discrete</a:t>
            </a:r>
            <a:r>
              <a:rPr sz="1550" spc="-40" dirty="0">
                <a:latin typeface="Courier New"/>
                <a:cs typeface="Courier New"/>
              </a:rPr>
              <a:t>() </a:t>
            </a:r>
            <a:r>
              <a:rPr sz="1650" spc="-40" dirty="0">
                <a:latin typeface="Courier New"/>
                <a:cs typeface="Courier New"/>
              </a:rPr>
              <a:t>scale</a:t>
            </a:r>
            <a:r>
              <a:rPr sz="1550" spc="-40" dirty="0">
                <a:latin typeface="Courier New"/>
                <a:cs typeface="Courier New"/>
              </a:rPr>
              <a:t>_</a:t>
            </a:r>
            <a:r>
              <a:rPr sz="1650" spc="-40" dirty="0">
                <a:latin typeface="Courier New"/>
                <a:cs typeface="Courier New"/>
              </a:rPr>
              <a:t>color</a:t>
            </a:r>
            <a:r>
              <a:rPr sz="1550" spc="-40" dirty="0">
                <a:latin typeface="Courier New"/>
                <a:cs typeface="Courier New"/>
              </a:rPr>
              <a:t>_</a:t>
            </a:r>
            <a:r>
              <a:rPr sz="1650" spc="-40" dirty="0">
                <a:latin typeface="Courier New"/>
                <a:cs typeface="Courier New"/>
              </a:rPr>
              <a:t>manual</a:t>
            </a:r>
            <a:r>
              <a:rPr sz="1550" spc="-40" dirty="0">
                <a:latin typeface="Courier New"/>
                <a:cs typeface="Courier New"/>
              </a:rPr>
              <a:t>()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4598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 </a:t>
            </a:r>
            <a:r>
              <a:rPr sz="2600" spc="45" dirty="0">
                <a:solidFill>
                  <a:srgbClr val="1A292C"/>
                </a:solidFill>
                <a:latin typeface="Trebuchet MS"/>
                <a:cs typeface="Trebuchet MS"/>
              </a:rPr>
              <a:t>Scales </a:t>
            </a:r>
            <a:r>
              <a:rPr sz="2600" spc="-10" dirty="0">
                <a:latin typeface="Trebuchet MS"/>
                <a:cs typeface="Trebuchet MS"/>
              </a:rPr>
              <a:t>Theme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5830906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45" dirty="0">
                <a:latin typeface="Courier New"/>
                <a:cs typeface="Courier New"/>
              </a:rPr>
              <a:t>theme</a:t>
            </a:r>
            <a:r>
              <a:rPr sz="2350" spc="-45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187780"/>
            <a:ext cx="4632960" cy="7308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50" dirty="0">
                <a:latin typeface="Trebuchet MS"/>
                <a:cs typeface="Trebuchet MS"/>
              </a:rPr>
              <a:t>Change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</a:t>
            </a:r>
            <a:r>
              <a:rPr sz="1850" spc="-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appearance</a:t>
            </a:r>
            <a:r>
              <a:rPr sz="1850" spc="-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of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plot</a:t>
            </a:r>
            <a:r>
              <a:rPr sz="1850" spc="6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decorations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spc="-170" dirty="0">
                <a:latin typeface="Trebuchet MS"/>
                <a:cs typeface="Trebuchet MS"/>
              </a:rPr>
              <a:t>i.e.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spc="50" dirty="0">
                <a:latin typeface="Trebuchet MS"/>
                <a:cs typeface="Trebuchet MS"/>
              </a:rPr>
              <a:t>things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that</a:t>
            </a:r>
            <a:r>
              <a:rPr sz="1850" spc="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aren't</a:t>
            </a:r>
            <a:r>
              <a:rPr sz="1850" spc="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mapped</a:t>
            </a:r>
            <a:r>
              <a:rPr sz="1850" spc="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to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spc="-20" dirty="0">
                <a:latin typeface="Trebuchet MS"/>
                <a:cs typeface="Trebuchet MS"/>
              </a:rPr>
              <a:t>data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7597" y="2197709"/>
            <a:ext cx="480314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rebuchet MS"/>
                <a:cs typeface="Trebuchet MS"/>
              </a:rPr>
              <a:t>A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spc="-75" dirty="0">
                <a:latin typeface="Trebuchet MS"/>
                <a:cs typeface="Trebuchet MS"/>
              </a:rPr>
              <a:t>few</a:t>
            </a:r>
            <a:r>
              <a:rPr sz="1850" spc="-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"starter"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themes</a:t>
            </a:r>
            <a:r>
              <a:rPr sz="1850" spc="5" dirty="0">
                <a:latin typeface="Trebuchet MS"/>
                <a:cs typeface="Trebuchet MS"/>
              </a:rPr>
              <a:t> </a:t>
            </a:r>
            <a:r>
              <a:rPr sz="1850" spc="75" dirty="0">
                <a:latin typeface="Trebuchet MS"/>
                <a:cs typeface="Trebuchet MS"/>
              </a:rPr>
              <a:t>ship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with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</a:t>
            </a:r>
            <a:r>
              <a:rPr sz="1850" spc="-55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package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2934508"/>
            <a:ext cx="76221" cy="7622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506165" y="2820177"/>
            <a:ext cx="1677035" cy="305435"/>
          </a:xfrm>
          <a:custGeom>
            <a:avLst/>
            <a:gdLst/>
            <a:ahLst/>
            <a:cxnLst/>
            <a:rect l="l" t="t" r="r" b="b"/>
            <a:pathLst>
              <a:path w="1677035" h="305435">
                <a:moveTo>
                  <a:pt x="1652069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652069" y="0"/>
                </a:lnTo>
                <a:lnTo>
                  <a:pt x="1676861" y="24792"/>
                </a:lnTo>
                <a:lnTo>
                  <a:pt x="1676861" y="280091"/>
                </a:lnTo>
                <a:lnTo>
                  <a:pt x="1655714" y="304158"/>
                </a:lnTo>
                <a:lnTo>
                  <a:pt x="1652069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3287030"/>
            <a:ext cx="76221" cy="7622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506165" y="3172699"/>
            <a:ext cx="1905635" cy="305435"/>
          </a:xfrm>
          <a:custGeom>
            <a:avLst/>
            <a:gdLst/>
            <a:ahLst/>
            <a:cxnLst/>
            <a:rect l="l" t="t" r="r" b="b"/>
            <a:pathLst>
              <a:path w="1905635" h="305435">
                <a:moveTo>
                  <a:pt x="1880732" y="304884"/>
                </a:moveTo>
                <a:lnTo>
                  <a:pt x="24792" y="304884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880732" y="0"/>
                </a:lnTo>
                <a:lnTo>
                  <a:pt x="1905524" y="24792"/>
                </a:lnTo>
                <a:lnTo>
                  <a:pt x="1905524" y="280091"/>
                </a:lnTo>
                <a:lnTo>
                  <a:pt x="1884377" y="304158"/>
                </a:lnTo>
                <a:lnTo>
                  <a:pt x="1880732" y="304884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3639552"/>
            <a:ext cx="76221" cy="7622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506165" y="3525221"/>
            <a:ext cx="1905635" cy="305435"/>
          </a:xfrm>
          <a:custGeom>
            <a:avLst/>
            <a:gdLst/>
            <a:ahLst/>
            <a:cxnLst/>
            <a:rect l="l" t="t" r="r" b="b"/>
            <a:pathLst>
              <a:path w="1905635" h="305435">
                <a:moveTo>
                  <a:pt x="1880732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880732" y="0"/>
                </a:lnTo>
                <a:lnTo>
                  <a:pt x="1905524" y="24792"/>
                </a:lnTo>
                <a:lnTo>
                  <a:pt x="1905524" y="280091"/>
                </a:lnTo>
                <a:lnTo>
                  <a:pt x="1884377" y="304158"/>
                </a:lnTo>
                <a:lnTo>
                  <a:pt x="1880732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3992074"/>
            <a:ext cx="76221" cy="7622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506165" y="3877743"/>
            <a:ext cx="2019935" cy="305435"/>
          </a:xfrm>
          <a:custGeom>
            <a:avLst/>
            <a:gdLst/>
            <a:ahLst/>
            <a:cxnLst/>
            <a:rect l="l" t="t" r="r" b="b"/>
            <a:pathLst>
              <a:path w="2019935" h="305435">
                <a:moveTo>
                  <a:pt x="1995063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995063" y="0"/>
                </a:lnTo>
                <a:lnTo>
                  <a:pt x="2019856" y="24792"/>
                </a:lnTo>
                <a:lnTo>
                  <a:pt x="2019856" y="280091"/>
                </a:lnTo>
                <a:lnTo>
                  <a:pt x="1998709" y="304158"/>
                </a:lnTo>
                <a:lnTo>
                  <a:pt x="1995063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4344597"/>
            <a:ext cx="76221" cy="7622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506165" y="4230265"/>
            <a:ext cx="2248535" cy="305435"/>
          </a:xfrm>
          <a:custGeom>
            <a:avLst/>
            <a:gdLst/>
            <a:ahLst/>
            <a:cxnLst/>
            <a:rect l="l" t="t" r="r" b="b"/>
            <a:pathLst>
              <a:path w="2248535" h="305435">
                <a:moveTo>
                  <a:pt x="2223726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2223726" y="0"/>
                </a:lnTo>
                <a:lnTo>
                  <a:pt x="2248519" y="24792"/>
                </a:lnTo>
                <a:lnTo>
                  <a:pt x="2248519" y="280091"/>
                </a:lnTo>
                <a:lnTo>
                  <a:pt x="2227372" y="304158"/>
                </a:lnTo>
                <a:lnTo>
                  <a:pt x="2223726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26812" y="2727445"/>
            <a:ext cx="2197735" cy="178816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347980">
              <a:lnSpc>
                <a:spcPct val="104200"/>
              </a:lnSpc>
              <a:spcBef>
                <a:spcPts val="250"/>
              </a:spcBef>
            </a:pPr>
            <a:r>
              <a:rPr sz="1650" dirty="0">
                <a:latin typeface="Courier New"/>
                <a:cs typeface="Courier New"/>
              </a:rPr>
              <a:t>g</a:t>
            </a:r>
            <a:r>
              <a:rPr sz="1650" spc="-185" dirty="0">
                <a:latin typeface="Courier New"/>
                <a:cs typeface="Courier New"/>
              </a:rPr>
              <a:t> </a:t>
            </a:r>
            <a:r>
              <a:rPr sz="2100" spc="-370" dirty="0">
                <a:latin typeface="Courier New"/>
                <a:cs typeface="Courier New"/>
              </a:rPr>
              <a:t>+</a:t>
            </a:r>
            <a:r>
              <a:rPr sz="2100" spc="-360" dirty="0">
                <a:latin typeface="Courier New"/>
                <a:cs typeface="Courier New"/>
              </a:rPr>
              <a:t> </a:t>
            </a:r>
            <a:r>
              <a:rPr sz="1650" spc="-80" dirty="0">
                <a:latin typeface="Courier New"/>
                <a:cs typeface="Courier New"/>
              </a:rPr>
              <a:t>theme</a:t>
            </a:r>
            <a:r>
              <a:rPr sz="2100" spc="-80" dirty="0">
                <a:latin typeface="Courier New"/>
                <a:cs typeface="Courier New"/>
              </a:rPr>
              <a:t>_</a:t>
            </a:r>
            <a:r>
              <a:rPr sz="1650" spc="-80" dirty="0">
                <a:latin typeface="Courier New"/>
                <a:cs typeface="Courier New"/>
              </a:rPr>
              <a:t>bw</a:t>
            </a:r>
            <a:r>
              <a:rPr sz="2100" spc="-80" dirty="0">
                <a:latin typeface="Courier New"/>
                <a:cs typeface="Courier New"/>
              </a:rPr>
              <a:t>() </a:t>
            </a:r>
            <a:r>
              <a:rPr sz="1650" dirty="0">
                <a:latin typeface="Courier New"/>
                <a:cs typeface="Courier New"/>
              </a:rPr>
              <a:t>g</a:t>
            </a:r>
            <a:r>
              <a:rPr sz="1650" spc="-185" dirty="0">
                <a:latin typeface="Courier New"/>
                <a:cs typeface="Courier New"/>
              </a:rPr>
              <a:t> </a:t>
            </a:r>
            <a:r>
              <a:rPr sz="2100" spc="-370" dirty="0">
                <a:latin typeface="Courier New"/>
                <a:cs typeface="Courier New"/>
              </a:rPr>
              <a:t>+</a:t>
            </a:r>
            <a:r>
              <a:rPr sz="2100" spc="-360" dirty="0">
                <a:latin typeface="Courier New"/>
                <a:cs typeface="Courier New"/>
              </a:rPr>
              <a:t> </a:t>
            </a:r>
            <a:r>
              <a:rPr sz="1650" spc="-165" dirty="0">
                <a:latin typeface="Courier New"/>
                <a:cs typeface="Courier New"/>
              </a:rPr>
              <a:t>theme</a:t>
            </a:r>
            <a:r>
              <a:rPr sz="2100" spc="-165" dirty="0">
                <a:latin typeface="Courier New"/>
                <a:cs typeface="Courier New"/>
              </a:rPr>
              <a:t>_</a:t>
            </a:r>
            <a:r>
              <a:rPr sz="1650" spc="-165" dirty="0">
                <a:latin typeface="Courier New"/>
                <a:cs typeface="Courier New"/>
              </a:rPr>
              <a:t>dark</a:t>
            </a:r>
            <a:r>
              <a:rPr sz="2100" spc="-165" dirty="0">
                <a:latin typeface="Courier New"/>
                <a:cs typeface="Courier New"/>
              </a:rPr>
              <a:t>() </a:t>
            </a:r>
            <a:r>
              <a:rPr sz="1650" dirty="0">
                <a:latin typeface="Courier New"/>
                <a:cs typeface="Courier New"/>
              </a:rPr>
              <a:t>g</a:t>
            </a:r>
            <a:r>
              <a:rPr sz="1650" spc="-185" dirty="0">
                <a:latin typeface="Courier New"/>
                <a:cs typeface="Courier New"/>
              </a:rPr>
              <a:t> </a:t>
            </a:r>
            <a:r>
              <a:rPr sz="2100" spc="-370" dirty="0">
                <a:latin typeface="Courier New"/>
                <a:cs typeface="Courier New"/>
              </a:rPr>
              <a:t>+</a:t>
            </a:r>
            <a:r>
              <a:rPr sz="2100" spc="-360" dirty="0">
                <a:latin typeface="Courier New"/>
                <a:cs typeface="Courier New"/>
              </a:rPr>
              <a:t> </a:t>
            </a:r>
            <a:r>
              <a:rPr sz="1650" spc="-204" dirty="0">
                <a:latin typeface="Courier New"/>
                <a:cs typeface="Courier New"/>
              </a:rPr>
              <a:t>theme</a:t>
            </a:r>
            <a:r>
              <a:rPr sz="2100" spc="-204" dirty="0">
                <a:latin typeface="Courier New"/>
                <a:cs typeface="Courier New"/>
              </a:rPr>
              <a:t>_</a:t>
            </a:r>
            <a:r>
              <a:rPr sz="1650" spc="-204" dirty="0">
                <a:latin typeface="Courier New"/>
                <a:cs typeface="Courier New"/>
              </a:rPr>
              <a:t>gra</a:t>
            </a:r>
            <a:r>
              <a:rPr sz="2400" spc="-204" dirty="0">
                <a:latin typeface="Courier New"/>
                <a:cs typeface="Courier New"/>
              </a:rPr>
              <a:t>y</a:t>
            </a:r>
            <a:r>
              <a:rPr sz="2100" spc="-204" dirty="0"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2700" marR="5080">
              <a:lnSpc>
                <a:spcPts val="2780"/>
              </a:lnSpc>
              <a:spcBef>
                <a:spcPts val="30"/>
              </a:spcBef>
            </a:pPr>
            <a:r>
              <a:rPr sz="1650" dirty="0">
                <a:latin typeface="Courier New"/>
                <a:cs typeface="Courier New"/>
              </a:rPr>
              <a:t>g</a:t>
            </a:r>
            <a:r>
              <a:rPr sz="1650" spc="-185" dirty="0">
                <a:latin typeface="Courier New"/>
                <a:cs typeface="Courier New"/>
              </a:rPr>
              <a:t> </a:t>
            </a:r>
            <a:r>
              <a:rPr sz="2100" spc="-370" dirty="0">
                <a:latin typeface="Courier New"/>
                <a:cs typeface="Courier New"/>
              </a:rPr>
              <a:t>+</a:t>
            </a:r>
            <a:r>
              <a:rPr sz="2100" spc="-360" dirty="0">
                <a:latin typeface="Courier New"/>
                <a:cs typeface="Courier New"/>
              </a:rPr>
              <a:t> </a:t>
            </a:r>
            <a:r>
              <a:rPr sz="1650" spc="-85" dirty="0">
                <a:latin typeface="Courier New"/>
                <a:cs typeface="Courier New"/>
              </a:rPr>
              <a:t>theme</a:t>
            </a:r>
            <a:r>
              <a:rPr sz="2100" spc="-85" dirty="0">
                <a:latin typeface="Courier New"/>
                <a:cs typeface="Courier New"/>
              </a:rPr>
              <a:t>_</a:t>
            </a:r>
            <a:r>
              <a:rPr sz="1650" spc="-85" dirty="0">
                <a:latin typeface="Courier New"/>
                <a:cs typeface="Courier New"/>
              </a:rPr>
              <a:t>light</a:t>
            </a:r>
            <a:r>
              <a:rPr sz="2100" spc="-85" dirty="0">
                <a:latin typeface="Courier New"/>
                <a:cs typeface="Courier New"/>
              </a:rPr>
              <a:t>() </a:t>
            </a:r>
            <a:r>
              <a:rPr sz="1650" dirty="0">
                <a:latin typeface="Courier New"/>
                <a:cs typeface="Courier New"/>
              </a:rPr>
              <a:t>g</a:t>
            </a:r>
            <a:r>
              <a:rPr sz="1650" spc="-185" dirty="0">
                <a:latin typeface="Courier New"/>
                <a:cs typeface="Courier New"/>
              </a:rPr>
              <a:t> </a:t>
            </a:r>
            <a:r>
              <a:rPr sz="2100" spc="-370" dirty="0">
                <a:latin typeface="Courier New"/>
                <a:cs typeface="Courier New"/>
              </a:rPr>
              <a:t>+</a:t>
            </a:r>
            <a:r>
              <a:rPr sz="2100" spc="-360" dirty="0">
                <a:latin typeface="Courier New"/>
                <a:cs typeface="Courier New"/>
              </a:rPr>
              <a:t> </a:t>
            </a:r>
            <a:r>
              <a:rPr sz="1650" spc="-150" dirty="0">
                <a:latin typeface="Courier New"/>
                <a:cs typeface="Courier New"/>
              </a:rPr>
              <a:t>theme</a:t>
            </a:r>
            <a:r>
              <a:rPr sz="2100" spc="-150" dirty="0">
                <a:latin typeface="Courier New"/>
                <a:cs typeface="Courier New"/>
              </a:rPr>
              <a:t>_</a:t>
            </a:r>
            <a:r>
              <a:rPr sz="1650" spc="-150" dirty="0">
                <a:latin typeface="Courier New"/>
                <a:cs typeface="Courier New"/>
              </a:rPr>
              <a:t>minimal</a:t>
            </a:r>
            <a:r>
              <a:rPr sz="2100" spc="-150" dirty="0"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381" y="5830906"/>
            <a:ext cx="2115185" cy="534035"/>
          </a:xfrm>
          <a:custGeom>
            <a:avLst/>
            <a:gdLst/>
            <a:ahLst/>
            <a:cxnLst/>
            <a:rect l="l" t="t" r="r" b="b"/>
            <a:pathLst>
              <a:path w="2115185" h="534035">
                <a:moveTo>
                  <a:pt x="2115132" y="533547"/>
                </a:moveTo>
                <a:lnTo>
                  <a:pt x="0" y="533547"/>
                </a:lnTo>
                <a:lnTo>
                  <a:pt x="0" y="0"/>
                </a:lnTo>
                <a:lnTo>
                  <a:pt x="2115132" y="0"/>
                </a:lnTo>
                <a:lnTo>
                  <a:pt x="2115132" y="53354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3681" y="1111559"/>
            <a:ext cx="1591310" cy="3455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7597" y="1254474"/>
            <a:ext cx="538162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 dirty="0">
                <a:latin typeface="Trebuchet MS"/>
                <a:cs typeface="Trebuchet MS"/>
              </a:rPr>
              <a:t>Theme</a:t>
            </a:r>
            <a:r>
              <a:rPr sz="1850" dirty="0">
                <a:latin typeface="Trebuchet MS"/>
                <a:cs typeface="Trebuchet MS"/>
              </a:rPr>
              <a:t> </a:t>
            </a:r>
            <a:r>
              <a:rPr sz="1850" spc="50" dirty="0">
                <a:latin typeface="Trebuchet MS"/>
                <a:cs typeface="Trebuchet MS"/>
              </a:rPr>
              <a:t>options</a:t>
            </a:r>
            <a:r>
              <a:rPr sz="1850" spc="70" dirty="0">
                <a:latin typeface="Trebuchet MS"/>
                <a:cs typeface="Trebuchet MS"/>
              </a:rPr>
              <a:t> </a:t>
            </a:r>
            <a:r>
              <a:rPr sz="1850" spc="-40" dirty="0">
                <a:latin typeface="Trebuchet MS"/>
                <a:cs typeface="Trebuchet MS"/>
              </a:rPr>
              <a:t>are</a:t>
            </a:r>
            <a:r>
              <a:rPr sz="1850" dirty="0">
                <a:latin typeface="Trebuchet MS"/>
                <a:cs typeface="Trebuchet MS"/>
              </a:rPr>
              <a:t> supported</a:t>
            </a:r>
            <a:r>
              <a:rPr sz="1850" spc="7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by</a:t>
            </a:r>
            <a:r>
              <a:rPr sz="1850" spc="6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helper</a:t>
            </a:r>
            <a:r>
              <a:rPr sz="1850" spc="1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functions: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1991273"/>
            <a:ext cx="76221" cy="7622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506165" y="1876942"/>
            <a:ext cx="1791335" cy="305435"/>
          </a:xfrm>
          <a:custGeom>
            <a:avLst/>
            <a:gdLst/>
            <a:ahLst/>
            <a:cxnLst/>
            <a:rect l="l" t="t" r="r" b="b"/>
            <a:pathLst>
              <a:path w="1791335" h="305435">
                <a:moveTo>
                  <a:pt x="1766400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766400" y="0"/>
                </a:lnTo>
                <a:lnTo>
                  <a:pt x="1791193" y="24792"/>
                </a:lnTo>
                <a:lnTo>
                  <a:pt x="1791193" y="280091"/>
                </a:lnTo>
                <a:lnTo>
                  <a:pt x="1770046" y="304158"/>
                </a:lnTo>
                <a:lnTo>
                  <a:pt x="1766400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2343795"/>
            <a:ext cx="76221" cy="7622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506165" y="2229464"/>
            <a:ext cx="1677035" cy="305435"/>
          </a:xfrm>
          <a:custGeom>
            <a:avLst/>
            <a:gdLst/>
            <a:ahLst/>
            <a:cxnLst/>
            <a:rect l="l" t="t" r="r" b="b"/>
            <a:pathLst>
              <a:path w="1677035" h="305435">
                <a:moveTo>
                  <a:pt x="1652069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652069" y="0"/>
                </a:lnTo>
                <a:lnTo>
                  <a:pt x="1676861" y="24792"/>
                </a:lnTo>
                <a:lnTo>
                  <a:pt x="1676861" y="280091"/>
                </a:lnTo>
                <a:lnTo>
                  <a:pt x="1655714" y="304158"/>
                </a:lnTo>
                <a:lnTo>
                  <a:pt x="1652069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2696317"/>
            <a:ext cx="76221" cy="7622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506165" y="2581986"/>
            <a:ext cx="1677035" cy="305435"/>
          </a:xfrm>
          <a:custGeom>
            <a:avLst/>
            <a:gdLst/>
            <a:ahLst/>
            <a:cxnLst/>
            <a:rect l="l" t="t" r="r" b="b"/>
            <a:pathLst>
              <a:path w="1677035" h="305435">
                <a:moveTo>
                  <a:pt x="1652069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652069" y="0"/>
                </a:lnTo>
                <a:lnTo>
                  <a:pt x="1676861" y="24792"/>
                </a:lnTo>
                <a:lnTo>
                  <a:pt x="1676861" y="280091"/>
                </a:lnTo>
                <a:lnTo>
                  <a:pt x="1655714" y="304158"/>
                </a:lnTo>
                <a:lnTo>
                  <a:pt x="1652069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558" y="3048840"/>
            <a:ext cx="76221" cy="7622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506165" y="2934508"/>
            <a:ext cx="1677035" cy="305435"/>
          </a:xfrm>
          <a:custGeom>
            <a:avLst/>
            <a:gdLst/>
            <a:ahLst/>
            <a:cxnLst/>
            <a:rect l="l" t="t" r="r" b="b"/>
            <a:pathLst>
              <a:path w="1677035" h="305435">
                <a:moveTo>
                  <a:pt x="1652069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652069" y="0"/>
                </a:lnTo>
                <a:lnTo>
                  <a:pt x="1676861" y="24792"/>
                </a:lnTo>
                <a:lnTo>
                  <a:pt x="1676861" y="280091"/>
                </a:lnTo>
                <a:lnTo>
                  <a:pt x="1655714" y="304158"/>
                </a:lnTo>
                <a:lnTo>
                  <a:pt x="1652069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26812" y="1784209"/>
            <a:ext cx="4079875" cy="143573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50" spc="-160" dirty="0">
                <a:latin typeface="Courier New"/>
                <a:cs typeface="Courier New"/>
              </a:rPr>
              <a:t>element</a:t>
            </a:r>
            <a:r>
              <a:rPr sz="2100" spc="-160" dirty="0">
                <a:latin typeface="Courier New"/>
                <a:cs typeface="Courier New"/>
              </a:rPr>
              <a:t>_</a:t>
            </a:r>
            <a:r>
              <a:rPr sz="1650" spc="-160" dirty="0">
                <a:latin typeface="Courier New"/>
                <a:cs typeface="Courier New"/>
              </a:rPr>
              <a:t>blank</a:t>
            </a:r>
            <a:r>
              <a:rPr sz="2100" spc="-160" dirty="0">
                <a:latin typeface="Courier New"/>
                <a:cs typeface="Courier New"/>
              </a:rPr>
              <a:t>()</a:t>
            </a:r>
            <a:r>
              <a:rPr sz="2100" spc="-375" dirty="0">
                <a:latin typeface="Courier New"/>
                <a:cs typeface="Courier New"/>
              </a:rPr>
              <a:t> </a:t>
            </a:r>
            <a:r>
              <a:rPr sz="1850" dirty="0">
                <a:latin typeface="Trebuchet MS"/>
                <a:cs typeface="Trebuchet MS"/>
              </a:rPr>
              <a:t>removes</a:t>
            </a:r>
            <a:r>
              <a:rPr sz="1850" spc="3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spc="-10" dirty="0">
                <a:latin typeface="Trebuchet MS"/>
                <a:cs typeface="Trebuchet MS"/>
              </a:rPr>
              <a:t>element</a:t>
            </a:r>
            <a:endParaRPr sz="1850">
              <a:latin typeface="Trebuchet MS"/>
              <a:cs typeface="Trebuchet MS"/>
            </a:endParaRPr>
          </a:p>
          <a:p>
            <a:pPr marL="12700" marR="2458085" algn="just">
              <a:lnSpc>
                <a:spcPct val="110100"/>
              </a:lnSpc>
            </a:pPr>
            <a:r>
              <a:rPr sz="1650" spc="-155" dirty="0">
                <a:latin typeface="Courier New"/>
                <a:cs typeface="Courier New"/>
              </a:rPr>
              <a:t>element</a:t>
            </a:r>
            <a:r>
              <a:rPr sz="2100" spc="-155" dirty="0">
                <a:latin typeface="Courier New"/>
                <a:cs typeface="Courier New"/>
              </a:rPr>
              <a:t>_</a:t>
            </a:r>
            <a:r>
              <a:rPr sz="1650" spc="-155" dirty="0">
                <a:latin typeface="Courier New"/>
                <a:cs typeface="Courier New"/>
              </a:rPr>
              <a:t>line</a:t>
            </a:r>
            <a:r>
              <a:rPr sz="2100" spc="-155" dirty="0">
                <a:latin typeface="Courier New"/>
                <a:cs typeface="Courier New"/>
              </a:rPr>
              <a:t>() </a:t>
            </a:r>
            <a:r>
              <a:rPr sz="1650" spc="-155" dirty="0">
                <a:latin typeface="Courier New"/>
                <a:cs typeface="Courier New"/>
              </a:rPr>
              <a:t>element</a:t>
            </a:r>
            <a:r>
              <a:rPr sz="2100" spc="-155" dirty="0">
                <a:latin typeface="Courier New"/>
                <a:cs typeface="Courier New"/>
              </a:rPr>
              <a:t>_</a:t>
            </a:r>
            <a:r>
              <a:rPr sz="1650" spc="-155" dirty="0">
                <a:latin typeface="Courier New"/>
                <a:cs typeface="Courier New"/>
              </a:rPr>
              <a:t>rect</a:t>
            </a:r>
            <a:r>
              <a:rPr sz="2100" spc="-155" dirty="0">
                <a:latin typeface="Courier New"/>
                <a:cs typeface="Courier New"/>
              </a:rPr>
              <a:t>() </a:t>
            </a:r>
            <a:r>
              <a:rPr sz="1650" spc="-155" dirty="0">
                <a:latin typeface="Courier New"/>
                <a:cs typeface="Courier New"/>
              </a:rPr>
              <a:t>element</a:t>
            </a:r>
            <a:r>
              <a:rPr sz="2100" spc="-155" dirty="0">
                <a:latin typeface="Courier New"/>
                <a:cs typeface="Courier New"/>
              </a:rPr>
              <a:t>_</a:t>
            </a:r>
            <a:r>
              <a:rPr sz="1650" spc="-155" dirty="0">
                <a:latin typeface="Courier New"/>
                <a:cs typeface="Courier New"/>
              </a:rPr>
              <a:t>text</a:t>
            </a:r>
            <a:r>
              <a:rPr sz="2100" spc="-155" dirty="0"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681" y="4734677"/>
            <a:ext cx="1045844" cy="997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5"/>
              </a:lnSpc>
            </a:pPr>
            <a:r>
              <a:rPr sz="2600" spc="45" dirty="0">
                <a:solidFill>
                  <a:srgbClr val="1A292C"/>
                </a:solidFill>
                <a:latin typeface="Trebuchet MS"/>
                <a:cs typeface="Trebuchet MS"/>
              </a:rPr>
              <a:t>Scales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600" spc="-10" dirty="0">
                <a:latin typeface="Trebuchet MS"/>
                <a:cs typeface="Trebuchet MS"/>
              </a:rPr>
              <a:t>Theme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867" y="5926583"/>
            <a:ext cx="1221740" cy="325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70" dirty="0">
                <a:latin typeface="Courier New"/>
                <a:cs typeface="Courier New"/>
              </a:rPr>
              <a:t>theme</a:t>
            </a:r>
            <a:r>
              <a:rPr sz="2350" spc="-17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4598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 </a:t>
            </a:r>
            <a:r>
              <a:rPr sz="2600" spc="45" dirty="0">
                <a:solidFill>
                  <a:srgbClr val="1A292C"/>
                </a:solidFill>
                <a:latin typeface="Trebuchet MS"/>
                <a:cs typeface="Trebuchet MS"/>
              </a:rPr>
              <a:t>Scales </a:t>
            </a:r>
            <a:r>
              <a:rPr sz="2600" spc="-10" dirty="0">
                <a:latin typeface="Trebuchet MS"/>
                <a:cs typeface="Trebuchet MS"/>
              </a:rPr>
              <a:t>Theme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5830906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850" spc="-15" dirty="0">
                <a:latin typeface="Courier New"/>
                <a:cs typeface="Courier New"/>
              </a:rPr>
              <a:t>theme</a:t>
            </a:r>
            <a:r>
              <a:rPr sz="2350" spc="-15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75"/>
              </a:spcBef>
            </a:pPr>
            <a:r>
              <a:rPr sz="1850" dirty="0">
                <a:latin typeface="Courier New"/>
                <a:cs typeface="Courier New"/>
              </a:rPr>
              <a:t>g</a:t>
            </a:r>
            <a:r>
              <a:rPr sz="1850" spc="-12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850" spc="-65" dirty="0">
                <a:latin typeface="Courier New"/>
                <a:cs typeface="Courier New"/>
              </a:rPr>
              <a:t>theme</a:t>
            </a:r>
            <a:r>
              <a:rPr sz="2350" spc="-65" dirty="0">
                <a:latin typeface="Courier New"/>
                <a:cs typeface="Courier New"/>
              </a:rPr>
              <a:t>_</a:t>
            </a:r>
            <a:r>
              <a:rPr sz="1850" spc="-65" dirty="0">
                <a:latin typeface="Courier New"/>
                <a:cs typeface="Courier New"/>
              </a:rPr>
              <a:t>bw</a:t>
            </a:r>
            <a:r>
              <a:rPr sz="2350" spc="-65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82259" y="6129473"/>
            <a:ext cx="1701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0" dirty="0">
                <a:solidFill>
                  <a:srgbClr val="272821"/>
                </a:solidFill>
                <a:latin typeface="Trebuchet MS"/>
                <a:cs typeface="Trebuchet MS"/>
              </a:rPr>
              <a:t>61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381" y="5830906"/>
            <a:ext cx="2115185" cy="534035"/>
          </a:xfrm>
          <a:custGeom>
            <a:avLst/>
            <a:gdLst/>
            <a:ahLst/>
            <a:cxnLst/>
            <a:rect l="l" t="t" r="r" b="b"/>
            <a:pathLst>
              <a:path w="2115185" h="534035">
                <a:moveTo>
                  <a:pt x="2115132" y="533547"/>
                </a:moveTo>
                <a:lnTo>
                  <a:pt x="0" y="533547"/>
                </a:lnTo>
                <a:lnTo>
                  <a:pt x="0" y="0"/>
                </a:lnTo>
                <a:lnTo>
                  <a:pt x="2115132" y="0"/>
                </a:lnTo>
                <a:lnTo>
                  <a:pt x="2115132" y="53354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3681" y="1111559"/>
            <a:ext cx="1591310" cy="4027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 </a:t>
            </a:r>
            <a:r>
              <a:rPr sz="2600" spc="45" dirty="0">
                <a:solidFill>
                  <a:srgbClr val="1A292C"/>
                </a:solidFill>
                <a:latin typeface="Trebuchet MS"/>
                <a:cs typeface="Trebuchet MS"/>
              </a:rPr>
              <a:t>Scales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10008"/>
            <a:ext cx="7927340" cy="429259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2530"/>
              </a:lnSpc>
            </a:pPr>
            <a:r>
              <a:rPr sz="1500" dirty="0">
                <a:latin typeface="Courier New"/>
                <a:cs typeface="Courier New"/>
              </a:rPr>
              <a:t>g</a:t>
            </a:r>
            <a:r>
              <a:rPr sz="1500" spc="-40" dirty="0">
                <a:latin typeface="Courier New"/>
                <a:cs typeface="Courier New"/>
              </a:rPr>
              <a:t> </a:t>
            </a:r>
            <a:r>
              <a:rPr sz="1900" spc="-345" dirty="0">
                <a:latin typeface="Courier New"/>
                <a:cs typeface="Courier New"/>
              </a:rPr>
              <a:t>+</a:t>
            </a:r>
            <a:r>
              <a:rPr sz="1900" spc="-275" dirty="0">
                <a:latin typeface="Courier New"/>
                <a:cs typeface="Courier New"/>
              </a:rPr>
              <a:t> </a:t>
            </a:r>
            <a:r>
              <a:rPr sz="1500" spc="-140" dirty="0">
                <a:latin typeface="Courier New"/>
                <a:cs typeface="Courier New"/>
              </a:rPr>
              <a:t>theme</a:t>
            </a:r>
            <a:r>
              <a:rPr sz="1900" spc="-140" dirty="0">
                <a:latin typeface="Courier New"/>
                <a:cs typeface="Courier New"/>
              </a:rPr>
              <a:t>_</a:t>
            </a:r>
            <a:r>
              <a:rPr sz="1500" spc="-140" dirty="0">
                <a:latin typeface="Courier New"/>
                <a:cs typeface="Courier New"/>
              </a:rPr>
              <a:t>minimal</a:t>
            </a:r>
            <a:r>
              <a:rPr sz="1900" spc="-140" dirty="0">
                <a:latin typeface="Courier New"/>
                <a:cs typeface="Courier New"/>
              </a:rPr>
              <a:t>()</a:t>
            </a:r>
            <a:r>
              <a:rPr sz="1900" spc="-275" dirty="0">
                <a:latin typeface="Courier New"/>
                <a:cs typeface="Courier New"/>
              </a:rPr>
              <a:t> </a:t>
            </a:r>
            <a:r>
              <a:rPr sz="1900" spc="-345" dirty="0">
                <a:latin typeface="Courier New"/>
                <a:cs typeface="Courier New"/>
              </a:rPr>
              <a:t>+</a:t>
            </a:r>
            <a:r>
              <a:rPr sz="1900" spc="-275" dirty="0">
                <a:latin typeface="Courier New"/>
                <a:cs typeface="Courier New"/>
              </a:rPr>
              <a:t> </a:t>
            </a:r>
            <a:r>
              <a:rPr sz="1500" spc="-110" dirty="0">
                <a:latin typeface="Courier New"/>
                <a:cs typeface="Courier New"/>
              </a:rPr>
              <a:t>theme</a:t>
            </a:r>
            <a:r>
              <a:rPr sz="1900" spc="-110" dirty="0">
                <a:latin typeface="Courier New"/>
                <a:cs typeface="Courier New"/>
              </a:rPr>
              <a:t>(</a:t>
            </a:r>
            <a:r>
              <a:rPr sz="1500" spc="-110" dirty="0">
                <a:latin typeface="Courier New"/>
                <a:cs typeface="Courier New"/>
              </a:rPr>
              <a:t>text</a:t>
            </a:r>
            <a:r>
              <a:rPr sz="1500" spc="-40" dirty="0">
                <a:latin typeface="Courier New"/>
                <a:cs typeface="Courier New"/>
              </a:rPr>
              <a:t> </a:t>
            </a:r>
            <a:r>
              <a:rPr sz="1900" spc="-345" dirty="0">
                <a:latin typeface="Courier New"/>
                <a:cs typeface="Courier New"/>
              </a:rPr>
              <a:t>=</a:t>
            </a:r>
            <a:r>
              <a:rPr sz="1900" spc="-275" dirty="0">
                <a:latin typeface="Courier New"/>
                <a:cs typeface="Courier New"/>
              </a:rPr>
              <a:t> </a:t>
            </a:r>
            <a:r>
              <a:rPr sz="1500" spc="-140" dirty="0">
                <a:latin typeface="Courier New"/>
                <a:cs typeface="Courier New"/>
              </a:rPr>
              <a:t>element</a:t>
            </a:r>
            <a:r>
              <a:rPr sz="1900" spc="-140" dirty="0">
                <a:latin typeface="Courier New"/>
                <a:cs typeface="Courier New"/>
              </a:rPr>
              <a:t>_</a:t>
            </a:r>
            <a:r>
              <a:rPr sz="1500" spc="-140" dirty="0">
                <a:latin typeface="Courier New"/>
                <a:cs typeface="Courier New"/>
              </a:rPr>
              <a:t>text</a:t>
            </a:r>
            <a:r>
              <a:rPr sz="1900" spc="-140" dirty="0">
                <a:latin typeface="Courier New"/>
                <a:cs typeface="Courier New"/>
              </a:rPr>
              <a:t>(</a:t>
            </a:r>
            <a:r>
              <a:rPr sz="1500" spc="-140" dirty="0">
                <a:latin typeface="Courier New"/>
                <a:cs typeface="Courier New"/>
              </a:rPr>
              <a:t>famil</a:t>
            </a:r>
            <a:r>
              <a:rPr sz="2150" spc="-140" dirty="0">
                <a:latin typeface="Courier New"/>
                <a:cs typeface="Courier New"/>
              </a:rPr>
              <a:t>y</a:t>
            </a:r>
            <a:r>
              <a:rPr sz="2150" spc="-425" dirty="0">
                <a:latin typeface="Courier New"/>
                <a:cs typeface="Courier New"/>
              </a:rPr>
              <a:t> </a:t>
            </a:r>
            <a:r>
              <a:rPr sz="1900" spc="-345" dirty="0">
                <a:latin typeface="Courier New"/>
                <a:cs typeface="Courier New"/>
              </a:rPr>
              <a:t>=</a:t>
            </a:r>
            <a:r>
              <a:rPr sz="1900" spc="-275" dirty="0">
                <a:latin typeface="Courier New"/>
                <a:cs typeface="Courier New"/>
              </a:rPr>
              <a:t> </a:t>
            </a:r>
            <a:r>
              <a:rPr sz="1900" spc="-55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500" spc="-55" dirty="0">
                <a:solidFill>
                  <a:srgbClr val="DD1144"/>
                </a:solidFill>
                <a:latin typeface="Courier New"/>
                <a:cs typeface="Courier New"/>
              </a:rPr>
              <a:t>Palatino</a:t>
            </a:r>
            <a:r>
              <a:rPr sz="1900" spc="-55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900" spc="-55" dirty="0">
                <a:latin typeface="Courier New"/>
                <a:cs typeface="Courier New"/>
              </a:rPr>
              <a:t>))</a:t>
            </a:r>
            <a:endParaRPr sz="19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5061" y="182930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3681" y="5306335"/>
            <a:ext cx="1045844" cy="42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5"/>
              </a:lnSpc>
            </a:pPr>
            <a:r>
              <a:rPr sz="2600" spc="-10" dirty="0">
                <a:latin typeface="Trebuchet MS"/>
                <a:cs typeface="Trebuchet MS"/>
              </a:rPr>
              <a:t>Theme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867" y="5926583"/>
            <a:ext cx="1221740" cy="325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70" dirty="0">
                <a:latin typeface="Courier New"/>
                <a:cs typeface="Courier New"/>
              </a:rPr>
              <a:t>theme</a:t>
            </a:r>
            <a:r>
              <a:rPr sz="2350" spc="-17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381" y="5830906"/>
            <a:ext cx="2115185" cy="534035"/>
          </a:xfrm>
          <a:custGeom>
            <a:avLst/>
            <a:gdLst/>
            <a:ahLst/>
            <a:cxnLst/>
            <a:rect l="l" t="t" r="r" b="b"/>
            <a:pathLst>
              <a:path w="2115185" h="534035">
                <a:moveTo>
                  <a:pt x="2115132" y="533547"/>
                </a:moveTo>
                <a:lnTo>
                  <a:pt x="0" y="533547"/>
                </a:lnTo>
                <a:lnTo>
                  <a:pt x="0" y="0"/>
                </a:lnTo>
                <a:lnTo>
                  <a:pt x="2115132" y="0"/>
                </a:lnTo>
                <a:lnTo>
                  <a:pt x="2115132" y="53354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3681" y="1111559"/>
            <a:ext cx="1591310" cy="4027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 </a:t>
            </a:r>
            <a:r>
              <a:rPr sz="2600" spc="45" dirty="0">
                <a:solidFill>
                  <a:srgbClr val="1A292C"/>
                </a:solidFill>
                <a:latin typeface="Trebuchet MS"/>
                <a:cs typeface="Trebuchet MS"/>
              </a:rPr>
              <a:t>Scales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5060" y="1848359"/>
            <a:ext cx="7927340" cy="2630170"/>
          </a:xfrm>
          <a:custGeom>
            <a:avLst/>
            <a:gdLst/>
            <a:ahLst/>
            <a:cxnLst/>
            <a:rect l="l" t="t" r="r" b="b"/>
            <a:pathLst>
              <a:path w="7927340" h="2630170">
                <a:moveTo>
                  <a:pt x="7926984" y="2629624"/>
                </a:moveTo>
                <a:lnTo>
                  <a:pt x="0" y="2629624"/>
                </a:lnTo>
                <a:lnTo>
                  <a:pt x="0" y="0"/>
                </a:lnTo>
                <a:lnTo>
                  <a:pt x="7926984" y="0"/>
                </a:lnTo>
                <a:lnTo>
                  <a:pt x="7926984" y="262962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07768" y="1286229"/>
            <a:ext cx="1334135" cy="305435"/>
          </a:xfrm>
          <a:custGeom>
            <a:avLst/>
            <a:gdLst/>
            <a:ahLst/>
            <a:cxnLst/>
            <a:rect l="l" t="t" r="r" b="b"/>
            <a:pathLst>
              <a:path w="1334134" h="305434">
                <a:moveTo>
                  <a:pt x="1309075" y="304883"/>
                </a:moveTo>
                <a:lnTo>
                  <a:pt x="24792" y="304883"/>
                </a:lnTo>
                <a:lnTo>
                  <a:pt x="21146" y="304158"/>
                </a:lnTo>
                <a:lnTo>
                  <a:pt x="0" y="280091"/>
                </a:lnTo>
                <a:lnTo>
                  <a:pt x="0" y="276301"/>
                </a:lnTo>
                <a:lnTo>
                  <a:pt x="0" y="24792"/>
                </a:lnTo>
                <a:lnTo>
                  <a:pt x="24792" y="0"/>
                </a:lnTo>
                <a:lnTo>
                  <a:pt x="1309075" y="0"/>
                </a:lnTo>
                <a:lnTo>
                  <a:pt x="1333867" y="24792"/>
                </a:lnTo>
                <a:lnTo>
                  <a:pt x="1333867" y="280091"/>
                </a:lnTo>
                <a:lnTo>
                  <a:pt x="1312720" y="304158"/>
                </a:lnTo>
                <a:lnTo>
                  <a:pt x="1309075" y="304883"/>
                </a:lnTo>
                <a:close/>
              </a:path>
            </a:pathLst>
          </a:custGeom>
          <a:solidFill>
            <a:srgbClr val="E7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07597" y="1254474"/>
            <a:ext cx="570420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rebuchet MS"/>
                <a:cs typeface="Trebuchet MS"/>
              </a:rPr>
              <a:t>You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can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also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set</a:t>
            </a:r>
            <a:r>
              <a:rPr sz="1850" spc="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</a:t>
            </a:r>
            <a:r>
              <a:rPr sz="1850" spc="-3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theme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globally</a:t>
            </a:r>
            <a:r>
              <a:rPr sz="1850" spc="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with</a:t>
            </a:r>
            <a:r>
              <a:rPr sz="1850" spc="345" dirty="0">
                <a:latin typeface="Trebuchet MS"/>
                <a:cs typeface="Trebuchet MS"/>
              </a:rPr>
              <a:t> </a:t>
            </a:r>
            <a:r>
              <a:rPr sz="1650" spc="-65" dirty="0">
                <a:latin typeface="Courier New"/>
                <a:cs typeface="Courier New"/>
              </a:rPr>
              <a:t>theme</a:t>
            </a:r>
            <a:r>
              <a:rPr sz="1550" spc="-65" dirty="0">
                <a:latin typeface="Courier New"/>
                <a:cs typeface="Courier New"/>
              </a:rPr>
              <a:t>_</a:t>
            </a:r>
            <a:r>
              <a:rPr sz="1650" spc="-65" dirty="0">
                <a:latin typeface="Courier New"/>
                <a:cs typeface="Courier New"/>
              </a:rPr>
              <a:t>set</a:t>
            </a:r>
            <a:r>
              <a:rPr sz="1550" spc="-65" dirty="0">
                <a:latin typeface="Courier New"/>
                <a:cs typeface="Courier New"/>
              </a:rPr>
              <a:t>()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681" y="5306335"/>
            <a:ext cx="1045844" cy="42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5"/>
              </a:lnSpc>
            </a:pPr>
            <a:r>
              <a:rPr sz="2600" spc="-10" dirty="0">
                <a:latin typeface="Trebuchet MS"/>
                <a:cs typeface="Trebuchet MS"/>
              </a:rPr>
              <a:t>Theme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867" y="5926583"/>
            <a:ext cx="1221740" cy="325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70" dirty="0">
                <a:latin typeface="Courier New"/>
                <a:cs typeface="Courier New"/>
              </a:rPr>
              <a:t>theme</a:t>
            </a:r>
            <a:r>
              <a:rPr sz="2350" spc="-170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561350" y="1869005"/>
            <a:ext cx="1875789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66700" algn="l"/>
              </a:tabLst>
            </a:pPr>
            <a:r>
              <a:rPr sz="2350" spc="-450" dirty="0">
                <a:latin typeface="Palatino Linotype"/>
                <a:cs typeface="Palatino Linotype"/>
              </a:rPr>
              <a:t>f-</a:t>
            </a:r>
            <a:r>
              <a:rPr sz="2350" spc="-500" dirty="0">
                <a:latin typeface="Palatino Linotype"/>
                <a:cs typeface="Palatino Linotype"/>
              </a:rPr>
              <a:t>-</a:t>
            </a:r>
            <a:r>
              <a:rPr sz="2350" dirty="0">
                <a:latin typeface="Palatino Linotype"/>
                <a:cs typeface="Palatino Linotype"/>
              </a:rPr>
              <a:t>	</a:t>
            </a:r>
            <a:r>
              <a:rPr sz="1900" spc="-45" dirty="0">
                <a:latin typeface="Courier New"/>
                <a:cs typeface="Courier New"/>
              </a:rPr>
              <a:t>theme</a:t>
            </a:r>
            <a:r>
              <a:rPr sz="1750" spc="-45" dirty="0">
                <a:latin typeface="Courier New"/>
                <a:cs typeface="Courier New"/>
              </a:rPr>
              <a:t>_</a:t>
            </a:r>
            <a:r>
              <a:rPr sz="1900" spc="-45" dirty="0">
                <a:latin typeface="Courier New"/>
                <a:cs typeface="Courier New"/>
              </a:rPr>
              <a:t>bw</a:t>
            </a:r>
            <a:r>
              <a:rPr sz="1750" spc="-45" dirty="0">
                <a:latin typeface="Courier New"/>
                <a:cs typeface="Courier New"/>
              </a:rPr>
              <a:t>()</a:t>
            </a:r>
            <a:r>
              <a:rPr sz="1750" spc="-204" dirty="0">
                <a:latin typeface="Courier New"/>
                <a:cs typeface="Courier New"/>
              </a:rPr>
              <a:t> </a:t>
            </a:r>
            <a:r>
              <a:rPr sz="2350" spc="-450" dirty="0">
                <a:latin typeface="Courier New"/>
                <a:cs typeface="Courier New"/>
              </a:rPr>
              <a:t>+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7483" y="1825631"/>
            <a:ext cx="1075055" cy="7321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66700" marR="5080" indent="-267335">
              <a:lnSpc>
                <a:spcPct val="101099"/>
              </a:lnSpc>
              <a:spcBef>
                <a:spcPts val="70"/>
              </a:spcBef>
            </a:pPr>
            <a:r>
              <a:rPr sz="1900" spc="-155" dirty="0">
                <a:latin typeface="Courier New"/>
                <a:cs typeface="Courier New"/>
              </a:rPr>
              <a:t>m</a:t>
            </a:r>
            <a:r>
              <a:rPr sz="2700" spc="-155" dirty="0">
                <a:latin typeface="Courier New"/>
                <a:cs typeface="Courier New"/>
              </a:rPr>
              <a:t>y</a:t>
            </a:r>
            <a:r>
              <a:rPr sz="1750" spc="-155" dirty="0">
                <a:latin typeface="Courier New"/>
                <a:cs typeface="Courier New"/>
              </a:rPr>
              <a:t>_</a:t>
            </a:r>
            <a:r>
              <a:rPr sz="1900" spc="-155" dirty="0">
                <a:latin typeface="Courier New"/>
                <a:cs typeface="Courier New"/>
              </a:rPr>
              <a:t>theme </a:t>
            </a:r>
            <a:r>
              <a:rPr sz="1900" spc="-95" dirty="0">
                <a:latin typeface="Courier New"/>
                <a:cs typeface="Courier New"/>
              </a:rPr>
              <a:t>theme</a:t>
            </a:r>
            <a:r>
              <a:rPr sz="1750" spc="-95" dirty="0">
                <a:latin typeface="Courier New"/>
                <a:cs typeface="Courier New"/>
              </a:rPr>
              <a:t>(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1030" y="2454454"/>
            <a:ext cx="6931659" cy="10579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>
              <a:lnSpc>
                <a:spcPct val="80800"/>
              </a:lnSpc>
              <a:spcBef>
                <a:spcPts val="725"/>
              </a:spcBef>
            </a:pPr>
            <a:r>
              <a:rPr sz="1900" spc="-60" dirty="0">
                <a:latin typeface="Courier New"/>
                <a:cs typeface="Courier New"/>
              </a:rPr>
              <a:t>text</a:t>
            </a:r>
            <a:r>
              <a:rPr sz="1900" spc="-22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14" dirty="0">
                <a:latin typeface="Courier New"/>
                <a:cs typeface="Courier New"/>
              </a:rPr>
              <a:t>element</a:t>
            </a:r>
            <a:r>
              <a:rPr sz="1750" spc="-114" dirty="0">
                <a:latin typeface="Courier New"/>
                <a:cs typeface="Courier New"/>
              </a:rPr>
              <a:t>_</a:t>
            </a:r>
            <a:r>
              <a:rPr sz="1900" spc="-114" dirty="0">
                <a:latin typeface="Courier New"/>
                <a:cs typeface="Courier New"/>
              </a:rPr>
              <a:t>text</a:t>
            </a:r>
            <a:r>
              <a:rPr sz="1750" spc="-114" dirty="0">
                <a:latin typeface="Courier New"/>
                <a:cs typeface="Courier New"/>
              </a:rPr>
              <a:t>(</a:t>
            </a:r>
            <a:r>
              <a:rPr sz="1900" spc="-114" dirty="0">
                <a:latin typeface="Courier New"/>
                <a:cs typeface="Courier New"/>
              </a:rPr>
              <a:t>famil</a:t>
            </a:r>
            <a:r>
              <a:rPr sz="2700" spc="-114" dirty="0">
                <a:latin typeface="Courier New"/>
                <a:cs typeface="Courier New"/>
              </a:rPr>
              <a:t>y</a:t>
            </a:r>
            <a:r>
              <a:rPr sz="2700" spc="-53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5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900" spc="-50" dirty="0">
                <a:solidFill>
                  <a:srgbClr val="DD1144"/>
                </a:solidFill>
                <a:latin typeface="Courier New"/>
                <a:cs typeface="Courier New"/>
              </a:rPr>
              <a:t>Palatino</a:t>
            </a:r>
            <a:r>
              <a:rPr sz="1750" spc="-5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750" spc="-50" dirty="0">
                <a:latin typeface="Courier New"/>
                <a:cs typeface="Courier New"/>
              </a:rPr>
              <a:t>,</a:t>
            </a:r>
            <a:r>
              <a:rPr sz="1750" spc="-55" dirty="0">
                <a:latin typeface="Courier New"/>
                <a:cs typeface="Courier New"/>
              </a:rPr>
              <a:t> </a:t>
            </a:r>
            <a:r>
              <a:rPr sz="1900" spc="-220" dirty="0">
                <a:latin typeface="Courier New"/>
                <a:cs typeface="Courier New"/>
              </a:rPr>
              <a:t>si</a:t>
            </a:r>
            <a:r>
              <a:rPr sz="2700" spc="-220" dirty="0">
                <a:latin typeface="Courier New"/>
                <a:cs typeface="Courier New"/>
              </a:rPr>
              <a:t>z</a:t>
            </a:r>
            <a:r>
              <a:rPr sz="1900" spc="-220" dirty="0">
                <a:latin typeface="Courier New"/>
                <a:cs typeface="Courier New"/>
              </a:rPr>
              <a:t>e</a:t>
            </a:r>
            <a:r>
              <a:rPr sz="1900" spc="-6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20" dirty="0">
                <a:solidFill>
                  <a:srgbClr val="009999"/>
                </a:solidFill>
                <a:latin typeface="Courier New"/>
                <a:cs typeface="Courier New"/>
              </a:rPr>
              <a:t>12</a:t>
            </a:r>
            <a:r>
              <a:rPr sz="1750" spc="-20" dirty="0">
                <a:latin typeface="Courier New"/>
                <a:cs typeface="Courier New"/>
              </a:rPr>
              <a:t>), </a:t>
            </a:r>
            <a:r>
              <a:rPr sz="1900" spc="-75" dirty="0">
                <a:latin typeface="Courier New"/>
                <a:cs typeface="Courier New"/>
              </a:rPr>
              <a:t>panel</a:t>
            </a:r>
            <a:r>
              <a:rPr sz="1750" spc="-75" dirty="0">
                <a:latin typeface="Courier New"/>
                <a:cs typeface="Courier New"/>
              </a:rPr>
              <a:t>.</a:t>
            </a:r>
            <a:r>
              <a:rPr sz="1900" spc="-75" dirty="0">
                <a:latin typeface="Courier New"/>
                <a:cs typeface="Courier New"/>
              </a:rPr>
              <a:t>border</a:t>
            </a:r>
            <a:r>
              <a:rPr sz="1900" spc="-19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80" dirty="0">
                <a:latin typeface="Courier New"/>
                <a:cs typeface="Courier New"/>
              </a:rPr>
              <a:t>element</a:t>
            </a:r>
            <a:r>
              <a:rPr sz="1750" spc="-80" dirty="0">
                <a:latin typeface="Courier New"/>
                <a:cs typeface="Courier New"/>
              </a:rPr>
              <a:t>_</a:t>
            </a:r>
            <a:r>
              <a:rPr sz="1900" spc="-80" dirty="0">
                <a:latin typeface="Courier New"/>
                <a:cs typeface="Courier New"/>
              </a:rPr>
              <a:t>rect</a:t>
            </a:r>
            <a:r>
              <a:rPr sz="1750" spc="-80" dirty="0">
                <a:latin typeface="Courier New"/>
                <a:cs typeface="Courier New"/>
              </a:rPr>
              <a:t>(</a:t>
            </a:r>
            <a:r>
              <a:rPr sz="1900" spc="-80" dirty="0">
                <a:latin typeface="Courier New"/>
                <a:cs typeface="Courier New"/>
              </a:rPr>
              <a:t>colour</a:t>
            </a:r>
            <a:r>
              <a:rPr sz="1900" spc="-10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10" dirty="0">
                <a:solidFill>
                  <a:srgbClr val="DD1144"/>
                </a:solidFill>
                <a:latin typeface="Courier New"/>
                <a:cs typeface="Courier New"/>
              </a:rPr>
              <a:t>'</a:t>
            </a:r>
            <a:r>
              <a:rPr sz="1900" spc="-10" dirty="0">
                <a:solidFill>
                  <a:srgbClr val="DD1144"/>
                </a:solidFill>
                <a:latin typeface="Courier New"/>
                <a:cs typeface="Courier New"/>
              </a:rPr>
              <a:t>gre</a:t>
            </a:r>
            <a:r>
              <a:rPr sz="2700" spc="-10" dirty="0">
                <a:solidFill>
                  <a:srgbClr val="DD1144"/>
                </a:solidFill>
                <a:latin typeface="Courier New"/>
                <a:cs typeface="Courier New"/>
              </a:rPr>
              <a:t>y</a:t>
            </a:r>
            <a:r>
              <a:rPr sz="1750" spc="-10" dirty="0">
                <a:solidFill>
                  <a:srgbClr val="DD1144"/>
                </a:solidFill>
                <a:latin typeface="Courier New"/>
                <a:cs typeface="Courier New"/>
              </a:rPr>
              <a:t>80'</a:t>
            </a:r>
            <a:r>
              <a:rPr sz="1750" spc="-10" dirty="0">
                <a:latin typeface="Courier New"/>
                <a:cs typeface="Courier New"/>
              </a:rPr>
              <a:t>), </a:t>
            </a:r>
            <a:r>
              <a:rPr sz="1900" spc="-75" dirty="0">
                <a:latin typeface="Courier New"/>
                <a:cs typeface="Courier New"/>
              </a:rPr>
              <a:t>panel</a:t>
            </a:r>
            <a:r>
              <a:rPr sz="1750" spc="-75" dirty="0">
                <a:latin typeface="Courier New"/>
                <a:cs typeface="Courier New"/>
              </a:rPr>
              <a:t>.</a:t>
            </a:r>
            <a:r>
              <a:rPr sz="1900" spc="-75" dirty="0">
                <a:latin typeface="Courier New"/>
                <a:cs typeface="Courier New"/>
              </a:rPr>
              <a:t>grid</a:t>
            </a:r>
            <a:r>
              <a:rPr sz="1750" spc="-75" dirty="0">
                <a:latin typeface="Courier New"/>
                <a:cs typeface="Courier New"/>
              </a:rPr>
              <a:t>.</a:t>
            </a:r>
            <a:r>
              <a:rPr sz="1900" spc="-75" dirty="0">
                <a:latin typeface="Courier New"/>
                <a:cs typeface="Courier New"/>
              </a:rPr>
              <a:t>minor</a:t>
            </a:r>
            <a:r>
              <a:rPr sz="1900" spc="-16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element</a:t>
            </a:r>
            <a:r>
              <a:rPr sz="1750" spc="-10" dirty="0">
                <a:latin typeface="Courier New"/>
                <a:cs typeface="Courier New"/>
              </a:rPr>
              <a:t>_</a:t>
            </a:r>
            <a:r>
              <a:rPr sz="1900" spc="-10" dirty="0">
                <a:latin typeface="Courier New"/>
                <a:cs typeface="Courier New"/>
              </a:rPr>
              <a:t>blank</a:t>
            </a:r>
            <a:r>
              <a:rPr sz="1750" spc="-10" dirty="0">
                <a:latin typeface="Courier New"/>
                <a:cs typeface="Courier New"/>
              </a:rPr>
              <a:t>()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4256" y="3515761"/>
            <a:ext cx="128905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750" spc="-8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7483" y="3931236"/>
            <a:ext cx="252984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900" spc="-105" dirty="0">
                <a:latin typeface="Courier New"/>
                <a:cs typeface="Courier New"/>
              </a:rPr>
              <a:t>theme</a:t>
            </a:r>
            <a:r>
              <a:rPr sz="1750" spc="-105" dirty="0">
                <a:latin typeface="Courier New"/>
                <a:cs typeface="Courier New"/>
              </a:rPr>
              <a:t>_</a:t>
            </a:r>
            <a:r>
              <a:rPr sz="1900" spc="-105" dirty="0">
                <a:latin typeface="Courier New"/>
                <a:cs typeface="Courier New"/>
              </a:rPr>
              <a:t>set</a:t>
            </a:r>
            <a:r>
              <a:rPr sz="1750" spc="-105" dirty="0">
                <a:latin typeface="Courier New"/>
                <a:cs typeface="Courier New"/>
              </a:rPr>
              <a:t>(</a:t>
            </a:r>
            <a:r>
              <a:rPr sz="1900" spc="-105" dirty="0">
                <a:latin typeface="Courier New"/>
                <a:cs typeface="Courier New"/>
              </a:rPr>
              <a:t>m</a:t>
            </a:r>
            <a:r>
              <a:rPr sz="2700" spc="-105" dirty="0">
                <a:latin typeface="Courier New"/>
                <a:cs typeface="Courier New"/>
              </a:rPr>
              <a:t>y</a:t>
            </a:r>
            <a:r>
              <a:rPr sz="1750" spc="-105" dirty="0">
                <a:latin typeface="Courier New"/>
                <a:cs typeface="Courier New"/>
              </a:rPr>
              <a:t>_</a:t>
            </a:r>
            <a:r>
              <a:rPr sz="1900" spc="-105" dirty="0">
                <a:latin typeface="Courier New"/>
                <a:cs typeface="Courier New"/>
              </a:rPr>
              <a:t>theme</a:t>
            </a:r>
            <a:r>
              <a:rPr sz="1750" spc="-10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07597" y="4713002"/>
            <a:ext cx="355092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rebuchet MS"/>
                <a:cs typeface="Trebuchet MS"/>
              </a:rPr>
              <a:t>All plots</a:t>
            </a:r>
            <a:r>
              <a:rPr sz="1850" spc="4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will</a:t>
            </a:r>
            <a:r>
              <a:rPr sz="1850" spc="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now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use</a:t>
            </a:r>
            <a:r>
              <a:rPr sz="1850" spc="-2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this</a:t>
            </a:r>
            <a:r>
              <a:rPr sz="1850" spc="40" dirty="0">
                <a:latin typeface="Trebuchet MS"/>
                <a:cs typeface="Trebuchet MS"/>
              </a:rPr>
              <a:t> </a:t>
            </a:r>
            <a:r>
              <a:rPr sz="1850" spc="-20" dirty="0">
                <a:latin typeface="Trebuchet MS"/>
                <a:cs typeface="Trebuchet MS"/>
              </a:rPr>
              <a:t>theme!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381" y="5830906"/>
            <a:ext cx="2115185" cy="534035"/>
          </a:xfrm>
          <a:custGeom>
            <a:avLst/>
            <a:gdLst/>
            <a:ahLst/>
            <a:cxnLst/>
            <a:rect l="l" t="t" r="r" b="b"/>
            <a:pathLst>
              <a:path w="2115185" h="534035">
                <a:moveTo>
                  <a:pt x="2115132" y="533547"/>
                </a:moveTo>
                <a:lnTo>
                  <a:pt x="0" y="533547"/>
                </a:lnTo>
                <a:lnTo>
                  <a:pt x="0" y="0"/>
                </a:lnTo>
                <a:lnTo>
                  <a:pt x="2115132" y="0"/>
                </a:lnTo>
                <a:lnTo>
                  <a:pt x="2115132" y="53354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3681" y="1111559"/>
            <a:ext cx="1591310" cy="3455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9842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75"/>
              </a:spcBef>
            </a:pPr>
            <a:r>
              <a:rPr sz="1850" spc="-50" dirty="0">
                <a:latin typeface="Courier New"/>
                <a:cs typeface="Courier New"/>
              </a:rPr>
              <a:t>g</a:t>
            </a:r>
            <a:endParaRPr sz="18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3681" y="4734677"/>
            <a:ext cx="1045844" cy="997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5"/>
              </a:lnSpc>
            </a:pPr>
            <a:r>
              <a:rPr sz="2600" spc="45" dirty="0">
                <a:solidFill>
                  <a:srgbClr val="1A292C"/>
                </a:solidFill>
                <a:latin typeface="Trebuchet MS"/>
                <a:cs typeface="Trebuchet MS"/>
              </a:rPr>
              <a:t>Scales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600" spc="-10" dirty="0">
                <a:latin typeface="Trebuchet MS"/>
                <a:cs typeface="Trebuchet MS"/>
              </a:rPr>
              <a:t>Theme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867" y="5926583"/>
            <a:ext cx="1221740" cy="325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850" spc="-155" dirty="0">
                <a:latin typeface="Courier New"/>
                <a:cs typeface="Courier New"/>
              </a:rPr>
              <a:t>theme</a:t>
            </a:r>
            <a:r>
              <a:rPr sz="2350" spc="-155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681" y="1111559"/>
            <a:ext cx="1591310" cy="4598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0"/>
              </a:spcBef>
            </a:pPr>
            <a:r>
              <a:rPr sz="2600" spc="-20" dirty="0">
                <a:solidFill>
                  <a:srgbClr val="1A292C"/>
                </a:solidFill>
                <a:latin typeface="Trebuchet MS"/>
                <a:cs typeface="Trebuchet MS"/>
              </a:rPr>
              <a:t>Data </a:t>
            </a:r>
            <a:r>
              <a:rPr sz="2600" spc="-10" dirty="0">
                <a:solidFill>
                  <a:srgbClr val="1A292C"/>
                </a:solidFill>
                <a:latin typeface="Trebuchet MS"/>
                <a:cs typeface="Trebuchet MS"/>
              </a:rPr>
              <a:t>Aesthetics Geoms Facet Labels Coords </a:t>
            </a:r>
            <a:r>
              <a:rPr sz="2600" spc="45" dirty="0">
                <a:solidFill>
                  <a:srgbClr val="1A292C"/>
                </a:solidFill>
                <a:latin typeface="Trebuchet MS"/>
                <a:cs typeface="Trebuchet MS"/>
              </a:rPr>
              <a:t>Scales </a:t>
            </a:r>
            <a:r>
              <a:rPr sz="2600" spc="-10" dirty="0">
                <a:latin typeface="Trebuchet MS"/>
                <a:cs typeface="Trebuchet MS"/>
              </a:rPr>
              <a:t>Theme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1" y="5830906"/>
            <a:ext cx="211518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75"/>
              </a:spcBef>
            </a:pP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45" dirty="0">
                <a:latin typeface="Courier New"/>
                <a:cs typeface="Courier New"/>
              </a:rPr>
              <a:t>theme</a:t>
            </a:r>
            <a:r>
              <a:rPr sz="2350" spc="-45" dirty="0">
                <a:latin typeface="Courier New"/>
                <a:cs typeface="Courier New"/>
              </a:rPr>
              <a:t>()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060" y="1257646"/>
            <a:ext cx="7927340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75"/>
              </a:spcBef>
            </a:pPr>
            <a:r>
              <a:rPr sz="1900" dirty="0">
                <a:latin typeface="Courier New"/>
                <a:cs typeface="Courier New"/>
              </a:rPr>
              <a:t>g</a:t>
            </a:r>
            <a:r>
              <a:rPr sz="1900" spc="-18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+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114" dirty="0">
                <a:latin typeface="Courier New"/>
                <a:cs typeface="Courier New"/>
              </a:rPr>
              <a:t>theme</a:t>
            </a:r>
            <a:r>
              <a:rPr sz="2350" spc="-114" dirty="0">
                <a:latin typeface="Courier New"/>
                <a:cs typeface="Courier New"/>
              </a:rPr>
              <a:t>(</a:t>
            </a:r>
            <a:r>
              <a:rPr sz="1900" spc="-114" dirty="0">
                <a:latin typeface="Courier New"/>
                <a:cs typeface="Courier New"/>
              </a:rPr>
              <a:t>legend</a:t>
            </a:r>
            <a:r>
              <a:rPr sz="2350" spc="-114" dirty="0">
                <a:latin typeface="Courier New"/>
                <a:cs typeface="Courier New"/>
              </a:rPr>
              <a:t>.</a:t>
            </a:r>
            <a:r>
              <a:rPr sz="1900" spc="-114" dirty="0">
                <a:latin typeface="Courier New"/>
                <a:cs typeface="Courier New"/>
              </a:rPr>
              <a:t>position</a:t>
            </a:r>
            <a:r>
              <a:rPr sz="1900" spc="-9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2350" spc="-85" dirty="0">
                <a:solidFill>
                  <a:srgbClr val="DD1144"/>
                </a:solidFill>
                <a:latin typeface="Courier New"/>
                <a:cs typeface="Courier New"/>
              </a:rPr>
              <a:t>'</a:t>
            </a:r>
            <a:r>
              <a:rPr sz="1900" spc="-85" dirty="0">
                <a:solidFill>
                  <a:srgbClr val="DD1144"/>
                </a:solidFill>
                <a:latin typeface="Courier New"/>
                <a:cs typeface="Courier New"/>
              </a:rPr>
              <a:t>bottom</a:t>
            </a:r>
            <a:r>
              <a:rPr sz="2350" spc="-85" dirty="0">
                <a:solidFill>
                  <a:srgbClr val="DD1144"/>
                </a:solidFill>
                <a:latin typeface="Courier New"/>
                <a:cs typeface="Courier New"/>
              </a:rPr>
              <a:t>'</a:t>
            </a:r>
            <a:r>
              <a:rPr sz="2350" spc="-85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5061" y="2029384"/>
            <a:ext cx="7136191" cy="416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gg</a:t>
            </a:r>
            <a:r>
              <a:rPr spc="-135" dirty="0"/>
              <a:t> </a:t>
            </a:r>
            <a:r>
              <a:rPr spc="114" dirty="0"/>
              <a:t>is</a:t>
            </a:r>
            <a:r>
              <a:rPr spc="-10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Grammar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Graphics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762635"/>
          </a:xfrm>
          <a:custGeom>
            <a:avLst/>
            <a:gdLst/>
            <a:ahLst/>
            <a:cxnLst/>
            <a:rect l="l" t="t" r="r" b="b"/>
            <a:pathLst>
              <a:path w="11518900" h="762635">
                <a:moveTo>
                  <a:pt x="11518391" y="762210"/>
                </a:moveTo>
                <a:lnTo>
                  <a:pt x="0" y="762210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762210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Save</a:t>
            </a:r>
            <a:r>
              <a:rPr spc="-75" dirty="0"/>
              <a:t> </a:t>
            </a:r>
            <a:r>
              <a:rPr dirty="0"/>
              <a:t>Your</a:t>
            </a:r>
            <a:r>
              <a:rPr spc="-140" dirty="0"/>
              <a:t> </a:t>
            </a:r>
            <a:r>
              <a:rPr spc="-20" dirty="0"/>
              <a:t>Work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63681" y="1016283"/>
            <a:ext cx="313880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95" dirty="0">
                <a:latin typeface="Trebuchet MS"/>
                <a:cs typeface="Trebuchet MS"/>
              </a:rPr>
              <a:t>To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save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your</a:t>
            </a:r>
            <a:r>
              <a:rPr sz="1850" spc="-25" dirty="0">
                <a:latin typeface="Trebuchet MS"/>
                <a:cs typeface="Trebuchet MS"/>
              </a:rPr>
              <a:t> </a:t>
            </a:r>
            <a:r>
              <a:rPr sz="1850" spc="-45" dirty="0">
                <a:latin typeface="Trebuchet MS"/>
                <a:cs typeface="Trebuchet MS"/>
              </a:rPr>
              <a:t>plot,</a:t>
            </a:r>
            <a:r>
              <a:rPr sz="1850" spc="-15" dirty="0">
                <a:latin typeface="Trebuchet MS"/>
                <a:cs typeface="Trebuchet MS"/>
              </a:rPr>
              <a:t> </a:t>
            </a:r>
            <a:r>
              <a:rPr sz="1850" spc="55" dirty="0">
                <a:latin typeface="Trebuchet MS"/>
                <a:cs typeface="Trebuchet MS"/>
              </a:rPr>
              <a:t>use</a:t>
            </a:r>
            <a:r>
              <a:rPr sz="1850" spc="-30" dirty="0">
                <a:latin typeface="Trebuchet MS"/>
                <a:cs typeface="Trebuchet MS"/>
              </a:rPr>
              <a:t> </a:t>
            </a:r>
            <a:r>
              <a:rPr sz="1850" spc="50" dirty="0">
                <a:solidFill>
                  <a:srgbClr val="22373A"/>
                </a:solidFill>
                <a:latin typeface="Trebuchet MS"/>
                <a:cs typeface="Trebuchet MS"/>
              </a:rPr>
              <a:t>ggsave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381" y="1610168"/>
            <a:ext cx="10575925" cy="273494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92075" rIns="0" bIns="0" rtlCol="0">
            <a:spAutoFit/>
          </a:bodyPr>
          <a:lstStyle/>
          <a:p>
            <a:pPr marL="106680">
              <a:lnSpc>
                <a:spcPts val="1980"/>
              </a:lnSpc>
              <a:spcBef>
                <a:spcPts val="725"/>
              </a:spcBef>
            </a:pPr>
            <a:r>
              <a:rPr sz="1900" spc="-10" dirty="0">
                <a:latin typeface="Courier New"/>
                <a:cs typeface="Courier New"/>
              </a:rPr>
              <a:t>ggsave</a:t>
            </a:r>
            <a:r>
              <a:rPr sz="1750" spc="-10" dirty="0">
                <a:latin typeface="Courier New"/>
                <a:cs typeface="Courier New"/>
              </a:rPr>
              <a:t>(</a:t>
            </a:r>
            <a:endParaRPr sz="1750">
              <a:latin typeface="Courier New"/>
              <a:cs typeface="Courier New"/>
            </a:endParaRPr>
          </a:p>
          <a:p>
            <a:pPr marL="373380" marR="6863715">
              <a:lnSpc>
                <a:spcPct val="76400"/>
              </a:lnSpc>
              <a:spcBef>
                <a:spcPts val="459"/>
              </a:spcBef>
            </a:pPr>
            <a:r>
              <a:rPr sz="1900" spc="-85" dirty="0">
                <a:latin typeface="Courier New"/>
                <a:cs typeface="Courier New"/>
              </a:rPr>
              <a:t>filename</a:t>
            </a:r>
            <a:r>
              <a:rPr sz="1900" spc="-13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10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900" spc="-100" dirty="0">
                <a:solidFill>
                  <a:srgbClr val="DD1144"/>
                </a:solidFill>
                <a:latin typeface="Courier New"/>
                <a:cs typeface="Courier New"/>
              </a:rPr>
              <a:t>m</a:t>
            </a:r>
            <a:r>
              <a:rPr sz="2700" spc="-100" dirty="0">
                <a:solidFill>
                  <a:srgbClr val="DD1144"/>
                </a:solidFill>
                <a:latin typeface="Courier New"/>
                <a:cs typeface="Courier New"/>
              </a:rPr>
              <a:t>y</a:t>
            </a:r>
            <a:r>
              <a:rPr sz="1750" spc="-100" dirty="0">
                <a:solidFill>
                  <a:srgbClr val="DD1144"/>
                </a:solidFill>
                <a:latin typeface="Courier New"/>
                <a:cs typeface="Courier New"/>
              </a:rPr>
              <a:t>_</a:t>
            </a:r>
            <a:r>
              <a:rPr sz="1900" spc="-100" dirty="0">
                <a:solidFill>
                  <a:srgbClr val="DD1144"/>
                </a:solidFill>
                <a:latin typeface="Courier New"/>
                <a:cs typeface="Courier New"/>
              </a:rPr>
              <a:t>plot</a:t>
            </a:r>
            <a:r>
              <a:rPr sz="1750" spc="-100" dirty="0">
                <a:solidFill>
                  <a:srgbClr val="DD1144"/>
                </a:solidFill>
                <a:latin typeface="Courier New"/>
                <a:cs typeface="Courier New"/>
              </a:rPr>
              <a:t>.</a:t>
            </a:r>
            <a:r>
              <a:rPr sz="1900" spc="-100" dirty="0">
                <a:solidFill>
                  <a:srgbClr val="DD1144"/>
                </a:solidFill>
                <a:latin typeface="Courier New"/>
                <a:cs typeface="Courier New"/>
              </a:rPr>
              <a:t>png</a:t>
            </a:r>
            <a:r>
              <a:rPr sz="1750" spc="-10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750" spc="-100" dirty="0">
                <a:latin typeface="Courier New"/>
                <a:cs typeface="Courier New"/>
              </a:rPr>
              <a:t>, </a:t>
            </a:r>
            <a:r>
              <a:rPr sz="1900" spc="-60" dirty="0">
                <a:latin typeface="Courier New"/>
                <a:cs typeface="Courier New"/>
              </a:rPr>
              <a:t>plot</a:t>
            </a:r>
            <a:r>
              <a:rPr sz="1900" spc="-21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m</a:t>
            </a:r>
            <a:r>
              <a:rPr sz="2700" spc="-20" dirty="0">
                <a:latin typeface="Courier New"/>
                <a:cs typeface="Courier New"/>
              </a:rPr>
              <a:t>y</a:t>
            </a:r>
            <a:r>
              <a:rPr sz="1750" spc="-20" dirty="0">
                <a:latin typeface="Courier New"/>
                <a:cs typeface="Courier New"/>
              </a:rPr>
              <a:t>_</a:t>
            </a:r>
            <a:r>
              <a:rPr sz="1900" spc="-20" dirty="0">
                <a:latin typeface="Courier New"/>
                <a:cs typeface="Courier New"/>
              </a:rPr>
              <a:t>plot</a:t>
            </a:r>
            <a:r>
              <a:rPr sz="1750" spc="-20" dirty="0">
                <a:latin typeface="Courier New"/>
                <a:cs typeface="Courier New"/>
              </a:rPr>
              <a:t>,</a:t>
            </a:r>
            <a:endParaRPr sz="1750">
              <a:latin typeface="Courier New"/>
              <a:cs typeface="Courier New"/>
            </a:endParaRPr>
          </a:p>
          <a:p>
            <a:pPr marL="373380">
              <a:lnSpc>
                <a:spcPts val="2235"/>
              </a:lnSpc>
            </a:pPr>
            <a:r>
              <a:rPr sz="1900" spc="-70" dirty="0">
                <a:latin typeface="Courier New"/>
                <a:cs typeface="Courier New"/>
              </a:rPr>
              <a:t>width</a:t>
            </a:r>
            <a:r>
              <a:rPr sz="1900" spc="-19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25" dirty="0">
                <a:solidFill>
                  <a:srgbClr val="009999"/>
                </a:solidFill>
                <a:latin typeface="Courier New"/>
                <a:cs typeface="Courier New"/>
              </a:rPr>
              <a:t>10</a:t>
            </a:r>
            <a:r>
              <a:rPr sz="1750" spc="-25" dirty="0">
                <a:latin typeface="Courier New"/>
                <a:cs typeface="Courier New"/>
              </a:rPr>
              <a:t>,</a:t>
            </a:r>
            <a:endParaRPr sz="1750">
              <a:latin typeface="Courier New"/>
              <a:cs typeface="Courier New"/>
            </a:endParaRPr>
          </a:p>
          <a:p>
            <a:pPr marL="373380">
              <a:lnSpc>
                <a:spcPts val="2475"/>
              </a:lnSpc>
            </a:pPr>
            <a:r>
              <a:rPr sz="1900" spc="-75" dirty="0">
                <a:latin typeface="Courier New"/>
                <a:cs typeface="Courier New"/>
              </a:rPr>
              <a:t>height</a:t>
            </a:r>
            <a:r>
              <a:rPr sz="1900" spc="-18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25" dirty="0">
                <a:solidFill>
                  <a:srgbClr val="009999"/>
                </a:solidFill>
                <a:latin typeface="Courier New"/>
                <a:cs typeface="Courier New"/>
              </a:rPr>
              <a:t>8</a:t>
            </a:r>
            <a:r>
              <a:rPr sz="1750" spc="-25" dirty="0">
                <a:latin typeface="Courier New"/>
                <a:cs typeface="Courier New"/>
              </a:rPr>
              <a:t>,</a:t>
            </a:r>
            <a:endParaRPr sz="1750">
              <a:latin typeface="Courier New"/>
              <a:cs typeface="Courier New"/>
            </a:endParaRPr>
          </a:p>
          <a:p>
            <a:pPr marL="373380" marR="8331200">
              <a:lnSpc>
                <a:spcPts val="2480"/>
              </a:lnSpc>
              <a:spcBef>
                <a:spcPts val="195"/>
              </a:spcBef>
            </a:pPr>
            <a:r>
              <a:rPr sz="1900" spc="-45" dirty="0">
                <a:latin typeface="Courier New"/>
                <a:cs typeface="Courier New"/>
              </a:rPr>
              <a:t>dpi</a:t>
            </a:r>
            <a:r>
              <a:rPr sz="1900" spc="-225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20" dirty="0">
                <a:solidFill>
                  <a:srgbClr val="009999"/>
                </a:solidFill>
                <a:latin typeface="Courier New"/>
                <a:cs typeface="Courier New"/>
              </a:rPr>
              <a:t>100</a:t>
            </a:r>
            <a:r>
              <a:rPr sz="1750" spc="-20" dirty="0">
                <a:latin typeface="Courier New"/>
                <a:cs typeface="Courier New"/>
              </a:rPr>
              <a:t>, </a:t>
            </a:r>
            <a:r>
              <a:rPr sz="1900" spc="-75" dirty="0">
                <a:latin typeface="Courier New"/>
                <a:cs typeface="Courier New"/>
              </a:rPr>
              <a:t>device</a:t>
            </a:r>
            <a:r>
              <a:rPr sz="1900" spc="-180" dirty="0">
                <a:latin typeface="Courier New"/>
                <a:cs typeface="Courier New"/>
              </a:rPr>
              <a:t> </a:t>
            </a:r>
            <a:r>
              <a:rPr sz="2350" spc="-400" dirty="0">
                <a:latin typeface="Courier New"/>
                <a:cs typeface="Courier New"/>
              </a:rPr>
              <a:t>=</a:t>
            </a:r>
            <a:r>
              <a:rPr sz="2350" spc="-325" dirty="0">
                <a:latin typeface="Courier New"/>
                <a:cs typeface="Courier New"/>
              </a:rPr>
              <a:t> </a:t>
            </a:r>
            <a:r>
              <a:rPr sz="1750" spc="-7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r>
              <a:rPr sz="1900" spc="-70" dirty="0">
                <a:solidFill>
                  <a:srgbClr val="DD1144"/>
                </a:solidFill>
                <a:latin typeface="Courier New"/>
                <a:cs typeface="Courier New"/>
              </a:rPr>
              <a:t>png</a:t>
            </a:r>
            <a:r>
              <a:rPr sz="1750" spc="-70" dirty="0">
                <a:solidFill>
                  <a:srgbClr val="DD1144"/>
                </a:solidFill>
                <a:latin typeface="Courier New"/>
                <a:cs typeface="Courier New"/>
              </a:rPr>
              <a:t>"</a:t>
            </a:r>
            <a:endParaRPr sz="17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225"/>
              </a:spcBef>
            </a:pPr>
            <a:r>
              <a:rPr sz="1750" spc="-50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518391" cy="64692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3681" y="501791"/>
            <a:ext cx="4341495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dirty="0">
                <a:solidFill>
                  <a:srgbClr val="FFFFFF"/>
                </a:solidFill>
              </a:rPr>
              <a:t>You</a:t>
            </a:r>
            <a:r>
              <a:rPr sz="3750" spc="-204" dirty="0">
                <a:solidFill>
                  <a:srgbClr val="FFFFFF"/>
                </a:solidFill>
              </a:rPr>
              <a:t> </a:t>
            </a:r>
            <a:r>
              <a:rPr sz="3750" dirty="0">
                <a:solidFill>
                  <a:srgbClr val="FFFFFF"/>
                </a:solidFill>
              </a:rPr>
              <a:t>have</a:t>
            </a:r>
            <a:r>
              <a:rPr sz="3750" spc="-190" dirty="0">
                <a:solidFill>
                  <a:srgbClr val="FFFFFF"/>
                </a:solidFill>
              </a:rPr>
              <a:t> </a:t>
            </a:r>
            <a:r>
              <a:rPr sz="3750" dirty="0">
                <a:solidFill>
                  <a:srgbClr val="FFFFFF"/>
                </a:solidFill>
              </a:rPr>
              <a:t>the</a:t>
            </a:r>
            <a:r>
              <a:rPr sz="3750" spc="-190" dirty="0">
                <a:solidFill>
                  <a:srgbClr val="FFFFFF"/>
                </a:solidFill>
              </a:rPr>
              <a:t> </a:t>
            </a:r>
            <a:r>
              <a:rPr sz="3750" spc="-45" dirty="0">
                <a:solidFill>
                  <a:srgbClr val="FFFFFF"/>
                </a:solidFill>
              </a:rPr>
              <a:t>power!</a:t>
            </a:r>
            <a:endParaRPr sz="37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18900" cy="6469380"/>
          </a:xfrm>
          <a:custGeom>
            <a:avLst/>
            <a:gdLst/>
            <a:ahLst/>
            <a:cxnLst/>
            <a:rect l="l" t="t" r="r" b="b"/>
            <a:pathLst>
              <a:path w="11518900" h="6469380">
                <a:moveTo>
                  <a:pt x="11518391" y="6469258"/>
                </a:moveTo>
                <a:lnTo>
                  <a:pt x="0" y="6469258"/>
                </a:lnTo>
                <a:lnTo>
                  <a:pt x="0" y="0"/>
                </a:lnTo>
                <a:lnTo>
                  <a:pt x="11518391" y="0"/>
                </a:lnTo>
                <a:lnTo>
                  <a:pt x="11518391" y="6469258"/>
                </a:lnTo>
                <a:close/>
              </a:path>
            </a:pathLst>
          </a:custGeom>
          <a:solidFill>
            <a:srgbClr val="5789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70047" y="2340623"/>
            <a:ext cx="259270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0" dirty="0"/>
              <a:t>"Live"</a:t>
            </a:r>
            <a:r>
              <a:rPr spc="-105" dirty="0"/>
              <a:t> </a:t>
            </a:r>
            <a:r>
              <a:rPr spc="-10" dirty="0"/>
              <a:t>Coding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381" y="3248920"/>
            <a:ext cx="10575925" cy="5340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165"/>
              </a:lnSpc>
            </a:pPr>
            <a:r>
              <a:rPr sz="1900" spc="-105" dirty="0">
                <a:solidFill>
                  <a:srgbClr val="009999"/>
                </a:solidFill>
                <a:latin typeface="Courier New"/>
                <a:cs typeface="Courier New"/>
              </a:rPr>
              <a:t>librar</a:t>
            </a:r>
            <a:r>
              <a:rPr sz="2700" spc="-105" dirty="0">
                <a:solidFill>
                  <a:srgbClr val="009999"/>
                </a:solidFill>
                <a:latin typeface="Courier New"/>
                <a:cs typeface="Courier New"/>
              </a:rPr>
              <a:t>y</a:t>
            </a:r>
            <a:r>
              <a:rPr sz="2350" spc="-105" dirty="0">
                <a:latin typeface="Courier New"/>
                <a:cs typeface="Courier New"/>
              </a:rPr>
              <a:t>(</a:t>
            </a:r>
            <a:r>
              <a:rPr sz="1900" spc="-105" dirty="0">
                <a:latin typeface="Courier New"/>
                <a:cs typeface="Courier New"/>
              </a:rPr>
              <a:t>gapminder</a:t>
            </a:r>
            <a:r>
              <a:rPr sz="2350" spc="-105" dirty="0">
                <a:latin typeface="Courier New"/>
                <a:cs typeface="Courier New"/>
              </a:rPr>
              <a:t>)</a:t>
            </a:r>
            <a:endParaRPr sz="2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grid with many dots&#10;&#10;AI-generated content may be incorrect.">
            <a:extLst>
              <a:ext uri="{FF2B5EF4-FFF2-40B4-BE49-F238E27FC236}">
                <a16:creationId xmlns:a16="http://schemas.microsoft.com/office/drawing/2014/main" id="{1BE2B205-15CC-DE99-161A-4B7F1B2A0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" y="247650"/>
            <a:ext cx="59817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88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8257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6524</TotalTime>
  <Words>3116</Words>
  <Application>Microsoft Office PowerPoint</Application>
  <PresentationFormat>Custom</PresentationFormat>
  <Paragraphs>506</Paragraphs>
  <Slides>45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Arial</vt:lpstr>
      <vt:lpstr>Cambria</vt:lpstr>
      <vt:lpstr>Courier New</vt:lpstr>
      <vt:lpstr>Palatino Linotype</vt:lpstr>
      <vt:lpstr>Trebuchet MS</vt:lpstr>
      <vt:lpstr>Office Theme</vt:lpstr>
      <vt:lpstr>Una introducción “amigable”  al uso de ggplot2</vt:lpstr>
      <vt:lpstr>Why ggplot2?</vt:lpstr>
      <vt:lpstr>What are we getting into?</vt:lpstr>
      <vt:lpstr>gg is for Grammar of Graphics</vt:lpstr>
      <vt:lpstr>PowerPoint Presentation</vt:lpstr>
      <vt:lpstr>PowerPoint Presentation</vt:lpstr>
      <vt:lpstr>How do we express visuals in words?</vt:lpstr>
      <vt:lpstr>How do we express visuals in words?</vt:lpstr>
      <vt:lpstr>How do we express visuals in words?</vt:lpstr>
      <vt:lpstr>How do we express visuals in words?</vt:lpstr>
      <vt:lpstr>How do we express visuals in words?</vt:lpstr>
      <vt:lpstr>How do we express visuals in words?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Our first plot!</vt:lpstr>
      <vt:lpstr>Our first plot!</vt:lpstr>
      <vt:lpstr>Our first plot!</vt:lpstr>
      <vt:lpstr>Our first plot!</vt:lpstr>
      <vt:lpstr>Our first plot!</vt:lpstr>
      <vt:lpstr>Our first plot!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gg is for Grammar of Graphics</vt:lpstr>
      <vt:lpstr>Save Your Work</vt:lpstr>
      <vt:lpstr>You have the power!</vt:lpstr>
      <vt:lpstr>"Live" Coding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Reviewer</cp:lastModifiedBy>
  <cp:revision>3</cp:revision>
  <dcterms:created xsi:type="dcterms:W3CDTF">2025-05-15T15:10:21Z</dcterms:created>
  <dcterms:modified xsi:type="dcterms:W3CDTF">2025-11-07T19:21:34Z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Decktape</vt:lpwstr>
  </property>
</Properties>
</file>